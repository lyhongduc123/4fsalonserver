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Inter Bold" charset="1" panose="020B0802030000000004"/>
      <p:regular r:id="rId39"/>
    </p:embeddedFont>
    <p:embeddedFont>
      <p:font typeface="Fredoka" charset="1" panose="02000000000000000000"/>
      <p:regular r:id="rId40"/>
    </p:embeddedFont>
    <p:embeddedFont>
      <p:font typeface="Canva Student Font" charset="1" panose="00000000000000000000"/>
      <p:regular r:id="rId41"/>
    </p:embeddedFont>
    <p:embeddedFont>
      <p:font typeface="Lato" charset="1" panose="020F0502020204030203"/>
      <p:regular r:id="rId42"/>
    </p:embeddedFont>
    <p:embeddedFont>
      <p:font typeface="Roboto" charset="1" panose="02000000000000000000"/>
      <p:regular r:id="rId43"/>
    </p:embeddedFont>
    <p:embeddedFont>
      <p:font typeface="Roboto Bold" charset="1" panose="02000000000000000000"/>
      <p:regular r:id="rId44"/>
    </p:embeddedFont>
    <p:embeddedFont>
      <p:font typeface="Lato Bold" charset="1" panose="020F0502020204030203"/>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0.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6.png" Type="http://schemas.openxmlformats.org/officeDocument/2006/relationships/image"/><Relationship Id="rId5"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0.png" Type="http://schemas.openxmlformats.org/officeDocument/2006/relationships/image"/><Relationship Id="rId5"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2" Target="../media/image20.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png" Type="http://schemas.openxmlformats.org/officeDocument/2006/relationships/image"/><Relationship Id="rId12" Target="../media/image44.png" Type="http://schemas.openxmlformats.org/officeDocument/2006/relationships/image"/><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png" Type="http://schemas.openxmlformats.org/officeDocument/2006/relationships/image"/><Relationship Id="rId2" Target="../media/image45.pn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46.png" Type="http://schemas.openxmlformats.org/officeDocument/2006/relationships/image"/><Relationship Id="rId6" Target="../media/image20.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55.png" Type="http://schemas.openxmlformats.org/officeDocument/2006/relationships/image"/><Relationship Id="rId8" Target="../media/image3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6.png" Type="http://schemas.openxmlformats.org/officeDocument/2006/relationships/image"/><Relationship Id="rId5" Target="../media/image5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5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6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4.pn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64.png" Type="http://schemas.openxmlformats.org/officeDocument/2006/relationships/image"/><Relationship Id="rId8" Target="../media/image45.png" Type="http://schemas.openxmlformats.org/officeDocument/2006/relationships/image"/><Relationship Id="rId9" Target="../media/image6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4.pn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6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4.png" Type="http://schemas.openxmlformats.org/officeDocument/2006/relationships/image"/><Relationship Id="rId5" Target="../media/image67.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4.png" Type="http://schemas.openxmlformats.org/officeDocument/2006/relationships/image"/><Relationship Id="rId5" Target="../media/image6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4.png" Type="http://schemas.openxmlformats.org/officeDocument/2006/relationships/image"/><Relationship Id="rId5" Target="../media/image6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5097"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843442" y="-1219889"/>
            <a:ext cx="8014741" cy="2987313"/>
          </a:xfrm>
          <a:custGeom>
            <a:avLst/>
            <a:gdLst/>
            <a:ahLst/>
            <a:cxnLst/>
            <a:rect r="r" b="b" t="t" l="l"/>
            <a:pathLst>
              <a:path h="2987313" w="8014741">
                <a:moveTo>
                  <a:pt x="0" y="0"/>
                </a:moveTo>
                <a:lnTo>
                  <a:pt x="8014742" y="0"/>
                </a:lnTo>
                <a:lnTo>
                  <a:pt x="8014742" y="2987312"/>
                </a:lnTo>
                <a:lnTo>
                  <a:pt x="0" y="298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3823071" y="2465824"/>
            <a:ext cx="2696458" cy="3084438"/>
          </a:xfrm>
          <a:custGeom>
            <a:avLst/>
            <a:gdLst/>
            <a:ahLst/>
            <a:cxnLst/>
            <a:rect r="r" b="b" t="t" l="l"/>
            <a:pathLst>
              <a:path h="3084438" w="2696458">
                <a:moveTo>
                  <a:pt x="0" y="0"/>
                </a:moveTo>
                <a:lnTo>
                  <a:pt x="2696458" y="0"/>
                </a:lnTo>
                <a:lnTo>
                  <a:pt x="2696458" y="3084438"/>
                </a:lnTo>
                <a:lnTo>
                  <a:pt x="0" y="3084438"/>
                </a:lnTo>
                <a:lnTo>
                  <a:pt x="0" y="0"/>
                </a:lnTo>
                <a:close/>
              </a:path>
            </a:pathLst>
          </a:custGeom>
          <a:blipFill>
            <a:blip r:embed="rId8"/>
            <a:stretch>
              <a:fillRect l="0" t="0" r="0" b="0"/>
            </a:stretch>
          </a:blipFill>
        </p:spPr>
      </p:sp>
      <p:sp>
        <p:nvSpPr>
          <p:cNvPr name="TextBox 6" id="6"/>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7" id="7"/>
          <p:cNvSpPr txBox="true"/>
          <p:nvPr/>
        </p:nvSpPr>
        <p:spPr>
          <a:xfrm rot="0">
            <a:off x="7010454" y="3264138"/>
            <a:ext cx="5308402" cy="1335409"/>
          </a:xfrm>
          <a:prstGeom prst="rect">
            <a:avLst/>
          </a:prstGeom>
        </p:spPr>
        <p:txBody>
          <a:bodyPr anchor="t" rtlCol="false" tIns="0" lIns="0" bIns="0" rIns="0">
            <a:spAutoFit/>
          </a:bodyPr>
          <a:lstStyle/>
          <a:p>
            <a:pPr algn="ctr">
              <a:lnSpc>
                <a:spcPts val="10919"/>
              </a:lnSpc>
              <a:spcBef>
                <a:spcPct val="0"/>
              </a:spcBef>
            </a:pPr>
            <a:r>
              <a:rPr lang="en-US" sz="7799" spc="779">
                <a:solidFill>
                  <a:srgbClr val="000000"/>
                </a:solidFill>
                <a:latin typeface="Fredoka"/>
                <a:ea typeface="Fredoka"/>
                <a:cs typeface="Fredoka"/>
                <a:sym typeface="Fredoka"/>
              </a:rPr>
              <a:t>4FSALON</a:t>
            </a:r>
          </a:p>
        </p:txBody>
      </p:sp>
      <p:sp>
        <p:nvSpPr>
          <p:cNvPr name="TextBox 8" id="8"/>
          <p:cNvSpPr txBox="true"/>
          <p:nvPr/>
        </p:nvSpPr>
        <p:spPr>
          <a:xfrm rot="0">
            <a:off x="4424711" y="5354356"/>
            <a:ext cx="8496120" cy="758608"/>
          </a:xfrm>
          <a:prstGeom prst="rect">
            <a:avLst/>
          </a:prstGeom>
        </p:spPr>
        <p:txBody>
          <a:bodyPr anchor="t" rtlCol="false" tIns="0" lIns="0" bIns="0" rIns="0">
            <a:spAutoFit/>
          </a:bodyPr>
          <a:lstStyle/>
          <a:p>
            <a:pPr algn="ctr">
              <a:lnSpc>
                <a:spcPts val="6241"/>
              </a:lnSpc>
              <a:spcBef>
                <a:spcPct val="0"/>
              </a:spcBef>
            </a:pPr>
            <a:r>
              <a:rPr lang="en-US" sz="4457" spc="445">
                <a:solidFill>
                  <a:srgbClr val="000000"/>
                </a:solidFill>
                <a:latin typeface="Canva Student Font"/>
                <a:ea typeface="Canva Student Font"/>
                <a:cs typeface="Canva Student Font"/>
                <a:sym typeface="Canva Student Font"/>
              </a:rPr>
              <a:t>The best place for your best haircut</a:t>
            </a:r>
          </a:p>
        </p:txBody>
      </p:sp>
      <p:sp>
        <p:nvSpPr>
          <p:cNvPr name="Freeform 9" id="9"/>
          <p:cNvSpPr/>
          <p:nvPr/>
        </p:nvSpPr>
        <p:spPr>
          <a:xfrm flipH="false" flipV="false" rot="0">
            <a:off x="14241631" y="7018770"/>
            <a:ext cx="9140417" cy="8043567"/>
          </a:xfrm>
          <a:custGeom>
            <a:avLst/>
            <a:gdLst/>
            <a:ahLst/>
            <a:cxnLst/>
            <a:rect r="r" b="b" t="t" l="l"/>
            <a:pathLst>
              <a:path h="8043567" w="9140417">
                <a:moveTo>
                  <a:pt x="0" y="0"/>
                </a:moveTo>
                <a:lnTo>
                  <a:pt x="9140417" y="0"/>
                </a:lnTo>
                <a:lnTo>
                  <a:pt x="9140417" y="8043567"/>
                </a:lnTo>
                <a:lnTo>
                  <a:pt x="0" y="80435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10" id="10"/>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5097"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765154" y="-1332197"/>
            <a:ext cx="8014741" cy="2987313"/>
          </a:xfrm>
          <a:custGeom>
            <a:avLst/>
            <a:gdLst/>
            <a:ahLst/>
            <a:cxnLst/>
            <a:rect r="r" b="b" t="t" l="l"/>
            <a:pathLst>
              <a:path h="2987313" w="8014741">
                <a:moveTo>
                  <a:pt x="0" y="0"/>
                </a:moveTo>
                <a:lnTo>
                  <a:pt x="8014741" y="0"/>
                </a:lnTo>
                <a:lnTo>
                  <a:pt x="8014741" y="2987313"/>
                </a:lnTo>
                <a:lnTo>
                  <a:pt x="0" y="298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5732942" y="-4322965"/>
            <a:ext cx="9140417" cy="8043567"/>
          </a:xfrm>
          <a:custGeom>
            <a:avLst/>
            <a:gdLst/>
            <a:ahLst/>
            <a:cxnLst/>
            <a:rect r="r" b="b" t="t" l="l"/>
            <a:pathLst>
              <a:path h="8043567" w="9140417">
                <a:moveTo>
                  <a:pt x="0" y="0"/>
                </a:moveTo>
                <a:lnTo>
                  <a:pt x="9140418" y="0"/>
                </a:lnTo>
                <a:lnTo>
                  <a:pt x="9140418" y="8043568"/>
                </a:lnTo>
                <a:lnTo>
                  <a:pt x="0" y="8043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6" id="6"/>
          <p:cNvSpPr txBox="true"/>
          <p:nvPr/>
        </p:nvSpPr>
        <p:spPr>
          <a:xfrm rot="0">
            <a:off x="1878351" y="1896576"/>
            <a:ext cx="2381052" cy="547371"/>
          </a:xfrm>
          <a:prstGeom prst="rect">
            <a:avLst/>
          </a:prstGeom>
        </p:spPr>
        <p:txBody>
          <a:bodyPr anchor="t" rtlCol="false" tIns="0" lIns="0" bIns="0" rIns="0">
            <a:spAutoFit/>
          </a:bodyPr>
          <a:lstStyle/>
          <a:p>
            <a:pPr algn="ctr">
              <a:lnSpc>
                <a:spcPts val="4479"/>
              </a:lnSpc>
              <a:spcBef>
                <a:spcPct val="0"/>
              </a:spcBef>
            </a:pPr>
            <a:r>
              <a:rPr lang="en-US" sz="3199" spc="319">
                <a:solidFill>
                  <a:srgbClr val="000000"/>
                </a:solidFill>
                <a:latin typeface="Lato"/>
                <a:ea typeface="Lato"/>
                <a:cs typeface="Lato"/>
                <a:sym typeface="Lato"/>
              </a:rPr>
              <a:t>Thành viên</a:t>
            </a:r>
          </a:p>
        </p:txBody>
      </p:sp>
      <p:sp>
        <p:nvSpPr>
          <p:cNvPr name="TextBox 7" id="7"/>
          <p:cNvSpPr txBox="true"/>
          <p:nvPr/>
        </p:nvSpPr>
        <p:spPr>
          <a:xfrm rot="0">
            <a:off x="1878351" y="2701122"/>
            <a:ext cx="8258207" cy="2082165"/>
          </a:xfrm>
          <a:prstGeom prst="rect">
            <a:avLst/>
          </a:prstGeom>
        </p:spPr>
        <p:txBody>
          <a:bodyPr anchor="t" rtlCol="false" tIns="0" lIns="0" bIns="0" rIns="0">
            <a:spAutoFit/>
          </a:bodyPr>
          <a:lstStyle/>
          <a:p>
            <a:pPr algn="just" marL="518158" indent="-259079" lvl="1">
              <a:lnSpc>
                <a:spcPts val="3359"/>
              </a:lnSpc>
              <a:buFont typeface="Arial"/>
              <a:buChar char="•"/>
            </a:pPr>
            <a:r>
              <a:rPr lang="en-US" sz="2399" spc="239">
                <a:solidFill>
                  <a:srgbClr val="000000"/>
                </a:solidFill>
                <a:latin typeface="Lato"/>
                <a:ea typeface="Lato"/>
                <a:cs typeface="Lato"/>
                <a:sym typeface="Lato"/>
              </a:rPr>
              <a:t>22021217: Lý Hồng Đức CQ-I-IT1</a:t>
            </a:r>
          </a:p>
          <a:p>
            <a:pPr algn="just" marL="518158" indent="-259079" lvl="1">
              <a:lnSpc>
                <a:spcPts val="3359"/>
              </a:lnSpc>
              <a:buFont typeface="Arial"/>
              <a:buChar char="•"/>
            </a:pPr>
            <a:r>
              <a:rPr lang="en-US" sz="2399" spc="239">
                <a:solidFill>
                  <a:srgbClr val="000000"/>
                </a:solidFill>
                <a:latin typeface="Lato"/>
                <a:ea typeface="Lato"/>
                <a:cs typeface="Lato"/>
                <a:sym typeface="Lato"/>
              </a:rPr>
              <a:t>22021184: Nguyễn Sinh Hùng CQ-I-IT1</a:t>
            </a:r>
          </a:p>
          <a:p>
            <a:pPr algn="just" marL="518158" indent="-259079" lvl="1">
              <a:lnSpc>
                <a:spcPts val="3359"/>
              </a:lnSpc>
              <a:buFont typeface="Arial"/>
              <a:buChar char="•"/>
            </a:pPr>
            <a:r>
              <a:rPr lang="en-US" sz="2399" spc="239">
                <a:solidFill>
                  <a:srgbClr val="000000"/>
                </a:solidFill>
                <a:latin typeface="Lato"/>
                <a:ea typeface="Lato"/>
                <a:cs typeface="Lato"/>
                <a:sym typeface="Lato"/>
              </a:rPr>
              <a:t>22021163: Bùi Văn Hòa CQ-I-IT1</a:t>
            </a:r>
          </a:p>
          <a:p>
            <a:pPr algn="just" marL="518158" indent="-259079" lvl="1">
              <a:lnSpc>
                <a:spcPts val="3359"/>
              </a:lnSpc>
              <a:buFont typeface="Arial"/>
              <a:buChar char="•"/>
            </a:pPr>
            <a:r>
              <a:rPr lang="en-US" sz="2399" spc="239">
                <a:solidFill>
                  <a:srgbClr val="000000"/>
                </a:solidFill>
                <a:latin typeface="Lato"/>
                <a:ea typeface="Lato"/>
                <a:cs typeface="Lato"/>
                <a:sym typeface="Lato"/>
              </a:rPr>
              <a:t>22021212: Lê Vũ Việt Anh CQ-I-IT1</a:t>
            </a:r>
          </a:p>
          <a:p>
            <a:pPr algn="just" marL="518158" indent="-259079" lvl="1">
              <a:lnSpc>
                <a:spcPts val="3359"/>
              </a:lnSpc>
              <a:buFont typeface="Arial"/>
              <a:buChar char="•"/>
            </a:pPr>
            <a:r>
              <a:rPr lang="en-US" sz="2399" spc="239">
                <a:solidFill>
                  <a:srgbClr val="000000"/>
                </a:solidFill>
                <a:latin typeface="Lato"/>
                <a:ea typeface="Lato"/>
                <a:cs typeface="Lato"/>
                <a:sym typeface="Lato"/>
              </a:rPr>
              <a:t>22021168: Nguyễn Việt An CQ-I-IT1</a:t>
            </a:r>
          </a:p>
        </p:txBody>
      </p:sp>
      <p:sp>
        <p:nvSpPr>
          <p:cNvPr name="TextBox 8" id="8"/>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65572"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663061" y="-1219889"/>
            <a:ext cx="8014741" cy="2987313"/>
          </a:xfrm>
          <a:custGeom>
            <a:avLst/>
            <a:gdLst/>
            <a:ahLst/>
            <a:cxnLst/>
            <a:rect r="r" b="b" t="t" l="l"/>
            <a:pathLst>
              <a:path h="2987313" w="8014741">
                <a:moveTo>
                  <a:pt x="0" y="0"/>
                </a:moveTo>
                <a:lnTo>
                  <a:pt x="8014742" y="0"/>
                </a:lnTo>
                <a:lnTo>
                  <a:pt x="8014742" y="2987312"/>
                </a:lnTo>
                <a:lnTo>
                  <a:pt x="0" y="298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6" id="6"/>
          <p:cNvSpPr txBox="true"/>
          <p:nvPr/>
        </p:nvSpPr>
        <p:spPr>
          <a:xfrm rot="0">
            <a:off x="414009" y="1004129"/>
            <a:ext cx="4704450" cy="670696"/>
          </a:xfrm>
          <a:prstGeom prst="rect">
            <a:avLst/>
          </a:prstGeom>
        </p:spPr>
        <p:txBody>
          <a:bodyPr anchor="t" rtlCol="false" tIns="0" lIns="0" bIns="0" rIns="0">
            <a:spAutoFit/>
          </a:bodyPr>
          <a:lstStyle/>
          <a:p>
            <a:pPr algn="ctr">
              <a:lnSpc>
                <a:spcPts val="5577"/>
              </a:lnSpc>
              <a:spcBef>
                <a:spcPct val="0"/>
              </a:spcBef>
            </a:pPr>
            <a:r>
              <a:rPr lang="en-US" sz="3983" spc="398">
                <a:solidFill>
                  <a:srgbClr val="000000"/>
                </a:solidFill>
                <a:latin typeface="Lato"/>
                <a:ea typeface="Lato"/>
                <a:cs typeface="Lato"/>
                <a:sym typeface="Lato"/>
              </a:rPr>
              <a:t>Nội dung báo cáo</a:t>
            </a:r>
          </a:p>
        </p:txBody>
      </p:sp>
      <p:sp>
        <p:nvSpPr>
          <p:cNvPr name="TextBox 7" id="7"/>
          <p:cNvSpPr txBox="true"/>
          <p:nvPr/>
        </p:nvSpPr>
        <p:spPr>
          <a:xfrm rot="0">
            <a:off x="3504176" y="2757931"/>
            <a:ext cx="6166725" cy="1154430"/>
          </a:xfrm>
          <a:prstGeom prst="rect">
            <a:avLst/>
          </a:prstGeom>
        </p:spPr>
        <p:txBody>
          <a:bodyPr anchor="t" rtlCol="false" tIns="0" lIns="0" bIns="0" rIns="0">
            <a:spAutoFit/>
          </a:bodyPr>
          <a:lstStyle/>
          <a:p>
            <a:pPr algn="just" marL="712470" indent="-356235" lvl="1">
              <a:lnSpc>
                <a:spcPts val="4620"/>
              </a:lnSpc>
              <a:spcBef>
                <a:spcPct val="0"/>
              </a:spcBef>
              <a:buAutoNum type="arabicPeriod" startAt="1"/>
            </a:pPr>
            <a:r>
              <a:rPr lang="en-US" sz="3300" spc="330">
                <a:solidFill>
                  <a:srgbClr val="000000"/>
                </a:solidFill>
                <a:latin typeface="Roboto"/>
                <a:ea typeface="Roboto"/>
                <a:cs typeface="Roboto"/>
                <a:sym typeface="Roboto"/>
              </a:rPr>
              <a:t>Lý do lựa chọn và mục tiêu mong muốn</a:t>
            </a:r>
          </a:p>
        </p:txBody>
      </p:sp>
      <p:sp>
        <p:nvSpPr>
          <p:cNvPr name="TextBox 8" id="8"/>
          <p:cNvSpPr txBox="true"/>
          <p:nvPr/>
        </p:nvSpPr>
        <p:spPr>
          <a:xfrm rot="0">
            <a:off x="2640974" y="4245736"/>
            <a:ext cx="7029927" cy="573405"/>
          </a:xfrm>
          <a:prstGeom prst="rect">
            <a:avLst/>
          </a:prstGeom>
        </p:spPr>
        <p:txBody>
          <a:bodyPr anchor="t" rtlCol="false" tIns="0" lIns="0" bIns="0" rIns="0">
            <a:spAutoFit/>
          </a:bodyPr>
          <a:lstStyle/>
          <a:p>
            <a:pPr algn="ctr">
              <a:lnSpc>
                <a:spcPts val="4620"/>
              </a:lnSpc>
              <a:spcBef>
                <a:spcPct val="0"/>
              </a:spcBef>
            </a:pPr>
            <a:r>
              <a:rPr lang="en-US" sz="3300" spc="330">
                <a:solidFill>
                  <a:srgbClr val="000000"/>
                </a:solidFill>
                <a:latin typeface="Roboto"/>
                <a:ea typeface="Roboto"/>
                <a:cs typeface="Roboto"/>
                <a:sym typeface="Roboto"/>
              </a:rPr>
              <a:t>2.Công nghệ sử dụng </a:t>
            </a:r>
          </a:p>
        </p:txBody>
      </p:sp>
      <p:sp>
        <p:nvSpPr>
          <p:cNvPr name="TextBox 9" id="9"/>
          <p:cNvSpPr txBox="true"/>
          <p:nvPr/>
        </p:nvSpPr>
        <p:spPr>
          <a:xfrm rot="0">
            <a:off x="3504176" y="5339958"/>
            <a:ext cx="9439149" cy="573405"/>
          </a:xfrm>
          <a:prstGeom prst="rect">
            <a:avLst/>
          </a:prstGeom>
        </p:spPr>
        <p:txBody>
          <a:bodyPr anchor="t" rtlCol="false" tIns="0" lIns="0" bIns="0" rIns="0">
            <a:spAutoFit/>
          </a:bodyPr>
          <a:lstStyle/>
          <a:p>
            <a:pPr algn="ctr">
              <a:lnSpc>
                <a:spcPts val="4620"/>
              </a:lnSpc>
              <a:spcBef>
                <a:spcPct val="0"/>
              </a:spcBef>
            </a:pPr>
            <a:r>
              <a:rPr lang="en-US" sz="3300" spc="330">
                <a:solidFill>
                  <a:srgbClr val="000000"/>
                </a:solidFill>
                <a:latin typeface="Roboto"/>
                <a:ea typeface="Roboto"/>
                <a:cs typeface="Roboto"/>
                <a:sym typeface="Roboto"/>
              </a:rPr>
              <a:t>3.Sản phẩm đạt được và tính năng chính</a:t>
            </a:r>
          </a:p>
        </p:txBody>
      </p:sp>
      <p:sp>
        <p:nvSpPr>
          <p:cNvPr name="Freeform 10" id="10"/>
          <p:cNvSpPr/>
          <p:nvPr/>
        </p:nvSpPr>
        <p:spPr>
          <a:xfrm flipH="false" flipV="false" rot="0">
            <a:off x="15580542" y="-5679491"/>
            <a:ext cx="9140417" cy="8043567"/>
          </a:xfrm>
          <a:custGeom>
            <a:avLst/>
            <a:gdLst/>
            <a:ahLst/>
            <a:cxnLst/>
            <a:rect r="r" b="b" t="t" l="l"/>
            <a:pathLst>
              <a:path h="8043567" w="9140417">
                <a:moveTo>
                  <a:pt x="0" y="0"/>
                </a:moveTo>
                <a:lnTo>
                  <a:pt x="9140418" y="0"/>
                </a:lnTo>
                <a:lnTo>
                  <a:pt x="9140418" y="8043568"/>
                </a:lnTo>
                <a:lnTo>
                  <a:pt x="0" y="8043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1" id="11"/>
          <p:cNvSpPr txBox="true"/>
          <p:nvPr/>
        </p:nvSpPr>
        <p:spPr>
          <a:xfrm rot="0">
            <a:off x="3692066" y="6434181"/>
            <a:ext cx="8311438" cy="573405"/>
          </a:xfrm>
          <a:prstGeom prst="rect">
            <a:avLst/>
          </a:prstGeom>
        </p:spPr>
        <p:txBody>
          <a:bodyPr anchor="t" rtlCol="false" tIns="0" lIns="0" bIns="0" rIns="0">
            <a:spAutoFit/>
          </a:bodyPr>
          <a:lstStyle/>
          <a:p>
            <a:pPr algn="just">
              <a:lnSpc>
                <a:spcPts val="4620"/>
              </a:lnSpc>
              <a:spcBef>
                <a:spcPct val="0"/>
              </a:spcBef>
            </a:pPr>
            <a:r>
              <a:rPr lang="en-US" sz="3300" spc="330">
                <a:solidFill>
                  <a:srgbClr val="000000"/>
                </a:solidFill>
                <a:latin typeface="Roboto"/>
                <a:ea typeface="Roboto"/>
                <a:cs typeface="Roboto"/>
                <a:sym typeface="Roboto"/>
              </a:rPr>
              <a:t>4.Kết quả và định hướng phát triển</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5097"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663061" y="-1219889"/>
            <a:ext cx="8014741" cy="2987313"/>
          </a:xfrm>
          <a:custGeom>
            <a:avLst/>
            <a:gdLst/>
            <a:ahLst/>
            <a:cxnLst/>
            <a:rect r="r" b="b" t="t" l="l"/>
            <a:pathLst>
              <a:path h="2987313" w="8014741">
                <a:moveTo>
                  <a:pt x="0" y="0"/>
                </a:moveTo>
                <a:lnTo>
                  <a:pt x="8014742" y="0"/>
                </a:lnTo>
                <a:lnTo>
                  <a:pt x="8014742" y="2987312"/>
                </a:lnTo>
                <a:lnTo>
                  <a:pt x="0" y="298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5524241" y="-158306"/>
            <a:ext cx="2696458" cy="3084438"/>
          </a:xfrm>
          <a:custGeom>
            <a:avLst/>
            <a:gdLst/>
            <a:ahLst/>
            <a:cxnLst/>
            <a:rect r="r" b="b" t="t" l="l"/>
            <a:pathLst>
              <a:path h="3084438" w="2696458">
                <a:moveTo>
                  <a:pt x="0" y="0"/>
                </a:moveTo>
                <a:lnTo>
                  <a:pt x="2696458" y="0"/>
                </a:lnTo>
                <a:lnTo>
                  <a:pt x="2696458" y="3084438"/>
                </a:lnTo>
                <a:lnTo>
                  <a:pt x="0" y="3084438"/>
                </a:lnTo>
                <a:lnTo>
                  <a:pt x="0" y="0"/>
                </a:lnTo>
                <a:close/>
              </a:path>
            </a:pathLst>
          </a:custGeom>
          <a:blipFill>
            <a:blip r:embed="rId8"/>
            <a:stretch>
              <a:fillRect l="0" t="0" r="0" b="0"/>
            </a:stretch>
          </a:blipFill>
        </p:spPr>
      </p:sp>
      <p:sp>
        <p:nvSpPr>
          <p:cNvPr name="TextBox 6" id="6"/>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7" id="7"/>
          <p:cNvSpPr/>
          <p:nvPr/>
        </p:nvSpPr>
        <p:spPr>
          <a:xfrm flipH="false" flipV="false" rot="0">
            <a:off x="14241631" y="7018770"/>
            <a:ext cx="9140417" cy="8043567"/>
          </a:xfrm>
          <a:custGeom>
            <a:avLst/>
            <a:gdLst/>
            <a:ahLst/>
            <a:cxnLst/>
            <a:rect r="r" b="b" t="t" l="l"/>
            <a:pathLst>
              <a:path h="8043567" w="9140417">
                <a:moveTo>
                  <a:pt x="0" y="0"/>
                </a:moveTo>
                <a:lnTo>
                  <a:pt x="9140417" y="0"/>
                </a:lnTo>
                <a:lnTo>
                  <a:pt x="9140417" y="8043567"/>
                </a:lnTo>
                <a:lnTo>
                  <a:pt x="0" y="80435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8" id="8"/>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9" id="9"/>
          <p:cNvSpPr txBox="true"/>
          <p:nvPr/>
        </p:nvSpPr>
        <p:spPr>
          <a:xfrm rot="0">
            <a:off x="414009" y="962025"/>
            <a:ext cx="6887011" cy="1874945"/>
          </a:xfrm>
          <a:prstGeom prst="rect">
            <a:avLst/>
          </a:prstGeom>
        </p:spPr>
        <p:txBody>
          <a:bodyPr anchor="t" rtlCol="false" tIns="0" lIns="0" bIns="0" rIns="0">
            <a:spAutoFit/>
          </a:bodyPr>
          <a:lstStyle/>
          <a:p>
            <a:pPr algn="ctr">
              <a:lnSpc>
                <a:spcPts val="4988"/>
              </a:lnSpc>
            </a:pPr>
            <a:r>
              <a:rPr lang="en-US" b="true" sz="3563" spc="356">
                <a:solidFill>
                  <a:srgbClr val="000000"/>
                </a:solidFill>
                <a:latin typeface="Roboto Bold"/>
                <a:ea typeface="Roboto Bold"/>
                <a:cs typeface="Roboto Bold"/>
                <a:sym typeface="Roboto Bold"/>
              </a:rPr>
              <a:t>Lý do lựa chọn và mục tiêu mong muốn</a:t>
            </a:r>
          </a:p>
          <a:p>
            <a:pPr algn="ctr">
              <a:lnSpc>
                <a:spcPts val="4988"/>
              </a:lnSpc>
              <a:spcBef>
                <a:spcPct val="0"/>
              </a:spcBef>
            </a:pPr>
          </a:p>
        </p:txBody>
      </p:sp>
      <p:sp>
        <p:nvSpPr>
          <p:cNvPr name="TextBox 10" id="10"/>
          <p:cNvSpPr txBox="true"/>
          <p:nvPr/>
        </p:nvSpPr>
        <p:spPr>
          <a:xfrm rot="0">
            <a:off x="1390324" y="2538230"/>
            <a:ext cx="9410178" cy="12534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Với sự phát triển mạnh mẽ của nhu cầu làm đẹp ở Việt Nam, mong muốn chuyển đổi số cho các salon tóc</a:t>
            </a:r>
          </a:p>
        </p:txBody>
      </p:sp>
      <p:sp>
        <p:nvSpPr>
          <p:cNvPr name="TextBox 11" id="11"/>
          <p:cNvSpPr txBox="true"/>
          <p:nvPr/>
        </p:nvSpPr>
        <p:spPr>
          <a:xfrm rot="0">
            <a:off x="1344310" y="4143427"/>
            <a:ext cx="10521863" cy="8343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Xuất phát từ trải nghiệm cắt tóc của chính các cá nhân trong nhóm, khi mà liên tục phải đợi hàng giờ để đến lượt cắt tóc</a:t>
            </a:r>
          </a:p>
        </p:txBody>
      </p:sp>
      <p:sp>
        <p:nvSpPr>
          <p:cNvPr name="TextBox 12" id="12"/>
          <p:cNvSpPr txBox="true"/>
          <p:nvPr/>
        </p:nvSpPr>
        <p:spPr>
          <a:xfrm rot="0">
            <a:off x="1390324" y="5575832"/>
            <a:ext cx="10521863" cy="8343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Mong muốn học hỏi của các thành viên, muốn xây dựng một sản phẩm thực tế và có tính ứng dụng thực tiễn</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5097"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663061" y="-1219889"/>
            <a:ext cx="8014741" cy="2987313"/>
          </a:xfrm>
          <a:custGeom>
            <a:avLst/>
            <a:gdLst/>
            <a:ahLst/>
            <a:cxnLst/>
            <a:rect r="r" b="b" t="t" l="l"/>
            <a:pathLst>
              <a:path h="2987313" w="8014741">
                <a:moveTo>
                  <a:pt x="0" y="0"/>
                </a:moveTo>
                <a:lnTo>
                  <a:pt x="8014742" y="0"/>
                </a:lnTo>
                <a:lnTo>
                  <a:pt x="8014742" y="2987312"/>
                </a:lnTo>
                <a:lnTo>
                  <a:pt x="0" y="298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5524241" y="-158306"/>
            <a:ext cx="2696458" cy="3084438"/>
          </a:xfrm>
          <a:custGeom>
            <a:avLst/>
            <a:gdLst/>
            <a:ahLst/>
            <a:cxnLst/>
            <a:rect r="r" b="b" t="t" l="l"/>
            <a:pathLst>
              <a:path h="3084438" w="2696458">
                <a:moveTo>
                  <a:pt x="0" y="0"/>
                </a:moveTo>
                <a:lnTo>
                  <a:pt x="2696458" y="0"/>
                </a:lnTo>
                <a:lnTo>
                  <a:pt x="2696458" y="3084438"/>
                </a:lnTo>
                <a:lnTo>
                  <a:pt x="0" y="3084438"/>
                </a:lnTo>
                <a:lnTo>
                  <a:pt x="0" y="0"/>
                </a:lnTo>
                <a:close/>
              </a:path>
            </a:pathLst>
          </a:custGeom>
          <a:blipFill>
            <a:blip r:embed="rId8"/>
            <a:stretch>
              <a:fillRect l="0" t="0" r="0" b="0"/>
            </a:stretch>
          </a:blipFill>
        </p:spPr>
      </p:sp>
      <p:sp>
        <p:nvSpPr>
          <p:cNvPr name="TextBox 6" id="6"/>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7" id="7"/>
          <p:cNvSpPr/>
          <p:nvPr/>
        </p:nvSpPr>
        <p:spPr>
          <a:xfrm flipH="false" flipV="false" rot="0">
            <a:off x="14241631" y="7018770"/>
            <a:ext cx="9140417" cy="8043567"/>
          </a:xfrm>
          <a:custGeom>
            <a:avLst/>
            <a:gdLst/>
            <a:ahLst/>
            <a:cxnLst/>
            <a:rect r="r" b="b" t="t" l="l"/>
            <a:pathLst>
              <a:path h="8043567" w="9140417">
                <a:moveTo>
                  <a:pt x="0" y="0"/>
                </a:moveTo>
                <a:lnTo>
                  <a:pt x="9140417" y="0"/>
                </a:lnTo>
                <a:lnTo>
                  <a:pt x="9140417" y="8043567"/>
                </a:lnTo>
                <a:lnTo>
                  <a:pt x="0" y="80435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8" id="8"/>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9" id="9"/>
          <p:cNvSpPr txBox="true"/>
          <p:nvPr/>
        </p:nvSpPr>
        <p:spPr>
          <a:xfrm rot="0">
            <a:off x="1028700" y="1317238"/>
            <a:ext cx="5122067" cy="609095"/>
          </a:xfrm>
          <a:prstGeom prst="rect">
            <a:avLst/>
          </a:prstGeom>
        </p:spPr>
        <p:txBody>
          <a:bodyPr anchor="t" rtlCol="false" tIns="0" lIns="0" bIns="0" rIns="0">
            <a:spAutoFit/>
          </a:bodyPr>
          <a:lstStyle/>
          <a:p>
            <a:pPr algn="ctr">
              <a:lnSpc>
                <a:spcPts val="4988"/>
              </a:lnSpc>
              <a:spcBef>
                <a:spcPct val="0"/>
              </a:spcBef>
            </a:pPr>
            <a:r>
              <a:rPr lang="en-US" b="true" sz="3563" spc="356">
                <a:solidFill>
                  <a:srgbClr val="000000"/>
                </a:solidFill>
                <a:latin typeface="Roboto Bold"/>
                <a:ea typeface="Roboto Bold"/>
                <a:cs typeface="Roboto Bold"/>
                <a:sym typeface="Roboto Bold"/>
              </a:rPr>
              <a:t>Mục tiêu mong muốn</a:t>
            </a:r>
          </a:p>
        </p:txBody>
      </p:sp>
      <p:sp>
        <p:nvSpPr>
          <p:cNvPr name="TextBox 10" id="10"/>
          <p:cNvSpPr txBox="true"/>
          <p:nvPr/>
        </p:nvSpPr>
        <p:spPr>
          <a:xfrm rot="0">
            <a:off x="1766105" y="2999540"/>
            <a:ext cx="9410178" cy="8343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Mong muốn học hỏi được các công nghệ xây dựng website hoàn chính</a:t>
            </a:r>
          </a:p>
        </p:txBody>
      </p:sp>
      <p:sp>
        <p:nvSpPr>
          <p:cNvPr name="TextBox 11" id="11"/>
          <p:cNvSpPr txBox="true"/>
          <p:nvPr/>
        </p:nvSpPr>
        <p:spPr>
          <a:xfrm rot="0">
            <a:off x="1766105" y="4253030"/>
            <a:ext cx="10521863" cy="8343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Tạo ra một website toàn diện, đầy đủ các tính năng cần thiết cho khách hàng</a:t>
            </a:r>
          </a:p>
        </p:txBody>
      </p:sp>
      <p:sp>
        <p:nvSpPr>
          <p:cNvPr name="TextBox 12" id="12"/>
          <p:cNvSpPr txBox="true"/>
          <p:nvPr/>
        </p:nvSpPr>
        <p:spPr>
          <a:xfrm rot="0">
            <a:off x="1766105" y="5506520"/>
            <a:ext cx="10521863" cy="4152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Học kĩ năng hoạt động làm việc nhóm chuyên nghiệp</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5097"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663061" y="-1219889"/>
            <a:ext cx="8014741" cy="2987313"/>
          </a:xfrm>
          <a:custGeom>
            <a:avLst/>
            <a:gdLst/>
            <a:ahLst/>
            <a:cxnLst/>
            <a:rect r="r" b="b" t="t" l="l"/>
            <a:pathLst>
              <a:path h="2987313" w="8014741">
                <a:moveTo>
                  <a:pt x="0" y="0"/>
                </a:moveTo>
                <a:lnTo>
                  <a:pt x="8014742" y="0"/>
                </a:lnTo>
                <a:lnTo>
                  <a:pt x="8014742" y="2987312"/>
                </a:lnTo>
                <a:lnTo>
                  <a:pt x="0" y="298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5524241" y="-158306"/>
            <a:ext cx="2696458" cy="3084438"/>
          </a:xfrm>
          <a:custGeom>
            <a:avLst/>
            <a:gdLst/>
            <a:ahLst/>
            <a:cxnLst/>
            <a:rect r="r" b="b" t="t" l="l"/>
            <a:pathLst>
              <a:path h="3084438" w="2696458">
                <a:moveTo>
                  <a:pt x="0" y="0"/>
                </a:moveTo>
                <a:lnTo>
                  <a:pt x="2696458" y="0"/>
                </a:lnTo>
                <a:lnTo>
                  <a:pt x="2696458" y="3084438"/>
                </a:lnTo>
                <a:lnTo>
                  <a:pt x="0" y="3084438"/>
                </a:lnTo>
                <a:lnTo>
                  <a:pt x="0" y="0"/>
                </a:lnTo>
                <a:close/>
              </a:path>
            </a:pathLst>
          </a:custGeom>
          <a:blipFill>
            <a:blip r:embed="rId8"/>
            <a:stretch>
              <a:fillRect l="0" t="0" r="0" b="0"/>
            </a:stretch>
          </a:blipFill>
        </p:spPr>
      </p:sp>
      <p:sp>
        <p:nvSpPr>
          <p:cNvPr name="TextBox 6" id="6"/>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7" id="7"/>
          <p:cNvSpPr/>
          <p:nvPr/>
        </p:nvSpPr>
        <p:spPr>
          <a:xfrm flipH="false" flipV="false" rot="0">
            <a:off x="14241631" y="7018770"/>
            <a:ext cx="9140417" cy="8043567"/>
          </a:xfrm>
          <a:custGeom>
            <a:avLst/>
            <a:gdLst/>
            <a:ahLst/>
            <a:cxnLst/>
            <a:rect r="r" b="b" t="t" l="l"/>
            <a:pathLst>
              <a:path h="8043567" w="9140417">
                <a:moveTo>
                  <a:pt x="0" y="0"/>
                </a:moveTo>
                <a:lnTo>
                  <a:pt x="9140417" y="0"/>
                </a:lnTo>
                <a:lnTo>
                  <a:pt x="9140417" y="8043567"/>
                </a:lnTo>
                <a:lnTo>
                  <a:pt x="0" y="80435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8" id="8"/>
          <p:cNvGrpSpPr/>
          <p:nvPr/>
        </p:nvGrpSpPr>
        <p:grpSpPr>
          <a:xfrm rot="0">
            <a:off x="4768836" y="2015091"/>
            <a:ext cx="2373212" cy="237321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75031" y="0"/>
                  </a:moveTo>
                  <a:lnTo>
                    <a:pt x="737769" y="0"/>
                  </a:lnTo>
                  <a:cubicBezTo>
                    <a:pt x="779208" y="0"/>
                    <a:pt x="812800" y="33592"/>
                    <a:pt x="812800" y="75031"/>
                  </a:cubicBezTo>
                  <a:lnTo>
                    <a:pt x="812800" y="737769"/>
                  </a:lnTo>
                  <a:cubicBezTo>
                    <a:pt x="812800" y="779208"/>
                    <a:pt x="779208" y="812800"/>
                    <a:pt x="737769" y="812800"/>
                  </a:cubicBezTo>
                  <a:lnTo>
                    <a:pt x="75031" y="812800"/>
                  </a:lnTo>
                  <a:cubicBezTo>
                    <a:pt x="33592" y="812800"/>
                    <a:pt x="0" y="779208"/>
                    <a:pt x="0" y="737769"/>
                  </a:cubicBezTo>
                  <a:lnTo>
                    <a:pt x="0" y="75031"/>
                  </a:lnTo>
                  <a:cubicBezTo>
                    <a:pt x="0" y="33592"/>
                    <a:pt x="33592" y="0"/>
                    <a:pt x="75031" y="0"/>
                  </a:cubicBezTo>
                  <a:close/>
                </a:path>
              </a:pathLst>
            </a:custGeom>
            <a:blipFill>
              <a:blip r:embed="rId11"/>
              <a:stretch>
                <a:fillRect l="-39686" t="0" r="-39686" b="0"/>
              </a:stretch>
            </a:blipFill>
          </p:spPr>
        </p:sp>
      </p:grpSp>
      <p:grpSp>
        <p:nvGrpSpPr>
          <p:cNvPr name="Group 10" id="10"/>
          <p:cNvGrpSpPr/>
          <p:nvPr/>
        </p:nvGrpSpPr>
        <p:grpSpPr>
          <a:xfrm rot="0">
            <a:off x="4768836" y="5567812"/>
            <a:ext cx="2332529" cy="233252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76340" y="0"/>
                  </a:moveTo>
                  <a:lnTo>
                    <a:pt x="736460" y="0"/>
                  </a:lnTo>
                  <a:cubicBezTo>
                    <a:pt x="756707" y="0"/>
                    <a:pt x="776124" y="8043"/>
                    <a:pt x="790441" y="22359"/>
                  </a:cubicBezTo>
                  <a:cubicBezTo>
                    <a:pt x="804757" y="36676"/>
                    <a:pt x="812800" y="56093"/>
                    <a:pt x="812800" y="76340"/>
                  </a:cubicBezTo>
                  <a:lnTo>
                    <a:pt x="812800" y="736460"/>
                  </a:lnTo>
                  <a:cubicBezTo>
                    <a:pt x="812800" y="756707"/>
                    <a:pt x="804757" y="776124"/>
                    <a:pt x="790441" y="790441"/>
                  </a:cubicBezTo>
                  <a:cubicBezTo>
                    <a:pt x="776124" y="804757"/>
                    <a:pt x="756707" y="812800"/>
                    <a:pt x="736460" y="812800"/>
                  </a:cubicBezTo>
                  <a:lnTo>
                    <a:pt x="76340" y="812800"/>
                  </a:lnTo>
                  <a:cubicBezTo>
                    <a:pt x="56093" y="812800"/>
                    <a:pt x="36676" y="804757"/>
                    <a:pt x="22359" y="790441"/>
                  </a:cubicBezTo>
                  <a:cubicBezTo>
                    <a:pt x="8043" y="776124"/>
                    <a:pt x="0" y="756707"/>
                    <a:pt x="0" y="736460"/>
                  </a:cubicBezTo>
                  <a:lnTo>
                    <a:pt x="0" y="76340"/>
                  </a:lnTo>
                  <a:cubicBezTo>
                    <a:pt x="0" y="56093"/>
                    <a:pt x="8043" y="36676"/>
                    <a:pt x="22359" y="22359"/>
                  </a:cubicBezTo>
                  <a:cubicBezTo>
                    <a:pt x="36676" y="8043"/>
                    <a:pt x="56093" y="0"/>
                    <a:pt x="76340" y="0"/>
                  </a:cubicBezTo>
                  <a:close/>
                </a:path>
              </a:pathLst>
            </a:custGeom>
            <a:blipFill>
              <a:blip r:embed="rId12"/>
              <a:stretch>
                <a:fillRect l="-16666" t="0" r="-16666" b="0"/>
              </a:stretch>
            </a:blipFill>
          </p:spPr>
        </p:sp>
      </p:grpSp>
      <p:grpSp>
        <p:nvGrpSpPr>
          <p:cNvPr name="Group 12" id="12"/>
          <p:cNvGrpSpPr/>
          <p:nvPr/>
        </p:nvGrpSpPr>
        <p:grpSpPr>
          <a:xfrm rot="0">
            <a:off x="8232688" y="2015091"/>
            <a:ext cx="2373212" cy="237321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75031" y="0"/>
                  </a:moveTo>
                  <a:lnTo>
                    <a:pt x="737769" y="0"/>
                  </a:lnTo>
                  <a:cubicBezTo>
                    <a:pt x="779208" y="0"/>
                    <a:pt x="812800" y="33592"/>
                    <a:pt x="812800" y="75031"/>
                  </a:cubicBezTo>
                  <a:lnTo>
                    <a:pt x="812800" y="737769"/>
                  </a:lnTo>
                  <a:cubicBezTo>
                    <a:pt x="812800" y="779208"/>
                    <a:pt x="779208" y="812800"/>
                    <a:pt x="737769" y="812800"/>
                  </a:cubicBezTo>
                  <a:lnTo>
                    <a:pt x="75031" y="812800"/>
                  </a:lnTo>
                  <a:cubicBezTo>
                    <a:pt x="33592" y="812800"/>
                    <a:pt x="0" y="779208"/>
                    <a:pt x="0" y="737769"/>
                  </a:cubicBezTo>
                  <a:lnTo>
                    <a:pt x="0" y="75031"/>
                  </a:lnTo>
                  <a:cubicBezTo>
                    <a:pt x="0" y="33592"/>
                    <a:pt x="33592" y="0"/>
                    <a:pt x="75031" y="0"/>
                  </a:cubicBezTo>
                  <a:close/>
                </a:path>
              </a:pathLst>
            </a:custGeom>
            <a:blipFill>
              <a:blip r:embed="rId13"/>
              <a:stretch>
                <a:fillRect l="-50000" t="0" r="-50000" b="0"/>
              </a:stretch>
            </a:blipFill>
          </p:spPr>
        </p:sp>
      </p:grpSp>
      <p:grpSp>
        <p:nvGrpSpPr>
          <p:cNvPr name="Group 14" id="14"/>
          <p:cNvGrpSpPr/>
          <p:nvPr/>
        </p:nvGrpSpPr>
        <p:grpSpPr>
          <a:xfrm rot="0">
            <a:off x="8121526" y="5335314"/>
            <a:ext cx="2484374" cy="248437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71674" y="0"/>
                  </a:moveTo>
                  <a:lnTo>
                    <a:pt x="741126" y="0"/>
                  </a:lnTo>
                  <a:cubicBezTo>
                    <a:pt x="760135" y="0"/>
                    <a:pt x="778366" y="7551"/>
                    <a:pt x="791807" y="20993"/>
                  </a:cubicBezTo>
                  <a:cubicBezTo>
                    <a:pt x="805249" y="34434"/>
                    <a:pt x="812800" y="52665"/>
                    <a:pt x="812800" y="71674"/>
                  </a:cubicBezTo>
                  <a:lnTo>
                    <a:pt x="812800" y="741126"/>
                  </a:lnTo>
                  <a:cubicBezTo>
                    <a:pt x="812800" y="760135"/>
                    <a:pt x="805249" y="778366"/>
                    <a:pt x="791807" y="791807"/>
                  </a:cubicBezTo>
                  <a:cubicBezTo>
                    <a:pt x="778366" y="805249"/>
                    <a:pt x="760135" y="812800"/>
                    <a:pt x="741126" y="812800"/>
                  </a:cubicBezTo>
                  <a:lnTo>
                    <a:pt x="71674" y="812800"/>
                  </a:lnTo>
                  <a:cubicBezTo>
                    <a:pt x="52665" y="812800"/>
                    <a:pt x="34434" y="805249"/>
                    <a:pt x="20993" y="791807"/>
                  </a:cubicBezTo>
                  <a:cubicBezTo>
                    <a:pt x="7551" y="778366"/>
                    <a:pt x="0" y="760135"/>
                    <a:pt x="0" y="741126"/>
                  </a:cubicBezTo>
                  <a:lnTo>
                    <a:pt x="0" y="71674"/>
                  </a:lnTo>
                  <a:cubicBezTo>
                    <a:pt x="0" y="52665"/>
                    <a:pt x="7551" y="34434"/>
                    <a:pt x="20993" y="20993"/>
                  </a:cubicBezTo>
                  <a:cubicBezTo>
                    <a:pt x="34434" y="7551"/>
                    <a:pt x="52665" y="0"/>
                    <a:pt x="71674" y="0"/>
                  </a:cubicBezTo>
                  <a:close/>
                </a:path>
              </a:pathLst>
            </a:custGeom>
            <a:blipFill>
              <a:blip r:embed="rId14"/>
              <a:stretch>
                <a:fillRect l="0" t="0" r="0" b="0"/>
              </a:stretch>
            </a:blipFill>
          </p:spPr>
        </p:sp>
      </p:grpSp>
      <p:sp>
        <p:nvSpPr>
          <p:cNvPr name="Freeform 16" id="16"/>
          <p:cNvSpPr/>
          <p:nvPr/>
        </p:nvSpPr>
        <p:spPr>
          <a:xfrm flipH="false" flipV="false" rot="0">
            <a:off x="11701275" y="2015091"/>
            <a:ext cx="2525623" cy="2488662"/>
          </a:xfrm>
          <a:custGeom>
            <a:avLst/>
            <a:gdLst/>
            <a:ahLst/>
            <a:cxnLst/>
            <a:rect r="r" b="b" t="t" l="l"/>
            <a:pathLst>
              <a:path h="2488662" w="2525623">
                <a:moveTo>
                  <a:pt x="0" y="0"/>
                </a:moveTo>
                <a:lnTo>
                  <a:pt x="2525623" y="0"/>
                </a:lnTo>
                <a:lnTo>
                  <a:pt x="2525623" y="2488663"/>
                </a:lnTo>
                <a:lnTo>
                  <a:pt x="0" y="2488663"/>
                </a:lnTo>
                <a:lnTo>
                  <a:pt x="0" y="0"/>
                </a:lnTo>
                <a:close/>
              </a:path>
            </a:pathLst>
          </a:custGeom>
          <a:blipFill>
            <a:blip r:embed="rId15"/>
            <a:stretch>
              <a:fillRect l="0" t="0" r="0" b="0"/>
            </a:stretch>
          </a:blipFill>
        </p:spPr>
      </p:sp>
      <p:sp>
        <p:nvSpPr>
          <p:cNvPr name="TextBox 17" id="17"/>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18" id="18"/>
          <p:cNvSpPr txBox="true"/>
          <p:nvPr/>
        </p:nvSpPr>
        <p:spPr>
          <a:xfrm rot="0">
            <a:off x="213717" y="962025"/>
            <a:ext cx="7029927" cy="596900"/>
          </a:xfrm>
          <a:prstGeom prst="rect">
            <a:avLst/>
          </a:prstGeom>
        </p:spPr>
        <p:txBody>
          <a:bodyPr anchor="t" rtlCol="false" tIns="0" lIns="0" bIns="0" rIns="0">
            <a:spAutoFit/>
          </a:bodyPr>
          <a:lstStyle/>
          <a:p>
            <a:pPr algn="ctr">
              <a:lnSpc>
                <a:spcPts val="4899"/>
              </a:lnSpc>
              <a:spcBef>
                <a:spcPct val="0"/>
              </a:spcBef>
            </a:pPr>
            <a:r>
              <a:rPr lang="en-US" b="true" sz="3499" spc="349">
                <a:solidFill>
                  <a:srgbClr val="000000"/>
                </a:solidFill>
                <a:latin typeface="Roboto Bold"/>
                <a:ea typeface="Roboto Bold"/>
                <a:cs typeface="Roboto Bold"/>
                <a:sym typeface="Roboto Bold"/>
              </a:rPr>
              <a:t>2.Công nghệ sử dụng </a:t>
            </a:r>
          </a:p>
        </p:txBody>
      </p:sp>
      <p:sp>
        <p:nvSpPr>
          <p:cNvPr name="TextBox 19" id="19"/>
          <p:cNvSpPr txBox="true"/>
          <p:nvPr/>
        </p:nvSpPr>
        <p:spPr>
          <a:xfrm rot="0">
            <a:off x="1605989" y="2699437"/>
            <a:ext cx="2373212"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Frontend</a:t>
            </a:r>
          </a:p>
        </p:txBody>
      </p:sp>
      <p:sp>
        <p:nvSpPr>
          <p:cNvPr name="TextBox 20" id="20"/>
          <p:cNvSpPr txBox="true"/>
          <p:nvPr/>
        </p:nvSpPr>
        <p:spPr>
          <a:xfrm rot="0">
            <a:off x="2110714" y="6207735"/>
            <a:ext cx="1363762"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Backend</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1509" y="2294802"/>
            <a:ext cx="4371467" cy="1286742"/>
            <a:chOff x="0" y="0"/>
            <a:chExt cx="1151333" cy="338895"/>
          </a:xfrm>
        </p:grpSpPr>
        <p:sp>
          <p:nvSpPr>
            <p:cNvPr name="Freeform 3" id="3"/>
            <p:cNvSpPr/>
            <p:nvPr/>
          </p:nvSpPr>
          <p:spPr>
            <a:xfrm flipH="false" flipV="false" rot="0">
              <a:off x="0" y="0"/>
              <a:ext cx="1151333" cy="338895"/>
            </a:xfrm>
            <a:custGeom>
              <a:avLst/>
              <a:gdLst/>
              <a:ahLst/>
              <a:cxnLst/>
              <a:rect r="r" b="b" t="t" l="l"/>
              <a:pathLst>
                <a:path h="338895" w="1151333">
                  <a:moveTo>
                    <a:pt x="0" y="0"/>
                  </a:moveTo>
                  <a:lnTo>
                    <a:pt x="948133" y="0"/>
                  </a:lnTo>
                  <a:lnTo>
                    <a:pt x="1151333" y="169448"/>
                  </a:lnTo>
                  <a:lnTo>
                    <a:pt x="948133" y="338895"/>
                  </a:lnTo>
                  <a:lnTo>
                    <a:pt x="0" y="338895"/>
                  </a:lnTo>
                  <a:lnTo>
                    <a:pt x="203200" y="169448"/>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4" id="4"/>
            <p:cNvSpPr txBox="true"/>
            <p:nvPr/>
          </p:nvSpPr>
          <p:spPr>
            <a:xfrm>
              <a:off x="177800" y="-47625"/>
              <a:ext cx="897333" cy="386520"/>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Đối tượng sử dụng</a:t>
              </a:r>
            </a:p>
          </p:txBody>
        </p:sp>
      </p:grpSp>
      <p:sp>
        <p:nvSpPr>
          <p:cNvPr name="Freeform 5" id="5"/>
          <p:cNvSpPr/>
          <p:nvPr/>
        </p:nvSpPr>
        <p:spPr>
          <a:xfrm flipH="false" flipV="false" rot="0">
            <a:off x="10602512" y="5838523"/>
            <a:ext cx="9140417" cy="8043567"/>
          </a:xfrm>
          <a:custGeom>
            <a:avLst/>
            <a:gdLst/>
            <a:ahLst/>
            <a:cxnLst/>
            <a:rect r="r" b="b" t="t" l="l"/>
            <a:pathLst>
              <a:path h="8043567" w="9140417">
                <a:moveTo>
                  <a:pt x="0" y="0"/>
                </a:moveTo>
                <a:lnTo>
                  <a:pt x="9140418" y="0"/>
                </a:lnTo>
                <a:lnTo>
                  <a:pt x="9140418" y="8043568"/>
                </a:lnTo>
                <a:lnTo>
                  <a:pt x="0" y="80435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7136214">
            <a:off x="15376697" y="-1394940"/>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7" id="7"/>
          <p:cNvGrpSpPr/>
          <p:nvPr/>
        </p:nvGrpSpPr>
        <p:grpSpPr>
          <a:xfrm rot="0">
            <a:off x="371509" y="6359436"/>
            <a:ext cx="4241303" cy="1462001"/>
            <a:chOff x="0" y="0"/>
            <a:chExt cx="1117051" cy="385054"/>
          </a:xfrm>
        </p:grpSpPr>
        <p:sp>
          <p:nvSpPr>
            <p:cNvPr name="Freeform 8" id="8"/>
            <p:cNvSpPr/>
            <p:nvPr/>
          </p:nvSpPr>
          <p:spPr>
            <a:xfrm flipH="false" flipV="false" rot="0">
              <a:off x="0" y="0"/>
              <a:ext cx="1117051" cy="385054"/>
            </a:xfrm>
            <a:custGeom>
              <a:avLst/>
              <a:gdLst/>
              <a:ahLst/>
              <a:cxnLst/>
              <a:rect r="r" b="b" t="t" l="l"/>
              <a:pathLst>
                <a:path h="385054" w="1117051">
                  <a:moveTo>
                    <a:pt x="0" y="0"/>
                  </a:moveTo>
                  <a:lnTo>
                    <a:pt x="913851" y="0"/>
                  </a:lnTo>
                  <a:lnTo>
                    <a:pt x="1117051" y="192527"/>
                  </a:lnTo>
                  <a:lnTo>
                    <a:pt x="913851" y="385054"/>
                  </a:lnTo>
                  <a:lnTo>
                    <a:pt x="0" y="385054"/>
                  </a:lnTo>
                  <a:lnTo>
                    <a:pt x="203200" y="192527"/>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9" id="9"/>
            <p:cNvSpPr txBox="true"/>
            <p:nvPr/>
          </p:nvSpPr>
          <p:spPr>
            <a:xfrm>
              <a:off x="177800" y="-47625"/>
              <a:ext cx="863051" cy="432679"/>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Tính năng</a:t>
              </a:r>
            </a:p>
          </p:txBody>
        </p:sp>
      </p:grpSp>
      <p:sp>
        <p:nvSpPr>
          <p:cNvPr name="Freeform 10" id="10"/>
          <p:cNvSpPr/>
          <p:nvPr/>
        </p:nvSpPr>
        <p:spPr>
          <a:xfrm flipH="false" flipV="false" rot="0">
            <a:off x="7476554" y="6674516"/>
            <a:ext cx="1352497" cy="1352497"/>
          </a:xfrm>
          <a:custGeom>
            <a:avLst/>
            <a:gdLst/>
            <a:ahLst/>
            <a:cxnLst/>
            <a:rect r="r" b="b" t="t" l="l"/>
            <a:pathLst>
              <a:path h="1352497" w="1352497">
                <a:moveTo>
                  <a:pt x="0" y="0"/>
                </a:moveTo>
                <a:lnTo>
                  <a:pt x="1352497" y="0"/>
                </a:lnTo>
                <a:lnTo>
                  <a:pt x="1352497" y="1352496"/>
                </a:lnTo>
                <a:lnTo>
                  <a:pt x="0" y="1352496"/>
                </a:lnTo>
                <a:lnTo>
                  <a:pt x="0" y="0"/>
                </a:lnTo>
                <a:close/>
              </a:path>
            </a:pathLst>
          </a:custGeom>
          <a:blipFill>
            <a:blip r:embed="rId4"/>
            <a:stretch>
              <a:fillRect l="0" t="0" r="0" b="0"/>
            </a:stretch>
          </a:blipFill>
        </p:spPr>
      </p:sp>
      <p:sp>
        <p:nvSpPr>
          <p:cNvPr name="Freeform 11" id="11"/>
          <p:cNvSpPr/>
          <p:nvPr/>
        </p:nvSpPr>
        <p:spPr>
          <a:xfrm flipH="false" flipV="false" rot="0">
            <a:off x="9729753" y="6629511"/>
            <a:ext cx="1498931" cy="1498931"/>
          </a:xfrm>
          <a:custGeom>
            <a:avLst/>
            <a:gdLst/>
            <a:ahLst/>
            <a:cxnLst/>
            <a:rect r="r" b="b" t="t" l="l"/>
            <a:pathLst>
              <a:path h="1498931" w="1498931">
                <a:moveTo>
                  <a:pt x="0" y="0"/>
                </a:moveTo>
                <a:lnTo>
                  <a:pt x="1498931" y="0"/>
                </a:lnTo>
                <a:lnTo>
                  <a:pt x="1498931" y="1498931"/>
                </a:lnTo>
                <a:lnTo>
                  <a:pt x="0" y="1498931"/>
                </a:lnTo>
                <a:lnTo>
                  <a:pt x="0" y="0"/>
                </a:lnTo>
                <a:close/>
              </a:path>
            </a:pathLst>
          </a:custGeom>
          <a:blipFill>
            <a:blip r:embed="rId5"/>
            <a:stretch>
              <a:fillRect l="0" t="0" r="0" b="0"/>
            </a:stretch>
          </a:blipFill>
        </p:spPr>
      </p:sp>
      <p:sp>
        <p:nvSpPr>
          <p:cNvPr name="Freeform 12" id="12"/>
          <p:cNvSpPr/>
          <p:nvPr/>
        </p:nvSpPr>
        <p:spPr>
          <a:xfrm flipH="false" flipV="false" rot="0">
            <a:off x="12243909" y="6649849"/>
            <a:ext cx="1458255" cy="1458255"/>
          </a:xfrm>
          <a:custGeom>
            <a:avLst/>
            <a:gdLst/>
            <a:ahLst/>
            <a:cxnLst/>
            <a:rect r="r" b="b" t="t" l="l"/>
            <a:pathLst>
              <a:path h="1458255" w="1458255">
                <a:moveTo>
                  <a:pt x="0" y="0"/>
                </a:moveTo>
                <a:lnTo>
                  <a:pt x="1458255" y="0"/>
                </a:lnTo>
                <a:lnTo>
                  <a:pt x="1458255" y="1458254"/>
                </a:lnTo>
                <a:lnTo>
                  <a:pt x="0" y="1458254"/>
                </a:lnTo>
                <a:lnTo>
                  <a:pt x="0" y="0"/>
                </a:lnTo>
                <a:close/>
              </a:path>
            </a:pathLst>
          </a:custGeom>
          <a:blipFill>
            <a:blip r:embed="rId6"/>
            <a:stretch>
              <a:fillRect l="0" t="0" r="0" b="0"/>
            </a:stretch>
          </a:blipFill>
        </p:spPr>
      </p:sp>
      <p:sp>
        <p:nvSpPr>
          <p:cNvPr name="Freeform 13" id="13"/>
          <p:cNvSpPr/>
          <p:nvPr/>
        </p:nvSpPr>
        <p:spPr>
          <a:xfrm flipH="false" flipV="false" rot="0">
            <a:off x="14870563" y="6668997"/>
            <a:ext cx="1419959" cy="1419959"/>
          </a:xfrm>
          <a:custGeom>
            <a:avLst/>
            <a:gdLst/>
            <a:ahLst/>
            <a:cxnLst/>
            <a:rect r="r" b="b" t="t" l="l"/>
            <a:pathLst>
              <a:path h="1419959" w="1419959">
                <a:moveTo>
                  <a:pt x="0" y="0"/>
                </a:moveTo>
                <a:lnTo>
                  <a:pt x="1419959" y="0"/>
                </a:lnTo>
                <a:lnTo>
                  <a:pt x="1419959" y="1419959"/>
                </a:lnTo>
                <a:lnTo>
                  <a:pt x="0" y="1419959"/>
                </a:lnTo>
                <a:lnTo>
                  <a:pt x="0" y="0"/>
                </a:lnTo>
                <a:close/>
              </a:path>
            </a:pathLst>
          </a:custGeom>
          <a:blipFill>
            <a:blip r:embed="rId7"/>
            <a:stretch>
              <a:fillRect l="0" t="0" r="0" b="0"/>
            </a:stretch>
          </a:blipFill>
        </p:spPr>
      </p:sp>
      <p:sp>
        <p:nvSpPr>
          <p:cNvPr name="Freeform 14" id="14"/>
          <p:cNvSpPr/>
          <p:nvPr/>
        </p:nvSpPr>
        <p:spPr>
          <a:xfrm flipH="false" flipV="false" rot="0">
            <a:off x="5093416" y="6668997"/>
            <a:ext cx="1363535" cy="1363535"/>
          </a:xfrm>
          <a:custGeom>
            <a:avLst/>
            <a:gdLst/>
            <a:ahLst/>
            <a:cxnLst/>
            <a:rect r="r" b="b" t="t" l="l"/>
            <a:pathLst>
              <a:path h="1363535" w="1363535">
                <a:moveTo>
                  <a:pt x="0" y="0"/>
                </a:moveTo>
                <a:lnTo>
                  <a:pt x="1363534" y="0"/>
                </a:lnTo>
                <a:lnTo>
                  <a:pt x="1363534" y="1363534"/>
                </a:lnTo>
                <a:lnTo>
                  <a:pt x="0" y="1363534"/>
                </a:lnTo>
                <a:lnTo>
                  <a:pt x="0" y="0"/>
                </a:lnTo>
                <a:close/>
              </a:path>
            </a:pathLst>
          </a:custGeom>
          <a:blipFill>
            <a:blip r:embed="rId8"/>
            <a:stretch>
              <a:fillRect l="0" t="0" r="0" b="0"/>
            </a:stretch>
          </a:blipFill>
        </p:spPr>
      </p:sp>
      <p:grpSp>
        <p:nvGrpSpPr>
          <p:cNvPr name="Group 15" id="15"/>
          <p:cNvGrpSpPr/>
          <p:nvPr/>
        </p:nvGrpSpPr>
        <p:grpSpPr>
          <a:xfrm rot="0">
            <a:off x="4874816" y="8271837"/>
            <a:ext cx="1995979" cy="561137"/>
            <a:chOff x="0" y="0"/>
            <a:chExt cx="525690" cy="147789"/>
          </a:xfrm>
        </p:grpSpPr>
        <p:sp>
          <p:nvSpPr>
            <p:cNvPr name="Freeform 16" id="16"/>
            <p:cNvSpPr/>
            <p:nvPr/>
          </p:nvSpPr>
          <p:spPr>
            <a:xfrm flipH="false" flipV="false" rot="0">
              <a:off x="0" y="0"/>
              <a:ext cx="525690" cy="147789"/>
            </a:xfrm>
            <a:custGeom>
              <a:avLst/>
              <a:gdLst/>
              <a:ahLst/>
              <a:cxnLst/>
              <a:rect r="r" b="b" t="t" l="l"/>
              <a:pathLst>
                <a:path h="147789" w="525690">
                  <a:moveTo>
                    <a:pt x="73895" y="0"/>
                  </a:moveTo>
                  <a:lnTo>
                    <a:pt x="451795" y="0"/>
                  </a:lnTo>
                  <a:cubicBezTo>
                    <a:pt x="492606" y="0"/>
                    <a:pt x="525690" y="33084"/>
                    <a:pt x="525690" y="73895"/>
                  </a:cubicBezTo>
                  <a:lnTo>
                    <a:pt x="525690" y="73895"/>
                  </a:lnTo>
                  <a:cubicBezTo>
                    <a:pt x="525690" y="93493"/>
                    <a:pt x="517905" y="112288"/>
                    <a:pt x="504047" y="126146"/>
                  </a:cubicBezTo>
                  <a:cubicBezTo>
                    <a:pt x="490189" y="140004"/>
                    <a:pt x="471393" y="147789"/>
                    <a:pt x="451795"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17" id="17"/>
            <p:cNvSpPr txBox="true"/>
            <p:nvPr/>
          </p:nvSpPr>
          <p:spPr>
            <a:xfrm>
              <a:off x="0" y="-47625"/>
              <a:ext cx="525690"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Account</a:t>
              </a:r>
            </a:p>
          </p:txBody>
        </p:sp>
      </p:grpSp>
      <p:grpSp>
        <p:nvGrpSpPr>
          <p:cNvPr name="Group 18" id="18"/>
          <p:cNvGrpSpPr/>
          <p:nvPr/>
        </p:nvGrpSpPr>
        <p:grpSpPr>
          <a:xfrm rot="0">
            <a:off x="11815284" y="8271837"/>
            <a:ext cx="2554768" cy="561137"/>
            <a:chOff x="0" y="0"/>
            <a:chExt cx="672861" cy="147789"/>
          </a:xfrm>
        </p:grpSpPr>
        <p:sp>
          <p:nvSpPr>
            <p:cNvPr name="Freeform 19" id="19"/>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20" id="20"/>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Manange staff </a:t>
              </a:r>
            </a:p>
          </p:txBody>
        </p:sp>
      </p:grpSp>
      <p:grpSp>
        <p:nvGrpSpPr>
          <p:cNvPr name="Group 21" id="21"/>
          <p:cNvGrpSpPr/>
          <p:nvPr/>
        </p:nvGrpSpPr>
        <p:grpSpPr>
          <a:xfrm rot="0">
            <a:off x="14684377" y="8207439"/>
            <a:ext cx="2012249" cy="561137"/>
            <a:chOff x="0" y="0"/>
            <a:chExt cx="529975" cy="147789"/>
          </a:xfrm>
        </p:grpSpPr>
        <p:sp>
          <p:nvSpPr>
            <p:cNvPr name="Freeform 22" id="22"/>
            <p:cNvSpPr/>
            <p:nvPr/>
          </p:nvSpPr>
          <p:spPr>
            <a:xfrm flipH="false" flipV="false" rot="0">
              <a:off x="0" y="0"/>
              <a:ext cx="529975" cy="147789"/>
            </a:xfrm>
            <a:custGeom>
              <a:avLst/>
              <a:gdLst/>
              <a:ahLst/>
              <a:cxnLst/>
              <a:rect r="r" b="b" t="t" l="l"/>
              <a:pathLst>
                <a:path h="147789" w="529975">
                  <a:moveTo>
                    <a:pt x="73895" y="0"/>
                  </a:moveTo>
                  <a:lnTo>
                    <a:pt x="456081" y="0"/>
                  </a:lnTo>
                  <a:cubicBezTo>
                    <a:pt x="475679" y="0"/>
                    <a:pt x="494474" y="7785"/>
                    <a:pt x="508332" y="21643"/>
                  </a:cubicBezTo>
                  <a:cubicBezTo>
                    <a:pt x="522190" y="35501"/>
                    <a:pt x="529975" y="54296"/>
                    <a:pt x="529975" y="73895"/>
                  </a:cubicBezTo>
                  <a:lnTo>
                    <a:pt x="529975" y="73895"/>
                  </a:lnTo>
                  <a:cubicBezTo>
                    <a:pt x="529975" y="114705"/>
                    <a:pt x="496891" y="147789"/>
                    <a:pt x="456081"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23" id="23"/>
            <p:cNvSpPr txBox="true"/>
            <p:nvPr/>
          </p:nvSpPr>
          <p:spPr>
            <a:xfrm>
              <a:off x="0" y="-47625"/>
              <a:ext cx="529975"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Feedback</a:t>
              </a:r>
            </a:p>
          </p:txBody>
        </p:sp>
      </p:grpSp>
      <p:grpSp>
        <p:nvGrpSpPr>
          <p:cNvPr name="Group 24" id="24"/>
          <p:cNvGrpSpPr/>
          <p:nvPr/>
        </p:nvGrpSpPr>
        <p:grpSpPr>
          <a:xfrm rot="0">
            <a:off x="9495577" y="8271837"/>
            <a:ext cx="1967282" cy="561137"/>
            <a:chOff x="0" y="0"/>
            <a:chExt cx="518132" cy="147789"/>
          </a:xfrm>
        </p:grpSpPr>
        <p:sp>
          <p:nvSpPr>
            <p:cNvPr name="Freeform 25" id="25"/>
            <p:cNvSpPr/>
            <p:nvPr/>
          </p:nvSpPr>
          <p:spPr>
            <a:xfrm flipH="false" flipV="false" rot="0">
              <a:off x="0" y="0"/>
              <a:ext cx="518132" cy="147789"/>
            </a:xfrm>
            <a:custGeom>
              <a:avLst/>
              <a:gdLst/>
              <a:ahLst/>
              <a:cxnLst/>
              <a:rect r="r" b="b" t="t" l="l"/>
              <a:pathLst>
                <a:path h="147789" w="518132">
                  <a:moveTo>
                    <a:pt x="73895" y="0"/>
                  </a:moveTo>
                  <a:lnTo>
                    <a:pt x="444237" y="0"/>
                  </a:lnTo>
                  <a:cubicBezTo>
                    <a:pt x="485048" y="0"/>
                    <a:pt x="518132" y="33084"/>
                    <a:pt x="518132" y="73895"/>
                  </a:cubicBezTo>
                  <a:lnTo>
                    <a:pt x="518132" y="73895"/>
                  </a:lnTo>
                  <a:cubicBezTo>
                    <a:pt x="518132" y="93493"/>
                    <a:pt x="510347" y="112288"/>
                    <a:pt x="496489" y="126146"/>
                  </a:cubicBezTo>
                  <a:cubicBezTo>
                    <a:pt x="482631" y="140004"/>
                    <a:pt x="463835" y="147789"/>
                    <a:pt x="444237"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26" id="26"/>
            <p:cNvSpPr txBox="true"/>
            <p:nvPr/>
          </p:nvSpPr>
          <p:spPr>
            <a:xfrm>
              <a:off x="0" y="-47625"/>
              <a:ext cx="518132"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Check list</a:t>
              </a:r>
            </a:p>
          </p:txBody>
        </p:sp>
      </p:grpSp>
      <p:grpSp>
        <p:nvGrpSpPr>
          <p:cNvPr name="Group 27" id="27"/>
          <p:cNvGrpSpPr/>
          <p:nvPr/>
        </p:nvGrpSpPr>
        <p:grpSpPr>
          <a:xfrm rot="0">
            <a:off x="7180562" y="8207439"/>
            <a:ext cx="1963438" cy="561137"/>
            <a:chOff x="0" y="0"/>
            <a:chExt cx="517119" cy="147789"/>
          </a:xfrm>
        </p:grpSpPr>
        <p:sp>
          <p:nvSpPr>
            <p:cNvPr name="Freeform 28" id="28"/>
            <p:cNvSpPr/>
            <p:nvPr/>
          </p:nvSpPr>
          <p:spPr>
            <a:xfrm flipH="false" flipV="false" rot="0">
              <a:off x="0" y="0"/>
              <a:ext cx="517120" cy="147789"/>
            </a:xfrm>
            <a:custGeom>
              <a:avLst/>
              <a:gdLst/>
              <a:ahLst/>
              <a:cxnLst/>
              <a:rect r="r" b="b" t="t" l="l"/>
              <a:pathLst>
                <a:path h="147789" w="517120">
                  <a:moveTo>
                    <a:pt x="73895" y="0"/>
                  </a:moveTo>
                  <a:lnTo>
                    <a:pt x="443225" y="0"/>
                  </a:lnTo>
                  <a:cubicBezTo>
                    <a:pt x="484036" y="0"/>
                    <a:pt x="517120" y="33084"/>
                    <a:pt x="517120" y="73895"/>
                  </a:cubicBezTo>
                  <a:lnTo>
                    <a:pt x="517120" y="73895"/>
                  </a:lnTo>
                  <a:cubicBezTo>
                    <a:pt x="517120" y="93493"/>
                    <a:pt x="509334" y="112288"/>
                    <a:pt x="495476" y="126146"/>
                  </a:cubicBezTo>
                  <a:cubicBezTo>
                    <a:pt x="481618" y="140004"/>
                    <a:pt x="462823" y="147789"/>
                    <a:pt x="443225"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29" id="29"/>
            <p:cNvSpPr txBox="true"/>
            <p:nvPr/>
          </p:nvSpPr>
          <p:spPr>
            <a:xfrm>
              <a:off x="0" y="-47625"/>
              <a:ext cx="517119"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Booking</a:t>
              </a:r>
            </a:p>
          </p:txBody>
        </p:sp>
      </p:grpSp>
      <p:sp>
        <p:nvSpPr>
          <p:cNvPr name="Freeform 30" id="30"/>
          <p:cNvSpPr/>
          <p:nvPr/>
        </p:nvSpPr>
        <p:spPr>
          <a:xfrm flipH="false" flipV="false" rot="0">
            <a:off x="7180562" y="2277150"/>
            <a:ext cx="1547663" cy="1547663"/>
          </a:xfrm>
          <a:custGeom>
            <a:avLst/>
            <a:gdLst/>
            <a:ahLst/>
            <a:cxnLst/>
            <a:rect r="r" b="b" t="t" l="l"/>
            <a:pathLst>
              <a:path h="1547663" w="1547663">
                <a:moveTo>
                  <a:pt x="0" y="0"/>
                </a:moveTo>
                <a:lnTo>
                  <a:pt x="1547663" y="0"/>
                </a:lnTo>
                <a:lnTo>
                  <a:pt x="1547663" y="1547663"/>
                </a:lnTo>
                <a:lnTo>
                  <a:pt x="0" y="1547663"/>
                </a:lnTo>
                <a:lnTo>
                  <a:pt x="0" y="0"/>
                </a:lnTo>
                <a:close/>
              </a:path>
            </a:pathLst>
          </a:custGeom>
          <a:blipFill>
            <a:blip r:embed="rId9"/>
            <a:stretch>
              <a:fillRect l="0" t="0" r="0" b="0"/>
            </a:stretch>
          </a:blipFill>
        </p:spPr>
      </p:sp>
      <p:sp>
        <p:nvSpPr>
          <p:cNvPr name="AutoShape 31" id="31"/>
          <p:cNvSpPr/>
          <p:nvPr/>
        </p:nvSpPr>
        <p:spPr>
          <a:xfrm flipH="true">
            <a:off x="5775183" y="3824813"/>
            <a:ext cx="2179211" cy="2844184"/>
          </a:xfrm>
          <a:prstGeom prst="line">
            <a:avLst/>
          </a:prstGeom>
          <a:ln cap="flat" w="38100">
            <a:solidFill>
              <a:srgbClr val="98D4E1"/>
            </a:solidFill>
            <a:prstDash val="solid"/>
            <a:headEnd type="none" len="sm" w="sm"/>
            <a:tailEnd type="triangle" len="med" w="lg"/>
          </a:ln>
        </p:spPr>
      </p:sp>
      <p:sp>
        <p:nvSpPr>
          <p:cNvPr name="AutoShape 32" id="32"/>
          <p:cNvSpPr/>
          <p:nvPr/>
        </p:nvSpPr>
        <p:spPr>
          <a:xfrm>
            <a:off x="7954393" y="3824813"/>
            <a:ext cx="0" cy="2804698"/>
          </a:xfrm>
          <a:prstGeom prst="line">
            <a:avLst/>
          </a:prstGeom>
          <a:ln cap="flat" w="38100">
            <a:solidFill>
              <a:srgbClr val="98D4E1"/>
            </a:solidFill>
            <a:prstDash val="solid"/>
            <a:headEnd type="none" len="sm" w="sm"/>
            <a:tailEnd type="triangle" len="med" w="lg"/>
          </a:ln>
        </p:spPr>
      </p:sp>
      <p:sp>
        <p:nvSpPr>
          <p:cNvPr name="AutoShape 33" id="33"/>
          <p:cNvSpPr/>
          <p:nvPr/>
        </p:nvSpPr>
        <p:spPr>
          <a:xfrm>
            <a:off x="7954393" y="3824813"/>
            <a:ext cx="2524825" cy="2804698"/>
          </a:xfrm>
          <a:prstGeom prst="line">
            <a:avLst/>
          </a:prstGeom>
          <a:ln cap="flat" w="38100">
            <a:solidFill>
              <a:srgbClr val="98D4E1"/>
            </a:solidFill>
            <a:prstDash val="solid"/>
            <a:headEnd type="none" len="sm" w="sm"/>
            <a:tailEnd type="triangle" len="med" w="lg"/>
          </a:ln>
        </p:spPr>
      </p:sp>
      <p:sp>
        <p:nvSpPr>
          <p:cNvPr name="AutoShape 34" id="34"/>
          <p:cNvSpPr/>
          <p:nvPr/>
        </p:nvSpPr>
        <p:spPr>
          <a:xfrm>
            <a:off x="7954393" y="3824813"/>
            <a:ext cx="7626149" cy="2844184"/>
          </a:xfrm>
          <a:prstGeom prst="line">
            <a:avLst/>
          </a:prstGeom>
          <a:ln cap="flat" w="38100">
            <a:solidFill>
              <a:srgbClr val="98D4E1"/>
            </a:solidFill>
            <a:prstDash val="solid"/>
            <a:headEnd type="none" len="sm" w="sm"/>
            <a:tailEnd type="triangle" len="med" w="lg"/>
          </a:ln>
        </p:spPr>
      </p:sp>
      <p:sp>
        <p:nvSpPr>
          <p:cNvPr name="Freeform 35" id="35"/>
          <p:cNvSpPr/>
          <p:nvPr/>
        </p:nvSpPr>
        <p:spPr>
          <a:xfrm flipH="false" flipV="false" rot="0">
            <a:off x="12509828" y="2294802"/>
            <a:ext cx="1599597" cy="1599597"/>
          </a:xfrm>
          <a:custGeom>
            <a:avLst/>
            <a:gdLst/>
            <a:ahLst/>
            <a:cxnLst/>
            <a:rect r="r" b="b" t="t" l="l"/>
            <a:pathLst>
              <a:path h="1599597" w="1599597">
                <a:moveTo>
                  <a:pt x="0" y="0"/>
                </a:moveTo>
                <a:lnTo>
                  <a:pt x="1599597" y="0"/>
                </a:lnTo>
                <a:lnTo>
                  <a:pt x="1599597" y="1599597"/>
                </a:lnTo>
                <a:lnTo>
                  <a:pt x="0" y="1599597"/>
                </a:lnTo>
                <a:lnTo>
                  <a:pt x="0" y="0"/>
                </a:lnTo>
                <a:close/>
              </a:path>
            </a:pathLst>
          </a:custGeom>
          <a:blipFill>
            <a:blip r:embed="rId10"/>
            <a:stretch>
              <a:fillRect l="0" t="0" r="0" b="0"/>
            </a:stretch>
          </a:blipFill>
        </p:spPr>
      </p:sp>
      <p:sp>
        <p:nvSpPr>
          <p:cNvPr name="TextBox 36" id="36"/>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AutoShape 37" id="37"/>
          <p:cNvSpPr/>
          <p:nvPr/>
        </p:nvSpPr>
        <p:spPr>
          <a:xfrm flipH="true">
            <a:off x="5872806" y="3889492"/>
            <a:ext cx="7326305" cy="2740018"/>
          </a:xfrm>
          <a:prstGeom prst="line">
            <a:avLst/>
          </a:prstGeom>
          <a:ln cap="flat" w="38100">
            <a:solidFill>
              <a:srgbClr val="98D4E1"/>
            </a:solidFill>
            <a:prstDash val="solid"/>
            <a:headEnd type="none" len="sm" w="sm"/>
            <a:tailEnd type="triangle" len="med" w="lg"/>
          </a:ln>
        </p:spPr>
      </p:sp>
      <p:sp>
        <p:nvSpPr>
          <p:cNvPr name="AutoShape 38" id="38"/>
          <p:cNvSpPr/>
          <p:nvPr/>
        </p:nvSpPr>
        <p:spPr>
          <a:xfrm flipH="true">
            <a:off x="12973037" y="3894399"/>
            <a:ext cx="336590" cy="2755450"/>
          </a:xfrm>
          <a:prstGeom prst="line">
            <a:avLst/>
          </a:prstGeom>
          <a:ln cap="flat" w="38100">
            <a:solidFill>
              <a:srgbClr val="98D4E1"/>
            </a:solidFill>
            <a:prstDash val="solid"/>
            <a:headEnd type="none" len="sm" w="sm"/>
            <a:tailEnd type="triangle" len="med" w="lg"/>
          </a:ln>
        </p:spPr>
      </p:sp>
      <p:grpSp>
        <p:nvGrpSpPr>
          <p:cNvPr name="Group 39" id="39"/>
          <p:cNvGrpSpPr/>
          <p:nvPr/>
        </p:nvGrpSpPr>
        <p:grpSpPr>
          <a:xfrm rot="0">
            <a:off x="12032242" y="1733666"/>
            <a:ext cx="2554768" cy="561137"/>
            <a:chOff x="0" y="0"/>
            <a:chExt cx="672861" cy="147789"/>
          </a:xfrm>
        </p:grpSpPr>
        <p:sp>
          <p:nvSpPr>
            <p:cNvPr name="Freeform 40" id="40"/>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41" id="41"/>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grpSp>
        <p:nvGrpSpPr>
          <p:cNvPr name="Group 42" id="42"/>
          <p:cNvGrpSpPr/>
          <p:nvPr/>
        </p:nvGrpSpPr>
        <p:grpSpPr>
          <a:xfrm rot="0">
            <a:off x="6677010" y="1668388"/>
            <a:ext cx="2554768" cy="561137"/>
            <a:chOff x="0" y="0"/>
            <a:chExt cx="672861" cy="147789"/>
          </a:xfrm>
        </p:grpSpPr>
        <p:sp>
          <p:nvSpPr>
            <p:cNvPr name="Freeform 43" id="43"/>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44" id="44"/>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Customer</a:t>
              </a:r>
            </a:p>
          </p:txBody>
        </p:sp>
      </p:grpSp>
      <p:sp>
        <p:nvSpPr>
          <p:cNvPr name="Freeform 45" id="45"/>
          <p:cNvSpPr/>
          <p:nvPr/>
        </p:nvSpPr>
        <p:spPr>
          <a:xfrm flipH="false" flipV="false" rot="7136214">
            <a:off x="15529097" y="-1242540"/>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6" id="46"/>
          <p:cNvGrpSpPr/>
          <p:nvPr/>
        </p:nvGrpSpPr>
        <p:grpSpPr>
          <a:xfrm rot="0">
            <a:off x="0" y="132726"/>
            <a:ext cx="6459766" cy="1082541"/>
            <a:chOff x="0" y="0"/>
            <a:chExt cx="1212164" cy="203137"/>
          </a:xfrm>
        </p:grpSpPr>
        <p:sp>
          <p:nvSpPr>
            <p:cNvPr name="Freeform 47" id="47"/>
            <p:cNvSpPr/>
            <p:nvPr/>
          </p:nvSpPr>
          <p:spPr>
            <a:xfrm flipH="false" flipV="false" rot="0">
              <a:off x="0" y="0"/>
              <a:ext cx="1212164" cy="203137"/>
            </a:xfrm>
            <a:custGeom>
              <a:avLst/>
              <a:gdLst/>
              <a:ahLst/>
              <a:cxnLst/>
              <a:rect r="r" b="b" t="t" l="l"/>
              <a:pathLst>
                <a:path h="203137" w="1212164">
                  <a:moveTo>
                    <a:pt x="0" y="0"/>
                  </a:moveTo>
                  <a:lnTo>
                    <a:pt x="1008964" y="0"/>
                  </a:lnTo>
                  <a:lnTo>
                    <a:pt x="1212164" y="101568"/>
                  </a:lnTo>
                  <a:lnTo>
                    <a:pt x="1008964" y="203137"/>
                  </a:lnTo>
                  <a:lnTo>
                    <a:pt x="0" y="203137"/>
                  </a:lnTo>
                  <a:lnTo>
                    <a:pt x="203200" y="101568"/>
                  </a:lnTo>
                  <a:lnTo>
                    <a:pt x="0" y="0"/>
                  </a:lnTo>
                  <a:close/>
                </a:path>
              </a:pathLst>
            </a:custGeom>
            <a:gradFill rotWithShape="true">
              <a:gsLst>
                <a:gs pos="0">
                  <a:srgbClr val="FF5757">
                    <a:alpha val="100000"/>
                  </a:srgbClr>
                </a:gs>
                <a:gs pos="100000">
                  <a:srgbClr val="8C52FF">
                    <a:alpha val="100000"/>
                  </a:srgbClr>
                </a:gs>
              </a:gsLst>
              <a:lin ang="0"/>
            </a:gradFill>
          </p:spPr>
        </p:sp>
        <p:sp>
          <p:nvSpPr>
            <p:cNvPr name="TextBox 48" id="48"/>
            <p:cNvSpPr txBox="true"/>
            <p:nvPr/>
          </p:nvSpPr>
          <p:spPr>
            <a:xfrm>
              <a:off x="177800" y="-66675"/>
              <a:ext cx="958164" cy="269812"/>
            </a:xfrm>
            <a:prstGeom prst="rect">
              <a:avLst/>
            </a:prstGeom>
          </p:spPr>
          <p:txBody>
            <a:bodyPr anchor="ctr" rtlCol="false" tIns="50800" lIns="50800" bIns="50800" rIns="50800"/>
            <a:lstStyle/>
            <a:p>
              <a:pPr algn="ctr">
                <a:lnSpc>
                  <a:spcPts val="3919"/>
                </a:lnSpc>
              </a:pPr>
              <a:r>
                <a:rPr lang="en-US" b="true" sz="2799" spc="279">
                  <a:solidFill>
                    <a:srgbClr val="000000"/>
                  </a:solidFill>
                  <a:latin typeface="Lato Bold"/>
                  <a:ea typeface="Lato Bold"/>
                  <a:cs typeface="Lato Bold"/>
                  <a:sym typeface="Lato Bold"/>
                </a:rPr>
                <a:t>Tổng quan sản phẩm</a:t>
              </a:r>
            </a:p>
          </p:txBody>
        </p:sp>
      </p:gr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600578" y="7004852"/>
            <a:ext cx="6311745" cy="5554335"/>
          </a:xfrm>
          <a:custGeom>
            <a:avLst/>
            <a:gdLst/>
            <a:ahLst/>
            <a:cxnLst/>
            <a:rect r="r" b="b" t="t" l="l"/>
            <a:pathLst>
              <a:path h="5554335" w="6311745">
                <a:moveTo>
                  <a:pt x="0" y="0"/>
                </a:moveTo>
                <a:lnTo>
                  <a:pt x="6311744" y="0"/>
                </a:lnTo>
                <a:lnTo>
                  <a:pt x="6311744"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836441" y="3915317"/>
            <a:ext cx="2157884" cy="2157884"/>
          </a:xfrm>
          <a:custGeom>
            <a:avLst/>
            <a:gdLst/>
            <a:ahLst/>
            <a:cxnLst/>
            <a:rect r="r" b="b" t="t" l="l"/>
            <a:pathLst>
              <a:path h="2157884" w="2157884">
                <a:moveTo>
                  <a:pt x="0" y="0"/>
                </a:moveTo>
                <a:lnTo>
                  <a:pt x="2157885" y="0"/>
                </a:lnTo>
                <a:lnTo>
                  <a:pt x="2157885" y="2157885"/>
                </a:lnTo>
                <a:lnTo>
                  <a:pt x="0" y="2157885"/>
                </a:lnTo>
                <a:lnTo>
                  <a:pt x="0" y="0"/>
                </a:lnTo>
                <a:close/>
              </a:path>
            </a:pathLst>
          </a:custGeom>
          <a:blipFill>
            <a:blip r:embed="rId4"/>
            <a:stretch>
              <a:fillRect l="0" t="0" r="0" b="0"/>
            </a:stretch>
          </a:blipFill>
        </p:spPr>
      </p:sp>
      <p:sp>
        <p:nvSpPr>
          <p:cNvPr name="Freeform 4" id="4"/>
          <p:cNvSpPr/>
          <p:nvPr/>
        </p:nvSpPr>
        <p:spPr>
          <a:xfrm flipH="false" flipV="false" rot="0">
            <a:off x="7390356" y="555842"/>
            <a:ext cx="5650629" cy="2493340"/>
          </a:xfrm>
          <a:custGeom>
            <a:avLst/>
            <a:gdLst/>
            <a:ahLst/>
            <a:cxnLst/>
            <a:rect r="r" b="b" t="t" l="l"/>
            <a:pathLst>
              <a:path h="2493340" w="5650629">
                <a:moveTo>
                  <a:pt x="0" y="0"/>
                </a:moveTo>
                <a:lnTo>
                  <a:pt x="5650630" y="0"/>
                </a:lnTo>
                <a:lnTo>
                  <a:pt x="5650630" y="2493341"/>
                </a:lnTo>
                <a:lnTo>
                  <a:pt x="0" y="2493341"/>
                </a:lnTo>
                <a:lnTo>
                  <a:pt x="0" y="0"/>
                </a:lnTo>
                <a:close/>
              </a:path>
            </a:pathLst>
          </a:custGeom>
          <a:blipFill>
            <a:blip r:embed="rId5"/>
            <a:stretch>
              <a:fillRect l="0" t="0" r="0" b="0"/>
            </a:stretch>
          </a:blipFill>
        </p:spPr>
      </p:sp>
      <p:sp>
        <p:nvSpPr>
          <p:cNvPr name="Freeform 5" id="5"/>
          <p:cNvSpPr/>
          <p:nvPr/>
        </p:nvSpPr>
        <p:spPr>
          <a:xfrm flipH="false" flipV="false" rot="0">
            <a:off x="7390356" y="3049183"/>
            <a:ext cx="5650629" cy="2210809"/>
          </a:xfrm>
          <a:custGeom>
            <a:avLst/>
            <a:gdLst/>
            <a:ahLst/>
            <a:cxnLst/>
            <a:rect r="r" b="b" t="t" l="l"/>
            <a:pathLst>
              <a:path h="2210809" w="5650629">
                <a:moveTo>
                  <a:pt x="0" y="0"/>
                </a:moveTo>
                <a:lnTo>
                  <a:pt x="5650630" y="0"/>
                </a:lnTo>
                <a:lnTo>
                  <a:pt x="5650630" y="2210809"/>
                </a:lnTo>
                <a:lnTo>
                  <a:pt x="0" y="2210809"/>
                </a:lnTo>
                <a:lnTo>
                  <a:pt x="0" y="0"/>
                </a:lnTo>
                <a:close/>
              </a:path>
            </a:pathLst>
          </a:custGeom>
          <a:blipFill>
            <a:blip r:embed="rId6"/>
            <a:stretch>
              <a:fillRect l="0" t="0" r="0" b="0"/>
            </a:stretch>
          </a:blipFill>
        </p:spPr>
      </p:sp>
      <p:sp>
        <p:nvSpPr>
          <p:cNvPr name="Freeform 6" id="6"/>
          <p:cNvSpPr/>
          <p:nvPr/>
        </p:nvSpPr>
        <p:spPr>
          <a:xfrm flipH="false" flipV="false" rot="0">
            <a:off x="7390356" y="5362705"/>
            <a:ext cx="5650629" cy="1871771"/>
          </a:xfrm>
          <a:custGeom>
            <a:avLst/>
            <a:gdLst/>
            <a:ahLst/>
            <a:cxnLst/>
            <a:rect r="r" b="b" t="t" l="l"/>
            <a:pathLst>
              <a:path h="1871771" w="5650629">
                <a:moveTo>
                  <a:pt x="0" y="0"/>
                </a:moveTo>
                <a:lnTo>
                  <a:pt x="5650630" y="0"/>
                </a:lnTo>
                <a:lnTo>
                  <a:pt x="5650630" y="1871771"/>
                </a:lnTo>
                <a:lnTo>
                  <a:pt x="0" y="1871771"/>
                </a:lnTo>
                <a:lnTo>
                  <a:pt x="0" y="0"/>
                </a:lnTo>
                <a:close/>
              </a:path>
            </a:pathLst>
          </a:custGeom>
          <a:blipFill>
            <a:blip r:embed="rId7"/>
            <a:stretch>
              <a:fillRect l="0" t="0" r="0" b="0"/>
            </a:stretch>
          </a:blipFill>
        </p:spPr>
      </p:sp>
      <p:sp>
        <p:nvSpPr>
          <p:cNvPr name="Freeform 7" id="7"/>
          <p:cNvSpPr/>
          <p:nvPr/>
        </p:nvSpPr>
        <p:spPr>
          <a:xfrm flipH="false" flipV="false" rot="0">
            <a:off x="7390356" y="7143837"/>
            <a:ext cx="5650629" cy="3143163"/>
          </a:xfrm>
          <a:custGeom>
            <a:avLst/>
            <a:gdLst/>
            <a:ahLst/>
            <a:cxnLst/>
            <a:rect r="r" b="b" t="t" l="l"/>
            <a:pathLst>
              <a:path h="3143163" w="5650629">
                <a:moveTo>
                  <a:pt x="0" y="0"/>
                </a:moveTo>
                <a:lnTo>
                  <a:pt x="5650630" y="0"/>
                </a:lnTo>
                <a:lnTo>
                  <a:pt x="5650630" y="3143163"/>
                </a:lnTo>
                <a:lnTo>
                  <a:pt x="0" y="3143163"/>
                </a:lnTo>
                <a:lnTo>
                  <a:pt x="0" y="0"/>
                </a:lnTo>
                <a:close/>
              </a:path>
            </a:pathLst>
          </a:custGeom>
          <a:blipFill>
            <a:blip r:embed="rId8"/>
            <a:stretch>
              <a:fillRect l="0" t="0" r="0" b="0"/>
            </a:stretch>
          </a:blipFill>
        </p:spPr>
      </p:sp>
      <p:sp>
        <p:nvSpPr>
          <p:cNvPr name="TextBox 8" id="8"/>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9" id="9"/>
          <p:cNvSpPr txBox="true"/>
          <p:nvPr/>
        </p:nvSpPr>
        <p:spPr>
          <a:xfrm rot="0">
            <a:off x="1836441" y="6327415"/>
            <a:ext cx="2416100"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Customer</a:t>
            </a:r>
          </a:p>
        </p:txBody>
      </p:sp>
      <p:sp>
        <p:nvSpPr>
          <p:cNvPr name="TextBox 10" id="10"/>
          <p:cNvSpPr txBox="true"/>
          <p:nvPr/>
        </p:nvSpPr>
        <p:spPr>
          <a:xfrm rot="0">
            <a:off x="1168947" y="1735838"/>
            <a:ext cx="4307133" cy="1074394"/>
          </a:xfrm>
          <a:prstGeom prst="rect">
            <a:avLst/>
          </a:prstGeom>
        </p:spPr>
        <p:txBody>
          <a:bodyPr anchor="t" rtlCol="false" tIns="0" lIns="0" bIns="0" rIns="0">
            <a:spAutoFit/>
          </a:bodyPr>
          <a:lstStyle/>
          <a:p>
            <a:pPr algn="ctr">
              <a:lnSpc>
                <a:spcPts val="4306"/>
              </a:lnSpc>
              <a:spcBef>
                <a:spcPct val="0"/>
              </a:spcBef>
            </a:pPr>
            <a:r>
              <a:rPr lang="en-US" b="true" sz="3076" spc="307">
                <a:solidFill>
                  <a:srgbClr val="000000"/>
                </a:solidFill>
                <a:latin typeface="Lato Bold"/>
                <a:ea typeface="Lato Bold"/>
                <a:cs typeface="Lato Bold"/>
                <a:sym typeface="Lato Bold"/>
              </a:rPr>
              <a:t>Giao diện trang chủ khách hàng</a:t>
            </a:r>
          </a:p>
        </p:txBody>
      </p:sp>
      <p:sp>
        <p:nvSpPr>
          <p:cNvPr name="TextBox 11" id="11"/>
          <p:cNvSpPr txBox="true"/>
          <p:nvPr/>
        </p:nvSpPr>
        <p:spPr>
          <a:xfrm rot="0">
            <a:off x="-166679" y="325568"/>
            <a:ext cx="6229355" cy="573405"/>
          </a:xfrm>
          <a:prstGeom prst="rect">
            <a:avLst/>
          </a:prstGeom>
        </p:spPr>
        <p:txBody>
          <a:bodyPr anchor="t" rtlCol="false" tIns="0" lIns="0" bIns="0" rIns="0">
            <a:spAutoFit/>
          </a:bodyPr>
          <a:lstStyle/>
          <a:p>
            <a:pPr algn="ctr">
              <a:lnSpc>
                <a:spcPts val="4620"/>
              </a:lnSpc>
              <a:spcBef>
                <a:spcPct val="0"/>
              </a:spcBef>
            </a:pPr>
            <a:r>
              <a:rPr lang="en-US" b="true" sz="3300" spc="330">
                <a:solidFill>
                  <a:srgbClr val="000000"/>
                </a:solidFill>
                <a:latin typeface="Roboto Bold"/>
                <a:ea typeface="Roboto Bold"/>
                <a:cs typeface="Roboto Bold"/>
                <a:sym typeface="Roboto Bold"/>
              </a:rPr>
              <a:t>3.Tính năng Sản phẩm </a:t>
            </a:r>
          </a:p>
        </p:txBody>
      </p:sp>
      <p:sp>
        <p:nvSpPr>
          <p:cNvPr name="Freeform 12" id="12"/>
          <p:cNvSpPr/>
          <p:nvPr/>
        </p:nvSpPr>
        <p:spPr>
          <a:xfrm flipH="false" flipV="false" rot="0">
            <a:off x="15524241" y="-158306"/>
            <a:ext cx="2696458" cy="3084438"/>
          </a:xfrm>
          <a:custGeom>
            <a:avLst/>
            <a:gdLst/>
            <a:ahLst/>
            <a:cxnLst/>
            <a:rect r="r" b="b" t="t" l="l"/>
            <a:pathLst>
              <a:path h="3084438" w="2696458">
                <a:moveTo>
                  <a:pt x="0" y="0"/>
                </a:moveTo>
                <a:lnTo>
                  <a:pt x="2696458" y="0"/>
                </a:lnTo>
                <a:lnTo>
                  <a:pt x="2696458" y="3084438"/>
                </a:lnTo>
                <a:lnTo>
                  <a:pt x="0" y="3084438"/>
                </a:lnTo>
                <a:lnTo>
                  <a:pt x="0" y="0"/>
                </a:lnTo>
                <a:close/>
              </a:path>
            </a:pathLst>
          </a:custGeom>
          <a:blipFill>
            <a:blip r:embed="rId9"/>
            <a:stretch>
              <a:fillRect l="0" t="0" r="0" b="0"/>
            </a:stretch>
          </a:blipFill>
        </p:spPr>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3803782" y="1978796"/>
            <a:ext cx="6311745" cy="5554335"/>
          </a:xfrm>
          <a:custGeom>
            <a:avLst/>
            <a:gdLst/>
            <a:ahLst/>
            <a:cxnLst/>
            <a:rect r="r" b="b" t="t" l="l"/>
            <a:pathLst>
              <a:path h="5554335" w="6311745">
                <a:moveTo>
                  <a:pt x="0" y="0"/>
                </a:moveTo>
                <a:lnTo>
                  <a:pt x="6311744" y="0"/>
                </a:lnTo>
                <a:lnTo>
                  <a:pt x="6311744"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455747" y="2642426"/>
            <a:ext cx="11413455" cy="5635393"/>
          </a:xfrm>
          <a:custGeom>
            <a:avLst/>
            <a:gdLst/>
            <a:ahLst/>
            <a:cxnLst/>
            <a:rect r="r" b="b" t="t" l="l"/>
            <a:pathLst>
              <a:path h="5635393" w="11413455">
                <a:moveTo>
                  <a:pt x="0" y="0"/>
                </a:moveTo>
                <a:lnTo>
                  <a:pt x="11413455" y="0"/>
                </a:lnTo>
                <a:lnTo>
                  <a:pt x="11413455" y="5635393"/>
                </a:lnTo>
                <a:lnTo>
                  <a:pt x="0" y="5635393"/>
                </a:lnTo>
                <a:lnTo>
                  <a:pt x="0" y="0"/>
                </a:lnTo>
                <a:close/>
              </a:path>
            </a:pathLst>
          </a:custGeom>
          <a:blipFill>
            <a:blip r:embed="rId4"/>
            <a:stretch>
              <a:fillRect l="0" t="0" r="0" b="0"/>
            </a:stretch>
          </a:blipFill>
        </p:spPr>
      </p:sp>
      <p:sp>
        <p:nvSpPr>
          <p:cNvPr name="TextBox 4" id="4"/>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5" id="5"/>
          <p:cNvSpPr txBox="true"/>
          <p:nvPr/>
        </p:nvSpPr>
        <p:spPr>
          <a:xfrm rot="0">
            <a:off x="7431961" y="8751803"/>
            <a:ext cx="5935516" cy="506497"/>
          </a:xfrm>
          <a:prstGeom prst="rect">
            <a:avLst/>
          </a:prstGeom>
        </p:spPr>
        <p:txBody>
          <a:bodyPr anchor="t" rtlCol="false" tIns="0" lIns="0" bIns="0" rIns="0">
            <a:spAutoFit/>
          </a:bodyPr>
          <a:lstStyle/>
          <a:p>
            <a:pPr algn="ctr">
              <a:lnSpc>
                <a:spcPts val="4166"/>
              </a:lnSpc>
              <a:spcBef>
                <a:spcPct val="0"/>
              </a:spcBef>
            </a:pPr>
            <a:r>
              <a:rPr lang="en-US" b="true" sz="2976" spc="297">
                <a:solidFill>
                  <a:srgbClr val="000000"/>
                </a:solidFill>
                <a:latin typeface="Lato Bold"/>
                <a:ea typeface="Lato Bold"/>
                <a:cs typeface="Lato Bold"/>
                <a:sym typeface="Lato Bold"/>
              </a:rPr>
              <a:t>Giao diện thông tin salon</a:t>
            </a:r>
          </a:p>
        </p:txBody>
      </p:sp>
      <p:sp>
        <p:nvSpPr>
          <p:cNvPr name="TextBox 6" id="6"/>
          <p:cNvSpPr txBox="true"/>
          <p:nvPr/>
        </p:nvSpPr>
        <p:spPr>
          <a:xfrm rot="0">
            <a:off x="-166679" y="325568"/>
            <a:ext cx="6229355" cy="573405"/>
          </a:xfrm>
          <a:prstGeom prst="rect">
            <a:avLst/>
          </a:prstGeom>
        </p:spPr>
        <p:txBody>
          <a:bodyPr anchor="t" rtlCol="false" tIns="0" lIns="0" bIns="0" rIns="0">
            <a:spAutoFit/>
          </a:bodyPr>
          <a:lstStyle/>
          <a:p>
            <a:pPr algn="ctr">
              <a:lnSpc>
                <a:spcPts val="4620"/>
              </a:lnSpc>
              <a:spcBef>
                <a:spcPct val="0"/>
              </a:spcBef>
            </a:pPr>
            <a:r>
              <a:rPr lang="en-US" b="true" sz="3300" spc="330">
                <a:solidFill>
                  <a:srgbClr val="000000"/>
                </a:solidFill>
                <a:latin typeface="Roboto Bold"/>
                <a:ea typeface="Roboto Bold"/>
                <a:cs typeface="Roboto Bold"/>
                <a:sym typeface="Roboto Bold"/>
              </a:rPr>
              <a:t>3.Tính năng Sản phẩm </a:t>
            </a:r>
          </a:p>
        </p:txBody>
      </p:sp>
      <p:sp>
        <p:nvSpPr>
          <p:cNvPr name="Freeform 7" id="7"/>
          <p:cNvSpPr/>
          <p:nvPr/>
        </p:nvSpPr>
        <p:spPr>
          <a:xfrm flipH="false" flipV="false" rot="7136214">
            <a:off x="-1455152" y="7509832"/>
            <a:ext cx="6311745" cy="5554335"/>
          </a:xfrm>
          <a:custGeom>
            <a:avLst/>
            <a:gdLst/>
            <a:ahLst/>
            <a:cxnLst/>
            <a:rect r="r" b="b" t="t" l="l"/>
            <a:pathLst>
              <a:path h="5554335" w="6311745">
                <a:moveTo>
                  <a:pt x="0" y="0"/>
                </a:moveTo>
                <a:lnTo>
                  <a:pt x="6311744" y="0"/>
                </a:lnTo>
                <a:lnTo>
                  <a:pt x="6311744"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5524241" y="-158306"/>
            <a:ext cx="2696458" cy="3084438"/>
          </a:xfrm>
          <a:custGeom>
            <a:avLst/>
            <a:gdLst/>
            <a:ahLst/>
            <a:cxnLst/>
            <a:rect r="r" b="b" t="t" l="l"/>
            <a:pathLst>
              <a:path h="3084438" w="2696458">
                <a:moveTo>
                  <a:pt x="0" y="0"/>
                </a:moveTo>
                <a:lnTo>
                  <a:pt x="2696458" y="0"/>
                </a:lnTo>
                <a:lnTo>
                  <a:pt x="2696458" y="3084438"/>
                </a:lnTo>
                <a:lnTo>
                  <a:pt x="0" y="3084438"/>
                </a:lnTo>
                <a:lnTo>
                  <a:pt x="0" y="0"/>
                </a:lnTo>
                <a:close/>
              </a:path>
            </a:pathLst>
          </a:custGeom>
          <a:blipFill>
            <a:blip r:embed="rId5"/>
            <a:stretch>
              <a:fillRect l="0" t="0" r="0" b="0"/>
            </a:stretch>
          </a:blipFill>
        </p:spPr>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5376697" y="-1394940"/>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620713" y="3102210"/>
            <a:ext cx="11301259" cy="4082580"/>
          </a:xfrm>
          <a:custGeom>
            <a:avLst/>
            <a:gdLst/>
            <a:ahLst/>
            <a:cxnLst/>
            <a:rect r="r" b="b" t="t" l="l"/>
            <a:pathLst>
              <a:path h="4082580" w="11301259">
                <a:moveTo>
                  <a:pt x="0" y="0"/>
                </a:moveTo>
                <a:lnTo>
                  <a:pt x="11301259" y="0"/>
                </a:lnTo>
                <a:lnTo>
                  <a:pt x="11301259" y="4082580"/>
                </a:lnTo>
                <a:lnTo>
                  <a:pt x="0" y="4082580"/>
                </a:lnTo>
                <a:lnTo>
                  <a:pt x="0" y="0"/>
                </a:lnTo>
                <a:close/>
              </a:path>
            </a:pathLst>
          </a:custGeom>
          <a:blipFill>
            <a:blip r:embed="rId4"/>
            <a:stretch>
              <a:fillRect l="0" t="0" r="0" b="0"/>
            </a:stretch>
          </a:blipFill>
        </p:spPr>
      </p:sp>
      <p:sp>
        <p:nvSpPr>
          <p:cNvPr name="TextBox 4" id="4"/>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5" id="5"/>
          <p:cNvSpPr txBox="true"/>
          <p:nvPr/>
        </p:nvSpPr>
        <p:spPr>
          <a:xfrm rot="0">
            <a:off x="543911" y="1718768"/>
            <a:ext cx="4495023" cy="506497"/>
          </a:xfrm>
          <a:prstGeom prst="rect">
            <a:avLst/>
          </a:prstGeom>
        </p:spPr>
        <p:txBody>
          <a:bodyPr anchor="t" rtlCol="false" tIns="0" lIns="0" bIns="0" rIns="0">
            <a:spAutoFit/>
          </a:bodyPr>
          <a:lstStyle/>
          <a:p>
            <a:pPr algn="ctr">
              <a:lnSpc>
                <a:spcPts val="4166"/>
              </a:lnSpc>
              <a:spcBef>
                <a:spcPct val="0"/>
              </a:spcBef>
            </a:pPr>
            <a:r>
              <a:rPr lang="en-US" b="true" sz="2976" spc="297">
                <a:solidFill>
                  <a:srgbClr val="000000"/>
                </a:solidFill>
                <a:latin typeface="Lato Bold"/>
                <a:ea typeface="Lato Bold"/>
                <a:cs typeface="Lato Bold"/>
                <a:sym typeface="Lato Bold"/>
              </a:rPr>
              <a:t>Chức năng liên hệ </a:t>
            </a:r>
          </a:p>
        </p:txBody>
      </p:sp>
      <p:sp>
        <p:nvSpPr>
          <p:cNvPr name="TextBox 6" id="6"/>
          <p:cNvSpPr txBox="true"/>
          <p:nvPr/>
        </p:nvSpPr>
        <p:spPr>
          <a:xfrm rot="0">
            <a:off x="-166679" y="325568"/>
            <a:ext cx="6229355" cy="573405"/>
          </a:xfrm>
          <a:prstGeom prst="rect">
            <a:avLst/>
          </a:prstGeom>
        </p:spPr>
        <p:txBody>
          <a:bodyPr anchor="t" rtlCol="false" tIns="0" lIns="0" bIns="0" rIns="0">
            <a:spAutoFit/>
          </a:bodyPr>
          <a:lstStyle/>
          <a:p>
            <a:pPr algn="ctr">
              <a:lnSpc>
                <a:spcPts val="4620"/>
              </a:lnSpc>
              <a:spcBef>
                <a:spcPct val="0"/>
              </a:spcBef>
            </a:pPr>
            <a:r>
              <a:rPr lang="en-US" b="true" sz="3300" spc="330">
                <a:solidFill>
                  <a:srgbClr val="000000"/>
                </a:solidFill>
                <a:latin typeface="Roboto Bold"/>
                <a:ea typeface="Roboto Bold"/>
                <a:cs typeface="Roboto Bold"/>
                <a:sym typeface="Roboto Bold"/>
              </a:rPr>
              <a:t>3.Tính năng Sản phẩm </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5376697" y="-1394940"/>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136214">
            <a:off x="15376697" y="6290684"/>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067957" y="4676964"/>
            <a:ext cx="2157884" cy="2157884"/>
          </a:xfrm>
          <a:custGeom>
            <a:avLst/>
            <a:gdLst/>
            <a:ahLst/>
            <a:cxnLst/>
            <a:rect r="r" b="b" t="t" l="l"/>
            <a:pathLst>
              <a:path h="2157884" w="2157884">
                <a:moveTo>
                  <a:pt x="0" y="0"/>
                </a:moveTo>
                <a:lnTo>
                  <a:pt x="2157885" y="0"/>
                </a:lnTo>
                <a:lnTo>
                  <a:pt x="2157885" y="2157885"/>
                </a:lnTo>
                <a:lnTo>
                  <a:pt x="0" y="2157885"/>
                </a:lnTo>
                <a:lnTo>
                  <a:pt x="0" y="0"/>
                </a:lnTo>
                <a:close/>
              </a:path>
            </a:pathLst>
          </a:custGeom>
          <a:blipFill>
            <a:blip r:embed="rId4"/>
            <a:stretch>
              <a:fillRect l="0" t="0" r="0" b="0"/>
            </a:stretch>
          </a:blipFill>
        </p:spPr>
      </p:sp>
      <p:grpSp>
        <p:nvGrpSpPr>
          <p:cNvPr name="Group 5" id="5"/>
          <p:cNvGrpSpPr/>
          <p:nvPr/>
        </p:nvGrpSpPr>
        <p:grpSpPr>
          <a:xfrm rot="0">
            <a:off x="8248084" y="7773935"/>
            <a:ext cx="4599253" cy="1101104"/>
            <a:chOff x="0" y="0"/>
            <a:chExt cx="1211326" cy="290003"/>
          </a:xfrm>
        </p:grpSpPr>
        <p:sp>
          <p:nvSpPr>
            <p:cNvPr name="Freeform 6" id="6"/>
            <p:cNvSpPr/>
            <p:nvPr/>
          </p:nvSpPr>
          <p:spPr>
            <a:xfrm flipH="false" flipV="false" rot="0">
              <a:off x="0" y="0"/>
              <a:ext cx="1211326" cy="290003"/>
            </a:xfrm>
            <a:custGeom>
              <a:avLst/>
              <a:gdLst/>
              <a:ahLst/>
              <a:cxnLst/>
              <a:rect r="r" b="b" t="t" l="l"/>
              <a:pathLst>
                <a:path h="290003" w="1211326">
                  <a:moveTo>
                    <a:pt x="85848" y="0"/>
                  </a:moveTo>
                  <a:lnTo>
                    <a:pt x="1125478" y="0"/>
                  </a:lnTo>
                  <a:cubicBezTo>
                    <a:pt x="1172890" y="0"/>
                    <a:pt x="1211326" y="38436"/>
                    <a:pt x="1211326" y="85848"/>
                  </a:cubicBezTo>
                  <a:lnTo>
                    <a:pt x="1211326" y="204154"/>
                  </a:lnTo>
                  <a:cubicBezTo>
                    <a:pt x="1211326" y="251567"/>
                    <a:pt x="1172890" y="290003"/>
                    <a:pt x="1125478" y="290003"/>
                  </a:cubicBezTo>
                  <a:lnTo>
                    <a:pt x="85848" y="290003"/>
                  </a:lnTo>
                  <a:cubicBezTo>
                    <a:pt x="38436" y="290003"/>
                    <a:pt x="0" y="251567"/>
                    <a:pt x="0" y="204154"/>
                  </a:cubicBezTo>
                  <a:lnTo>
                    <a:pt x="0" y="85848"/>
                  </a:lnTo>
                  <a:cubicBezTo>
                    <a:pt x="0" y="38436"/>
                    <a:pt x="38436" y="0"/>
                    <a:pt x="85848" y="0"/>
                  </a:cubicBezTo>
                  <a:close/>
                </a:path>
              </a:pathLst>
            </a:custGeom>
            <a:solidFill>
              <a:srgbClr val="DDEFF2"/>
            </a:solidFill>
          </p:spPr>
        </p:sp>
        <p:sp>
          <p:nvSpPr>
            <p:cNvPr name="TextBox 7" id="7"/>
            <p:cNvSpPr txBox="true"/>
            <p:nvPr/>
          </p:nvSpPr>
          <p:spPr>
            <a:xfrm>
              <a:off x="0" y="-47625"/>
              <a:ext cx="1211326" cy="337628"/>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Tạo tài khoản, đăng nhập</a:t>
              </a:r>
            </a:p>
          </p:txBody>
        </p:sp>
      </p:grpSp>
      <p:grpSp>
        <p:nvGrpSpPr>
          <p:cNvPr name="Group 8" id="8"/>
          <p:cNvGrpSpPr/>
          <p:nvPr/>
        </p:nvGrpSpPr>
        <p:grpSpPr>
          <a:xfrm rot="0">
            <a:off x="0" y="203353"/>
            <a:ext cx="5291564" cy="1178869"/>
            <a:chOff x="0" y="0"/>
            <a:chExt cx="1151333" cy="256497"/>
          </a:xfrm>
        </p:grpSpPr>
        <p:sp>
          <p:nvSpPr>
            <p:cNvPr name="Freeform 9" id="9"/>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0" id="10"/>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1" id="11"/>
          <p:cNvGrpSpPr/>
          <p:nvPr/>
        </p:nvGrpSpPr>
        <p:grpSpPr>
          <a:xfrm rot="0">
            <a:off x="121391" y="1754254"/>
            <a:ext cx="5170173" cy="980237"/>
            <a:chOff x="0" y="0"/>
            <a:chExt cx="1468713" cy="278460"/>
          </a:xfrm>
        </p:grpSpPr>
        <p:sp>
          <p:nvSpPr>
            <p:cNvPr name="Freeform 12" id="12"/>
            <p:cNvSpPr/>
            <p:nvPr/>
          </p:nvSpPr>
          <p:spPr>
            <a:xfrm flipH="false" flipV="false" rot="0">
              <a:off x="0" y="0"/>
              <a:ext cx="1468713" cy="278460"/>
            </a:xfrm>
            <a:custGeom>
              <a:avLst/>
              <a:gdLst/>
              <a:ahLst/>
              <a:cxnLst/>
              <a:rect r="r" b="b" t="t" l="l"/>
              <a:pathLst>
                <a:path h="278460" w="1468713">
                  <a:moveTo>
                    <a:pt x="0" y="0"/>
                  </a:moveTo>
                  <a:lnTo>
                    <a:pt x="1265513" y="0"/>
                  </a:lnTo>
                  <a:lnTo>
                    <a:pt x="1468713" y="139230"/>
                  </a:lnTo>
                  <a:lnTo>
                    <a:pt x="1265513" y="278460"/>
                  </a:lnTo>
                  <a:lnTo>
                    <a:pt x="0" y="278460"/>
                  </a:lnTo>
                  <a:lnTo>
                    <a:pt x="203200" y="139230"/>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3" id="13"/>
            <p:cNvSpPr txBox="true"/>
            <p:nvPr/>
          </p:nvSpPr>
          <p:spPr>
            <a:xfrm>
              <a:off x="177800" y="-47625"/>
              <a:ext cx="1214713" cy="326085"/>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1.Đăng ký đăng nhập và quản lý thông tin </a:t>
              </a:r>
            </a:p>
          </p:txBody>
        </p:sp>
      </p:grpSp>
      <p:sp>
        <p:nvSpPr>
          <p:cNvPr name="Freeform 14" id="14"/>
          <p:cNvSpPr/>
          <p:nvPr/>
        </p:nvSpPr>
        <p:spPr>
          <a:xfrm flipH="false" flipV="false" rot="0">
            <a:off x="5825778" y="1631068"/>
            <a:ext cx="9443863" cy="5713537"/>
          </a:xfrm>
          <a:custGeom>
            <a:avLst/>
            <a:gdLst/>
            <a:ahLst/>
            <a:cxnLst/>
            <a:rect r="r" b="b" t="t" l="l"/>
            <a:pathLst>
              <a:path h="5713537" w="9443863">
                <a:moveTo>
                  <a:pt x="0" y="0"/>
                </a:moveTo>
                <a:lnTo>
                  <a:pt x="9443864" y="0"/>
                </a:lnTo>
                <a:lnTo>
                  <a:pt x="9443864" y="5713537"/>
                </a:lnTo>
                <a:lnTo>
                  <a:pt x="0" y="5713537"/>
                </a:lnTo>
                <a:lnTo>
                  <a:pt x="0" y="0"/>
                </a:lnTo>
                <a:close/>
              </a:path>
            </a:pathLst>
          </a:custGeom>
          <a:blipFill>
            <a:blip r:embed="rId5"/>
            <a:stretch>
              <a:fillRect l="0" t="0" r="0" b="0"/>
            </a:stretch>
          </a:blipFill>
        </p:spPr>
      </p:sp>
      <p:sp>
        <p:nvSpPr>
          <p:cNvPr name="TextBox 15" id="15"/>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16" id="16"/>
          <p:cNvSpPr txBox="true"/>
          <p:nvPr/>
        </p:nvSpPr>
        <p:spPr>
          <a:xfrm rot="0">
            <a:off x="1067957" y="7117910"/>
            <a:ext cx="2416100"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Customer</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95756" y="1744075"/>
            <a:ext cx="14313366" cy="6798849"/>
          </a:xfrm>
          <a:custGeom>
            <a:avLst/>
            <a:gdLst/>
            <a:ahLst/>
            <a:cxnLst/>
            <a:rect r="r" b="b" t="t" l="l"/>
            <a:pathLst>
              <a:path h="6798849" w="14313366">
                <a:moveTo>
                  <a:pt x="0" y="0"/>
                </a:moveTo>
                <a:lnTo>
                  <a:pt x="14313366" y="0"/>
                </a:lnTo>
                <a:lnTo>
                  <a:pt x="14313366" y="6798850"/>
                </a:lnTo>
                <a:lnTo>
                  <a:pt x="0" y="6798850"/>
                </a:lnTo>
                <a:lnTo>
                  <a:pt x="0" y="0"/>
                </a:lnTo>
                <a:close/>
              </a:path>
            </a:pathLst>
          </a:custGeom>
          <a:blipFill>
            <a:blip r:embed="rId2"/>
            <a:stretch>
              <a:fillRect l="0" t="0" r="0"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05377" y="586054"/>
            <a:ext cx="3245192" cy="3028188"/>
          </a:xfrm>
          <a:custGeom>
            <a:avLst/>
            <a:gdLst/>
            <a:ahLst/>
            <a:cxnLst/>
            <a:rect r="r" b="b" t="t" l="l"/>
            <a:pathLst>
              <a:path h="3028188" w="3245192">
                <a:moveTo>
                  <a:pt x="0" y="0"/>
                </a:moveTo>
                <a:lnTo>
                  <a:pt x="3245193" y="0"/>
                </a:lnTo>
                <a:lnTo>
                  <a:pt x="3245193" y="3028189"/>
                </a:lnTo>
                <a:lnTo>
                  <a:pt x="0" y="3028189"/>
                </a:lnTo>
                <a:lnTo>
                  <a:pt x="0" y="0"/>
                </a:lnTo>
                <a:close/>
              </a:path>
            </a:pathLst>
          </a:custGeom>
          <a:blipFill>
            <a:blip r:embed="rId2"/>
            <a:stretch>
              <a:fillRect l="0" t="0" r="0" b="0"/>
            </a:stretch>
          </a:blipFill>
        </p:spPr>
      </p:sp>
      <p:sp>
        <p:nvSpPr>
          <p:cNvPr name="Freeform 3" id="3"/>
          <p:cNvSpPr/>
          <p:nvPr/>
        </p:nvSpPr>
        <p:spPr>
          <a:xfrm flipH="false" flipV="false" rot="0">
            <a:off x="4895307" y="3130909"/>
            <a:ext cx="7240640" cy="6127391"/>
          </a:xfrm>
          <a:custGeom>
            <a:avLst/>
            <a:gdLst/>
            <a:ahLst/>
            <a:cxnLst/>
            <a:rect r="r" b="b" t="t" l="l"/>
            <a:pathLst>
              <a:path h="6127391" w="7240640">
                <a:moveTo>
                  <a:pt x="0" y="0"/>
                </a:moveTo>
                <a:lnTo>
                  <a:pt x="7240640" y="0"/>
                </a:lnTo>
                <a:lnTo>
                  <a:pt x="7240640" y="6127391"/>
                </a:lnTo>
                <a:lnTo>
                  <a:pt x="0" y="6127391"/>
                </a:lnTo>
                <a:lnTo>
                  <a:pt x="0" y="0"/>
                </a:lnTo>
                <a:close/>
              </a:path>
            </a:pathLst>
          </a:custGeom>
          <a:blipFill>
            <a:blip r:embed="rId3"/>
            <a:stretch>
              <a:fillRect l="0" t="0" r="0" b="0"/>
            </a:stretch>
          </a:blipFill>
        </p:spPr>
      </p:sp>
      <p:sp>
        <p:nvSpPr>
          <p:cNvPr name="Freeform 4" id="4"/>
          <p:cNvSpPr/>
          <p:nvPr/>
        </p:nvSpPr>
        <p:spPr>
          <a:xfrm flipH="false" flipV="false" rot="7136214">
            <a:off x="15376697" y="-1394940"/>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7136214">
            <a:off x="15580245" y="7167506"/>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6" id="6"/>
          <p:cNvSpPr txBox="true"/>
          <p:nvPr/>
        </p:nvSpPr>
        <p:spPr>
          <a:xfrm rot="0">
            <a:off x="627337" y="1083460"/>
            <a:ext cx="5478066" cy="530861"/>
          </a:xfrm>
          <a:prstGeom prst="rect">
            <a:avLst/>
          </a:prstGeom>
        </p:spPr>
        <p:txBody>
          <a:bodyPr anchor="t" rtlCol="false" tIns="0" lIns="0" bIns="0" rIns="0">
            <a:spAutoFit/>
          </a:bodyPr>
          <a:lstStyle/>
          <a:p>
            <a:pPr algn="ctr">
              <a:lnSpc>
                <a:spcPts val="4339"/>
              </a:lnSpc>
              <a:spcBef>
                <a:spcPct val="0"/>
              </a:spcBef>
            </a:pPr>
            <a:r>
              <a:rPr lang="en-US" b="true" sz="3099" spc="309">
                <a:solidFill>
                  <a:srgbClr val="000000"/>
                </a:solidFill>
                <a:latin typeface="Lato Bold"/>
                <a:ea typeface="Lato Bold"/>
                <a:cs typeface="Lato Bold"/>
                <a:sym typeface="Lato Bold"/>
              </a:rPr>
              <a:t>Quản lý thông tin cá nhân</a:t>
            </a:r>
          </a:p>
        </p:txBody>
      </p:sp>
      <p:sp>
        <p:nvSpPr>
          <p:cNvPr name="TextBox 7" id="7"/>
          <p:cNvSpPr txBox="true"/>
          <p:nvPr/>
        </p:nvSpPr>
        <p:spPr>
          <a:xfrm rot="0">
            <a:off x="5776594" y="9210675"/>
            <a:ext cx="5478066" cy="422275"/>
          </a:xfrm>
          <a:prstGeom prst="rect">
            <a:avLst/>
          </a:prstGeom>
        </p:spPr>
        <p:txBody>
          <a:bodyPr anchor="t" rtlCol="false" tIns="0" lIns="0" bIns="0" rIns="0">
            <a:spAutoFit/>
          </a:bodyPr>
          <a:lstStyle/>
          <a:p>
            <a:pPr algn="ctr">
              <a:lnSpc>
                <a:spcPts val="3499"/>
              </a:lnSpc>
              <a:spcBef>
                <a:spcPct val="0"/>
              </a:spcBef>
            </a:pPr>
            <a:r>
              <a:rPr lang="en-US" sz="2499" spc="249">
                <a:solidFill>
                  <a:srgbClr val="000000"/>
                </a:solidFill>
                <a:latin typeface="Lato"/>
                <a:ea typeface="Lato"/>
                <a:cs typeface="Lato"/>
                <a:sym typeface="Lato"/>
              </a:rPr>
              <a:t>Giao diện thông tin cá nhân</a:t>
            </a:r>
          </a:p>
        </p:txBody>
      </p:sp>
      <p:sp>
        <p:nvSpPr>
          <p:cNvPr name="Freeform 8" id="8"/>
          <p:cNvSpPr/>
          <p:nvPr/>
        </p:nvSpPr>
        <p:spPr>
          <a:xfrm flipH="false" flipV="false" rot="0">
            <a:off x="14233376" y="1750809"/>
            <a:ext cx="683581" cy="698678"/>
          </a:xfrm>
          <a:custGeom>
            <a:avLst/>
            <a:gdLst/>
            <a:ahLst/>
            <a:cxnLst/>
            <a:rect r="r" b="b" t="t" l="l"/>
            <a:pathLst>
              <a:path h="698678" w="683581">
                <a:moveTo>
                  <a:pt x="0" y="0"/>
                </a:moveTo>
                <a:lnTo>
                  <a:pt x="683580" y="0"/>
                </a:lnTo>
                <a:lnTo>
                  <a:pt x="683580" y="698679"/>
                </a:lnTo>
                <a:lnTo>
                  <a:pt x="0" y="698679"/>
                </a:lnTo>
                <a:lnTo>
                  <a:pt x="0" y="0"/>
                </a:lnTo>
                <a:close/>
              </a:path>
            </a:pathLst>
          </a:custGeom>
          <a:blipFill>
            <a:blip r:embed="rId6"/>
            <a:stretch>
              <a:fillRect l="-9203" t="-3421" r="0" b="-3421"/>
            </a:stretch>
          </a:blipFill>
        </p:spPr>
      </p:sp>
      <p:sp>
        <p:nvSpPr>
          <p:cNvPr name="AutoShape 9" id="9"/>
          <p:cNvSpPr/>
          <p:nvPr/>
        </p:nvSpPr>
        <p:spPr>
          <a:xfrm flipH="true">
            <a:off x="8515627" y="2100149"/>
            <a:ext cx="4235532" cy="1030760"/>
          </a:xfrm>
          <a:prstGeom prst="line">
            <a:avLst/>
          </a:prstGeom>
          <a:ln cap="flat" w="85725">
            <a:gradFill>
              <a:gsLst>
                <a:gs pos="0">
                  <a:srgbClr val="004AAD">
                    <a:alpha val="53000"/>
                  </a:srgbClr>
                </a:gs>
                <a:gs pos="100000">
                  <a:srgbClr val="CB6CE6">
                    <a:alpha val="53000"/>
                  </a:srgbClr>
                </a:gs>
              </a:gsLst>
              <a:lin ang="0"/>
            </a:gradFill>
            <a:prstDash val="solid"/>
            <a:headEnd type="none" len="sm" w="sm"/>
            <a:tailEnd type="triangle" len="med" w="lg"/>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467741" y="4780887"/>
            <a:ext cx="2157884" cy="2157884"/>
          </a:xfrm>
          <a:custGeom>
            <a:avLst/>
            <a:gdLst/>
            <a:ahLst/>
            <a:cxnLst/>
            <a:rect r="r" b="b" t="t" l="l"/>
            <a:pathLst>
              <a:path h="2157884" w="2157884">
                <a:moveTo>
                  <a:pt x="0" y="0"/>
                </a:moveTo>
                <a:lnTo>
                  <a:pt x="2157884" y="0"/>
                </a:lnTo>
                <a:lnTo>
                  <a:pt x="2157884" y="2157885"/>
                </a:lnTo>
                <a:lnTo>
                  <a:pt x="0" y="2157885"/>
                </a:lnTo>
                <a:lnTo>
                  <a:pt x="0" y="0"/>
                </a:lnTo>
                <a:close/>
              </a:path>
            </a:pathLst>
          </a:custGeom>
          <a:blipFill>
            <a:blip r:embed="rId2"/>
            <a:stretch>
              <a:fillRect l="0" t="0" r="0" b="0"/>
            </a:stretch>
          </a:blipFill>
        </p:spPr>
      </p:sp>
      <p:sp>
        <p:nvSpPr>
          <p:cNvPr name="Freeform 3" id="3"/>
          <p:cNvSpPr/>
          <p:nvPr/>
        </p:nvSpPr>
        <p:spPr>
          <a:xfrm flipH="false" flipV="false" rot="7136214">
            <a:off x="15679661" y="6993010"/>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7136214">
            <a:off x="16065251" y="-222498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7136214">
            <a:off x="18060831" y="7327938"/>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6" id="6"/>
          <p:cNvSpPr/>
          <p:nvPr/>
        </p:nvSpPr>
        <p:spPr>
          <a:xfrm flipH="false" flipV="false" rot="0">
            <a:off x="3500311" y="8902315"/>
            <a:ext cx="1355074" cy="1385003"/>
          </a:xfrm>
          <a:custGeom>
            <a:avLst/>
            <a:gdLst/>
            <a:ahLst/>
            <a:cxnLst/>
            <a:rect r="r" b="b" t="t" l="l"/>
            <a:pathLst>
              <a:path h="1385003" w="1355074">
                <a:moveTo>
                  <a:pt x="0" y="0"/>
                </a:moveTo>
                <a:lnTo>
                  <a:pt x="1355075" y="0"/>
                </a:lnTo>
                <a:lnTo>
                  <a:pt x="1355075" y="1385003"/>
                </a:lnTo>
                <a:lnTo>
                  <a:pt x="0" y="1385003"/>
                </a:lnTo>
                <a:lnTo>
                  <a:pt x="0" y="0"/>
                </a:lnTo>
                <a:close/>
              </a:path>
            </a:pathLst>
          </a:custGeom>
          <a:blipFill>
            <a:blip r:embed="rId5"/>
            <a:stretch>
              <a:fillRect l="-9203" t="-3421" r="0" b="-3421"/>
            </a:stretch>
          </a:blipFill>
        </p:spPr>
      </p:sp>
      <p:sp>
        <p:nvSpPr>
          <p:cNvPr name="Freeform 7" id="7"/>
          <p:cNvSpPr/>
          <p:nvPr/>
        </p:nvSpPr>
        <p:spPr>
          <a:xfrm flipH="false" flipV="false" rot="0">
            <a:off x="467741" y="7846445"/>
            <a:ext cx="3023539" cy="1585376"/>
          </a:xfrm>
          <a:custGeom>
            <a:avLst/>
            <a:gdLst/>
            <a:ahLst/>
            <a:cxnLst/>
            <a:rect r="r" b="b" t="t" l="l"/>
            <a:pathLst>
              <a:path h="1585376" w="3023539">
                <a:moveTo>
                  <a:pt x="0" y="0"/>
                </a:moveTo>
                <a:lnTo>
                  <a:pt x="3023538" y="0"/>
                </a:lnTo>
                <a:lnTo>
                  <a:pt x="3023538" y="1585376"/>
                </a:lnTo>
                <a:lnTo>
                  <a:pt x="0" y="1585376"/>
                </a:lnTo>
                <a:lnTo>
                  <a:pt x="0" y="0"/>
                </a:lnTo>
                <a:close/>
              </a:path>
            </a:pathLst>
          </a:custGeom>
          <a:blipFill>
            <a:blip r:embed="rId6"/>
            <a:stretch>
              <a:fillRect l="0" t="0" r="0" b="0"/>
            </a:stretch>
          </a:blipFill>
        </p:spPr>
      </p:sp>
      <p:sp>
        <p:nvSpPr>
          <p:cNvPr name="Freeform 8" id="8"/>
          <p:cNvSpPr/>
          <p:nvPr/>
        </p:nvSpPr>
        <p:spPr>
          <a:xfrm flipH="false" flipV="false" rot="0">
            <a:off x="3491279" y="7682606"/>
            <a:ext cx="1097322" cy="686325"/>
          </a:xfrm>
          <a:custGeom>
            <a:avLst/>
            <a:gdLst/>
            <a:ahLst/>
            <a:cxnLst/>
            <a:rect r="r" b="b" t="t" l="l"/>
            <a:pathLst>
              <a:path h="686325" w="1097322">
                <a:moveTo>
                  <a:pt x="0" y="0"/>
                </a:moveTo>
                <a:lnTo>
                  <a:pt x="1097322" y="0"/>
                </a:lnTo>
                <a:lnTo>
                  <a:pt x="1097322" y="686325"/>
                </a:lnTo>
                <a:lnTo>
                  <a:pt x="0" y="6863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2638584" y="393188"/>
            <a:ext cx="2498582" cy="1019536"/>
          </a:xfrm>
          <a:custGeom>
            <a:avLst/>
            <a:gdLst/>
            <a:ahLst/>
            <a:cxnLst/>
            <a:rect r="r" b="b" t="t" l="l"/>
            <a:pathLst>
              <a:path h="1019536" w="2498582">
                <a:moveTo>
                  <a:pt x="0" y="0"/>
                </a:moveTo>
                <a:lnTo>
                  <a:pt x="2498582" y="0"/>
                </a:lnTo>
                <a:lnTo>
                  <a:pt x="2498582" y="1019536"/>
                </a:lnTo>
                <a:lnTo>
                  <a:pt x="0" y="1019536"/>
                </a:lnTo>
                <a:lnTo>
                  <a:pt x="0" y="0"/>
                </a:lnTo>
                <a:close/>
              </a:path>
            </a:pathLst>
          </a:custGeom>
          <a:blipFill>
            <a:blip r:embed="rId9"/>
            <a:stretch>
              <a:fillRect l="0" t="0" r="0" b="0"/>
            </a:stretch>
          </a:blipFill>
        </p:spPr>
      </p:sp>
      <p:sp>
        <p:nvSpPr>
          <p:cNvPr name="TextBox 10" id="10"/>
          <p:cNvSpPr txBox="true"/>
          <p:nvPr/>
        </p:nvSpPr>
        <p:spPr>
          <a:xfrm rot="0">
            <a:off x="467741" y="7276841"/>
            <a:ext cx="2416100"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Customer</a:t>
            </a:r>
          </a:p>
        </p:txBody>
      </p:sp>
      <p:sp>
        <p:nvSpPr>
          <p:cNvPr name="TextBox 11" id="11"/>
          <p:cNvSpPr txBox="true"/>
          <p:nvPr/>
        </p:nvSpPr>
        <p:spPr>
          <a:xfrm rot="0">
            <a:off x="5978000" y="237322"/>
            <a:ext cx="3166000" cy="1341392"/>
          </a:xfrm>
          <a:prstGeom prst="rect">
            <a:avLst/>
          </a:prstGeom>
        </p:spPr>
        <p:txBody>
          <a:bodyPr anchor="t" rtlCol="false" tIns="0" lIns="0" bIns="0" rIns="0">
            <a:spAutoFit/>
          </a:bodyPr>
          <a:lstStyle/>
          <a:p>
            <a:pPr algn="ctr">
              <a:lnSpc>
                <a:spcPts val="5963"/>
              </a:lnSpc>
            </a:pPr>
            <a:r>
              <a:rPr lang="en-US" b="true" sz="4259" spc="425">
                <a:solidFill>
                  <a:srgbClr val="3DA2F6"/>
                </a:solidFill>
                <a:latin typeface="Lato Bold"/>
                <a:ea typeface="Lato Bold"/>
                <a:cs typeface="Lato Bold"/>
                <a:sym typeface="Lato Bold"/>
              </a:rPr>
              <a:t>DashBoard</a:t>
            </a:r>
          </a:p>
          <a:p>
            <a:pPr algn="ctr">
              <a:lnSpc>
                <a:spcPts val="4829"/>
              </a:lnSpc>
              <a:spcBef>
                <a:spcPct val="0"/>
              </a:spcBef>
            </a:pPr>
          </a:p>
        </p:txBody>
      </p:sp>
      <p:sp>
        <p:nvSpPr>
          <p:cNvPr name="TextBox 12" id="12"/>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13" id="13"/>
          <p:cNvSpPr/>
          <p:nvPr/>
        </p:nvSpPr>
        <p:spPr>
          <a:xfrm flipH="false" flipV="false" rot="0">
            <a:off x="15137166" y="1131048"/>
            <a:ext cx="1097322" cy="686325"/>
          </a:xfrm>
          <a:custGeom>
            <a:avLst/>
            <a:gdLst/>
            <a:ahLst/>
            <a:cxnLst/>
            <a:rect r="r" b="b" t="t" l="l"/>
            <a:pathLst>
              <a:path h="686325" w="1097322">
                <a:moveTo>
                  <a:pt x="0" y="0"/>
                </a:moveTo>
                <a:lnTo>
                  <a:pt x="1097321" y="0"/>
                </a:lnTo>
                <a:lnTo>
                  <a:pt x="1097321" y="686325"/>
                </a:lnTo>
                <a:lnTo>
                  <a:pt x="0" y="6863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4453585" y="946118"/>
            <a:ext cx="683581" cy="698678"/>
          </a:xfrm>
          <a:custGeom>
            <a:avLst/>
            <a:gdLst/>
            <a:ahLst/>
            <a:cxnLst/>
            <a:rect r="r" b="b" t="t" l="l"/>
            <a:pathLst>
              <a:path h="698678" w="683581">
                <a:moveTo>
                  <a:pt x="0" y="0"/>
                </a:moveTo>
                <a:lnTo>
                  <a:pt x="683581" y="0"/>
                </a:lnTo>
                <a:lnTo>
                  <a:pt x="683581" y="698678"/>
                </a:lnTo>
                <a:lnTo>
                  <a:pt x="0" y="698678"/>
                </a:lnTo>
                <a:lnTo>
                  <a:pt x="0" y="0"/>
                </a:lnTo>
                <a:close/>
              </a:path>
            </a:pathLst>
          </a:custGeom>
          <a:blipFill>
            <a:blip r:embed="rId5"/>
            <a:stretch>
              <a:fillRect l="-9203" t="-3421" r="0" b="-3421"/>
            </a:stretch>
          </a:blipFill>
        </p:spPr>
      </p:sp>
      <p:grpSp>
        <p:nvGrpSpPr>
          <p:cNvPr name="Group 15" id="15"/>
          <p:cNvGrpSpPr/>
          <p:nvPr/>
        </p:nvGrpSpPr>
        <p:grpSpPr>
          <a:xfrm rot="0">
            <a:off x="-80508" y="233855"/>
            <a:ext cx="5291564" cy="1178869"/>
            <a:chOff x="0" y="0"/>
            <a:chExt cx="1151333" cy="256497"/>
          </a:xfrm>
        </p:grpSpPr>
        <p:sp>
          <p:nvSpPr>
            <p:cNvPr name="Freeform 16" id="16"/>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7" id="17"/>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8" id="18"/>
          <p:cNvGrpSpPr/>
          <p:nvPr/>
        </p:nvGrpSpPr>
        <p:grpSpPr>
          <a:xfrm rot="0">
            <a:off x="121391" y="1544704"/>
            <a:ext cx="4293799" cy="902923"/>
            <a:chOff x="0" y="0"/>
            <a:chExt cx="1219758" cy="256497"/>
          </a:xfrm>
        </p:grpSpPr>
        <p:sp>
          <p:nvSpPr>
            <p:cNvPr name="Freeform 19" id="19"/>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0" id="20"/>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2.Quy trình đặt lịch </a:t>
              </a:r>
            </a:p>
          </p:txBody>
        </p:sp>
      </p:grpSp>
      <p:sp>
        <p:nvSpPr>
          <p:cNvPr name="Freeform 21" id="21"/>
          <p:cNvSpPr/>
          <p:nvPr/>
        </p:nvSpPr>
        <p:spPr>
          <a:xfrm flipH="false" flipV="false" rot="0">
            <a:off x="5211056" y="393188"/>
            <a:ext cx="5650629" cy="2493340"/>
          </a:xfrm>
          <a:custGeom>
            <a:avLst/>
            <a:gdLst/>
            <a:ahLst/>
            <a:cxnLst/>
            <a:rect r="r" b="b" t="t" l="l"/>
            <a:pathLst>
              <a:path h="2493340" w="5650629">
                <a:moveTo>
                  <a:pt x="0" y="0"/>
                </a:moveTo>
                <a:lnTo>
                  <a:pt x="5650629" y="0"/>
                </a:lnTo>
                <a:lnTo>
                  <a:pt x="5650629" y="2493340"/>
                </a:lnTo>
                <a:lnTo>
                  <a:pt x="0" y="2493340"/>
                </a:lnTo>
                <a:lnTo>
                  <a:pt x="0" y="0"/>
                </a:lnTo>
                <a:close/>
              </a:path>
            </a:pathLst>
          </a:custGeom>
          <a:blipFill>
            <a:blip r:embed="rId10"/>
            <a:stretch>
              <a:fillRect l="0" t="0" r="0" b="0"/>
            </a:stretch>
          </a:blipFill>
        </p:spPr>
      </p:sp>
      <p:sp>
        <p:nvSpPr>
          <p:cNvPr name="Freeform 22" id="22"/>
          <p:cNvSpPr/>
          <p:nvPr/>
        </p:nvSpPr>
        <p:spPr>
          <a:xfrm flipH="false" flipV="false" rot="0">
            <a:off x="5211056" y="2886528"/>
            <a:ext cx="5650629" cy="2210809"/>
          </a:xfrm>
          <a:custGeom>
            <a:avLst/>
            <a:gdLst/>
            <a:ahLst/>
            <a:cxnLst/>
            <a:rect r="r" b="b" t="t" l="l"/>
            <a:pathLst>
              <a:path h="2210809" w="5650629">
                <a:moveTo>
                  <a:pt x="0" y="0"/>
                </a:moveTo>
                <a:lnTo>
                  <a:pt x="5650629" y="0"/>
                </a:lnTo>
                <a:lnTo>
                  <a:pt x="5650629" y="2210809"/>
                </a:lnTo>
                <a:lnTo>
                  <a:pt x="0" y="2210809"/>
                </a:lnTo>
                <a:lnTo>
                  <a:pt x="0" y="0"/>
                </a:lnTo>
                <a:close/>
              </a:path>
            </a:pathLst>
          </a:custGeom>
          <a:blipFill>
            <a:blip r:embed="rId11"/>
            <a:stretch>
              <a:fillRect l="0" t="0" r="0" b="0"/>
            </a:stretch>
          </a:blipFill>
        </p:spPr>
      </p:sp>
      <p:sp>
        <p:nvSpPr>
          <p:cNvPr name="Freeform 23" id="23"/>
          <p:cNvSpPr/>
          <p:nvPr/>
        </p:nvSpPr>
        <p:spPr>
          <a:xfrm flipH="false" flipV="false" rot="0">
            <a:off x="5211056" y="5200051"/>
            <a:ext cx="5650629" cy="1871771"/>
          </a:xfrm>
          <a:custGeom>
            <a:avLst/>
            <a:gdLst/>
            <a:ahLst/>
            <a:cxnLst/>
            <a:rect r="r" b="b" t="t" l="l"/>
            <a:pathLst>
              <a:path h="1871771" w="5650629">
                <a:moveTo>
                  <a:pt x="0" y="0"/>
                </a:moveTo>
                <a:lnTo>
                  <a:pt x="5650629" y="0"/>
                </a:lnTo>
                <a:lnTo>
                  <a:pt x="5650629" y="1871771"/>
                </a:lnTo>
                <a:lnTo>
                  <a:pt x="0" y="1871771"/>
                </a:lnTo>
                <a:lnTo>
                  <a:pt x="0" y="0"/>
                </a:lnTo>
                <a:close/>
              </a:path>
            </a:pathLst>
          </a:custGeom>
          <a:blipFill>
            <a:blip r:embed="rId12"/>
            <a:stretch>
              <a:fillRect l="0" t="0" r="0" b="0"/>
            </a:stretch>
          </a:blipFill>
        </p:spPr>
      </p:sp>
      <p:sp>
        <p:nvSpPr>
          <p:cNvPr name="Freeform 24" id="24"/>
          <p:cNvSpPr/>
          <p:nvPr/>
        </p:nvSpPr>
        <p:spPr>
          <a:xfrm flipH="false" flipV="false" rot="0">
            <a:off x="5211056" y="6981183"/>
            <a:ext cx="5650629" cy="3143163"/>
          </a:xfrm>
          <a:custGeom>
            <a:avLst/>
            <a:gdLst/>
            <a:ahLst/>
            <a:cxnLst/>
            <a:rect r="r" b="b" t="t" l="l"/>
            <a:pathLst>
              <a:path h="3143163" w="5650629">
                <a:moveTo>
                  <a:pt x="0" y="0"/>
                </a:moveTo>
                <a:lnTo>
                  <a:pt x="5650629" y="0"/>
                </a:lnTo>
                <a:lnTo>
                  <a:pt x="5650629" y="3143163"/>
                </a:lnTo>
                <a:lnTo>
                  <a:pt x="0" y="3143163"/>
                </a:lnTo>
                <a:lnTo>
                  <a:pt x="0" y="0"/>
                </a:lnTo>
                <a:close/>
              </a:path>
            </a:pathLst>
          </a:custGeom>
          <a:blipFill>
            <a:blip r:embed="rId13"/>
            <a:stretch>
              <a:fillRect l="0" t="0" r="0" b="0"/>
            </a:stretch>
          </a:blipFill>
        </p:spPr>
      </p:sp>
      <p:sp>
        <p:nvSpPr>
          <p:cNvPr name="Freeform 25" id="25"/>
          <p:cNvSpPr/>
          <p:nvPr/>
        </p:nvSpPr>
        <p:spPr>
          <a:xfrm flipH="false" flipV="false" rot="0">
            <a:off x="10876930" y="1954692"/>
            <a:ext cx="7153310" cy="3142645"/>
          </a:xfrm>
          <a:custGeom>
            <a:avLst/>
            <a:gdLst/>
            <a:ahLst/>
            <a:cxnLst/>
            <a:rect r="r" b="b" t="t" l="l"/>
            <a:pathLst>
              <a:path h="3142645" w="7153310">
                <a:moveTo>
                  <a:pt x="0" y="0"/>
                </a:moveTo>
                <a:lnTo>
                  <a:pt x="7153310" y="0"/>
                </a:lnTo>
                <a:lnTo>
                  <a:pt x="7153310" y="3142645"/>
                </a:lnTo>
                <a:lnTo>
                  <a:pt x="0" y="3142645"/>
                </a:lnTo>
                <a:lnTo>
                  <a:pt x="0" y="0"/>
                </a:lnTo>
                <a:close/>
              </a:path>
            </a:pathLst>
          </a:custGeom>
          <a:blipFill>
            <a:blip r:embed="rId10"/>
            <a:stretch>
              <a:fillRect l="0" t="-218" r="0" b="-218"/>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15190" y="1665723"/>
            <a:ext cx="4504623" cy="907648"/>
          </a:xfrm>
          <a:custGeom>
            <a:avLst/>
            <a:gdLst/>
            <a:ahLst/>
            <a:cxnLst/>
            <a:rect r="r" b="b" t="t" l="l"/>
            <a:pathLst>
              <a:path h="907648" w="4504623">
                <a:moveTo>
                  <a:pt x="0" y="0"/>
                </a:moveTo>
                <a:lnTo>
                  <a:pt x="4504623" y="0"/>
                </a:lnTo>
                <a:lnTo>
                  <a:pt x="4504623" y="907648"/>
                </a:lnTo>
                <a:lnTo>
                  <a:pt x="0" y="907648"/>
                </a:lnTo>
                <a:lnTo>
                  <a:pt x="0" y="0"/>
                </a:lnTo>
                <a:close/>
              </a:path>
            </a:pathLst>
          </a:custGeom>
          <a:blipFill>
            <a:blip r:embed="rId2"/>
            <a:stretch>
              <a:fillRect l="0" t="0" r="0" b="0"/>
            </a:stretch>
          </a:blipFill>
        </p:spPr>
      </p:sp>
      <p:sp>
        <p:nvSpPr>
          <p:cNvPr name="Freeform 3" id="3"/>
          <p:cNvSpPr/>
          <p:nvPr/>
        </p:nvSpPr>
        <p:spPr>
          <a:xfrm flipH="false" flipV="false" rot="0">
            <a:off x="4415190" y="3601621"/>
            <a:ext cx="4504623" cy="1541879"/>
          </a:xfrm>
          <a:custGeom>
            <a:avLst/>
            <a:gdLst/>
            <a:ahLst/>
            <a:cxnLst/>
            <a:rect r="r" b="b" t="t" l="l"/>
            <a:pathLst>
              <a:path h="1541879" w="4504623">
                <a:moveTo>
                  <a:pt x="0" y="0"/>
                </a:moveTo>
                <a:lnTo>
                  <a:pt x="4504623" y="0"/>
                </a:lnTo>
                <a:lnTo>
                  <a:pt x="4504623" y="1541879"/>
                </a:lnTo>
                <a:lnTo>
                  <a:pt x="0" y="1541879"/>
                </a:lnTo>
                <a:lnTo>
                  <a:pt x="0" y="0"/>
                </a:lnTo>
                <a:close/>
              </a:path>
            </a:pathLst>
          </a:custGeom>
          <a:blipFill>
            <a:blip r:embed="rId3"/>
            <a:stretch>
              <a:fillRect l="0" t="0" r="-2984" b="0"/>
            </a:stretch>
          </a:blipFill>
        </p:spPr>
      </p:sp>
      <p:sp>
        <p:nvSpPr>
          <p:cNvPr name="Freeform 4" id="4"/>
          <p:cNvSpPr/>
          <p:nvPr/>
        </p:nvSpPr>
        <p:spPr>
          <a:xfrm flipH="false" flipV="false" rot="0">
            <a:off x="4415190" y="5683542"/>
            <a:ext cx="4504623" cy="1443531"/>
          </a:xfrm>
          <a:custGeom>
            <a:avLst/>
            <a:gdLst/>
            <a:ahLst/>
            <a:cxnLst/>
            <a:rect r="r" b="b" t="t" l="l"/>
            <a:pathLst>
              <a:path h="1443531" w="4504623">
                <a:moveTo>
                  <a:pt x="0" y="0"/>
                </a:moveTo>
                <a:lnTo>
                  <a:pt x="4504623" y="0"/>
                </a:lnTo>
                <a:lnTo>
                  <a:pt x="4504623" y="1443531"/>
                </a:lnTo>
                <a:lnTo>
                  <a:pt x="0" y="1443531"/>
                </a:lnTo>
                <a:lnTo>
                  <a:pt x="0" y="0"/>
                </a:lnTo>
                <a:close/>
              </a:path>
            </a:pathLst>
          </a:custGeom>
          <a:blipFill>
            <a:blip r:embed="rId4"/>
            <a:stretch>
              <a:fillRect l="0" t="0" r="-20575" b="0"/>
            </a:stretch>
          </a:blipFill>
        </p:spPr>
      </p:sp>
      <p:sp>
        <p:nvSpPr>
          <p:cNvPr name="Freeform 5" id="5"/>
          <p:cNvSpPr/>
          <p:nvPr/>
        </p:nvSpPr>
        <p:spPr>
          <a:xfrm flipH="false" flipV="false" rot="0">
            <a:off x="748441" y="5683542"/>
            <a:ext cx="2252611" cy="2252611"/>
          </a:xfrm>
          <a:custGeom>
            <a:avLst/>
            <a:gdLst/>
            <a:ahLst/>
            <a:cxnLst/>
            <a:rect r="r" b="b" t="t" l="l"/>
            <a:pathLst>
              <a:path h="2252611" w="2252611">
                <a:moveTo>
                  <a:pt x="0" y="0"/>
                </a:moveTo>
                <a:lnTo>
                  <a:pt x="2252611" y="0"/>
                </a:lnTo>
                <a:lnTo>
                  <a:pt x="2252611" y="2252610"/>
                </a:lnTo>
                <a:lnTo>
                  <a:pt x="0" y="2252610"/>
                </a:lnTo>
                <a:lnTo>
                  <a:pt x="0" y="0"/>
                </a:lnTo>
                <a:close/>
              </a:path>
            </a:pathLst>
          </a:custGeom>
          <a:blipFill>
            <a:blip r:embed="rId5"/>
            <a:stretch>
              <a:fillRect l="0" t="0" r="0" b="0"/>
            </a:stretch>
          </a:blipFill>
        </p:spPr>
      </p:sp>
      <p:sp>
        <p:nvSpPr>
          <p:cNvPr name="AutoShape 6" id="6"/>
          <p:cNvSpPr/>
          <p:nvPr/>
        </p:nvSpPr>
        <p:spPr>
          <a:xfrm flipV="true">
            <a:off x="2686974" y="2119547"/>
            <a:ext cx="1728216" cy="3563995"/>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sp>
        <p:nvSpPr>
          <p:cNvPr name="AutoShape 7" id="7"/>
          <p:cNvSpPr/>
          <p:nvPr/>
        </p:nvSpPr>
        <p:spPr>
          <a:xfrm flipV="true">
            <a:off x="2686974" y="4372561"/>
            <a:ext cx="1728216" cy="1310981"/>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sp>
        <p:nvSpPr>
          <p:cNvPr name="AutoShape 8" id="8"/>
          <p:cNvSpPr/>
          <p:nvPr/>
        </p:nvSpPr>
        <p:spPr>
          <a:xfrm>
            <a:off x="2686974" y="5683542"/>
            <a:ext cx="1728216" cy="1123729"/>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grpSp>
        <p:nvGrpSpPr>
          <p:cNvPr name="Group 9" id="9"/>
          <p:cNvGrpSpPr/>
          <p:nvPr/>
        </p:nvGrpSpPr>
        <p:grpSpPr>
          <a:xfrm rot="0">
            <a:off x="0" y="203353"/>
            <a:ext cx="5291564" cy="1178869"/>
            <a:chOff x="0" y="0"/>
            <a:chExt cx="1151333" cy="256497"/>
          </a:xfrm>
        </p:grpSpPr>
        <p:sp>
          <p:nvSpPr>
            <p:cNvPr name="Freeform 10" id="10"/>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1" id="11"/>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sp>
        <p:nvSpPr>
          <p:cNvPr name="Freeform 12" id="12"/>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3" id="13"/>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4" id="14"/>
          <p:cNvGrpSpPr/>
          <p:nvPr/>
        </p:nvGrpSpPr>
        <p:grpSpPr>
          <a:xfrm rot="0">
            <a:off x="3767075" y="7472637"/>
            <a:ext cx="4662932" cy="1164419"/>
            <a:chOff x="0" y="0"/>
            <a:chExt cx="1228097" cy="306678"/>
          </a:xfrm>
        </p:grpSpPr>
        <p:sp>
          <p:nvSpPr>
            <p:cNvPr name="Freeform 15" id="15"/>
            <p:cNvSpPr/>
            <p:nvPr/>
          </p:nvSpPr>
          <p:spPr>
            <a:xfrm flipH="false" flipV="false" rot="0">
              <a:off x="0" y="0"/>
              <a:ext cx="1228097" cy="306678"/>
            </a:xfrm>
            <a:custGeom>
              <a:avLst/>
              <a:gdLst/>
              <a:ahLst/>
              <a:cxnLst/>
              <a:rect r="r" b="b" t="t" l="l"/>
              <a:pathLst>
                <a:path h="306678" w="1228097">
                  <a:moveTo>
                    <a:pt x="84676" y="0"/>
                  </a:moveTo>
                  <a:lnTo>
                    <a:pt x="1143421" y="0"/>
                  </a:lnTo>
                  <a:cubicBezTo>
                    <a:pt x="1190187" y="0"/>
                    <a:pt x="1228097" y="37911"/>
                    <a:pt x="1228097" y="84676"/>
                  </a:cubicBezTo>
                  <a:lnTo>
                    <a:pt x="1228097" y="222002"/>
                  </a:lnTo>
                  <a:cubicBezTo>
                    <a:pt x="1228097" y="244460"/>
                    <a:pt x="1219176" y="265998"/>
                    <a:pt x="1203296" y="281877"/>
                  </a:cubicBezTo>
                  <a:cubicBezTo>
                    <a:pt x="1187416" y="297757"/>
                    <a:pt x="1165879" y="306678"/>
                    <a:pt x="1143421" y="306678"/>
                  </a:cubicBezTo>
                  <a:lnTo>
                    <a:pt x="84676" y="306678"/>
                  </a:lnTo>
                  <a:cubicBezTo>
                    <a:pt x="62218" y="306678"/>
                    <a:pt x="40681" y="297757"/>
                    <a:pt x="24801" y="281877"/>
                  </a:cubicBezTo>
                  <a:cubicBezTo>
                    <a:pt x="8921" y="265998"/>
                    <a:pt x="0" y="244460"/>
                    <a:pt x="0" y="222002"/>
                  </a:cubicBezTo>
                  <a:lnTo>
                    <a:pt x="0" y="84676"/>
                  </a:lnTo>
                  <a:cubicBezTo>
                    <a:pt x="0" y="62218"/>
                    <a:pt x="8921" y="40681"/>
                    <a:pt x="24801" y="24801"/>
                  </a:cubicBezTo>
                  <a:cubicBezTo>
                    <a:pt x="40681" y="8921"/>
                    <a:pt x="62218" y="0"/>
                    <a:pt x="84676"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47625"/>
              <a:ext cx="1228097" cy="354303"/>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Ngày mai rảnh không ta ...</a:t>
              </a:r>
            </a:p>
          </p:txBody>
        </p:sp>
      </p:grpSp>
      <p:sp>
        <p:nvSpPr>
          <p:cNvPr name="Freeform 17" id="17"/>
          <p:cNvSpPr/>
          <p:nvPr/>
        </p:nvSpPr>
        <p:spPr>
          <a:xfrm flipH="false" flipV="false" rot="0">
            <a:off x="2138313" y="7009122"/>
            <a:ext cx="1482171" cy="927031"/>
          </a:xfrm>
          <a:custGeom>
            <a:avLst/>
            <a:gdLst/>
            <a:ahLst/>
            <a:cxnLst/>
            <a:rect r="r" b="b" t="t" l="l"/>
            <a:pathLst>
              <a:path h="927031" w="1482171">
                <a:moveTo>
                  <a:pt x="0" y="0"/>
                </a:moveTo>
                <a:lnTo>
                  <a:pt x="1482171" y="0"/>
                </a:lnTo>
                <a:lnTo>
                  <a:pt x="1482171" y="927030"/>
                </a:lnTo>
                <a:lnTo>
                  <a:pt x="0" y="9270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9049445" y="1665723"/>
            <a:ext cx="9238555" cy="4881738"/>
            <a:chOff x="0" y="0"/>
            <a:chExt cx="1841288" cy="972954"/>
          </a:xfrm>
        </p:grpSpPr>
        <p:sp>
          <p:nvSpPr>
            <p:cNvPr name="Freeform 19" id="19"/>
            <p:cNvSpPr/>
            <p:nvPr/>
          </p:nvSpPr>
          <p:spPr>
            <a:xfrm flipH="false" flipV="false" rot="0">
              <a:off x="0" y="0"/>
              <a:ext cx="1841288" cy="972954"/>
            </a:xfrm>
            <a:custGeom>
              <a:avLst/>
              <a:gdLst/>
              <a:ahLst/>
              <a:cxnLst/>
              <a:rect r="r" b="b" t="t" l="l"/>
              <a:pathLst>
                <a:path h="972954" w="1841288">
                  <a:moveTo>
                    <a:pt x="19274" y="0"/>
                  </a:moveTo>
                  <a:lnTo>
                    <a:pt x="1822014" y="0"/>
                  </a:lnTo>
                  <a:cubicBezTo>
                    <a:pt x="1832659" y="0"/>
                    <a:pt x="1841288" y="8629"/>
                    <a:pt x="1841288" y="19274"/>
                  </a:cubicBezTo>
                  <a:lnTo>
                    <a:pt x="1841288" y="953680"/>
                  </a:lnTo>
                  <a:cubicBezTo>
                    <a:pt x="1841288" y="958792"/>
                    <a:pt x="1839258" y="963694"/>
                    <a:pt x="1835643" y="967309"/>
                  </a:cubicBezTo>
                  <a:cubicBezTo>
                    <a:pt x="1832028" y="970923"/>
                    <a:pt x="1827126" y="972954"/>
                    <a:pt x="1822014" y="972954"/>
                  </a:cubicBezTo>
                  <a:lnTo>
                    <a:pt x="19274" y="972954"/>
                  </a:lnTo>
                  <a:cubicBezTo>
                    <a:pt x="8629" y="972954"/>
                    <a:pt x="0" y="964325"/>
                    <a:pt x="0" y="953680"/>
                  </a:cubicBezTo>
                  <a:lnTo>
                    <a:pt x="0" y="19274"/>
                  </a:lnTo>
                  <a:cubicBezTo>
                    <a:pt x="0" y="14162"/>
                    <a:pt x="2031" y="9260"/>
                    <a:pt x="5645" y="5645"/>
                  </a:cubicBezTo>
                  <a:cubicBezTo>
                    <a:pt x="9260" y="2031"/>
                    <a:pt x="14162" y="0"/>
                    <a:pt x="19274" y="0"/>
                  </a:cubicBezTo>
                  <a:close/>
                </a:path>
              </a:pathLst>
            </a:custGeom>
            <a:blipFill>
              <a:blip r:embed="rId10"/>
              <a:stretch>
                <a:fillRect l="-565" t="0" r="-565" b="0"/>
              </a:stretch>
            </a:blipFill>
          </p:spPr>
        </p:sp>
      </p:grpSp>
      <p:sp>
        <p:nvSpPr>
          <p:cNvPr name="TextBox 20" id="20"/>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21" id="21"/>
          <p:cNvSpPr txBox="true"/>
          <p:nvPr/>
        </p:nvSpPr>
        <p:spPr>
          <a:xfrm rot="0">
            <a:off x="11515156" y="875726"/>
            <a:ext cx="4307133" cy="506497"/>
          </a:xfrm>
          <a:prstGeom prst="rect">
            <a:avLst/>
          </a:prstGeom>
        </p:spPr>
        <p:txBody>
          <a:bodyPr anchor="t" rtlCol="false" tIns="0" lIns="0" bIns="0" rIns="0">
            <a:spAutoFit/>
          </a:bodyPr>
          <a:lstStyle/>
          <a:p>
            <a:pPr algn="ctr">
              <a:lnSpc>
                <a:spcPts val="4166"/>
              </a:lnSpc>
              <a:spcBef>
                <a:spcPct val="0"/>
              </a:spcBef>
            </a:pPr>
            <a:r>
              <a:rPr lang="en-US" b="true" sz="2976" spc="297">
                <a:solidFill>
                  <a:srgbClr val="000000"/>
                </a:solidFill>
                <a:latin typeface="Lato Bold"/>
                <a:ea typeface="Lato Bold"/>
                <a:cs typeface="Lato Bold"/>
                <a:sym typeface="Lato Bold"/>
              </a:rPr>
              <a:t>Giao diện đặt lịch</a:t>
            </a:r>
          </a:p>
        </p:txBody>
      </p:sp>
      <p:grpSp>
        <p:nvGrpSpPr>
          <p:cNvPr name="Group 22" id="22"/>
          <p:cNvGrpSpPr/>
          <p:nvPr/>
        </p:nvGrpSpPr>
        <p:grpSpPr>
          <a:xfrm rot="0">
            <a:off x="121391" y="1544704"/>
            <a:ext cx="4293799" cy="902923"/>
            <a:chOff x="0" y="0"/>
            <a:chExt cx="1219758" cy="256497"/>
          </a:xfrm>
        </p:grpSpPr>
        <p:sp>
          <p:nvSpPr>
            <p:cNvPr name="Freeform 23" id="23"/>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4" id="24"/>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2.Quy trình đặt lịch </a:t>
              </a:r>
            </a:p>
          </p:txBody>
        </p:sp>
      </p:grpSp>
    </p:spTree>
  </p:cSld>
  <p:clrMapOvr>
    <a:masterClrMapping/>
  </p:clrMapOvr>
  <p:transition spd="slow">
    <p:cover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15190" y="1665723"/>
            <a:ext cx="4504623" cy="907648"/>
          </a:xfrm>
          <a:custGeom>
            <a:avLst/>
            <a:gdLst/>
            <a:ahLst/>
            <a:cxnLst/>
            <a:rect r="r" b="b" t="t" l="l"/>
            <a:pathLst>
              <a:path h="907648" w="4504623">
                <a:moveTo>
                  <a:pt x="0" y="0"/>
                </a:moveTo>
                <a:lnTo>
                  <a:pt x="4504623" y="0"/>
                </a:lnTo>
                <a:lnTo>
                  <a:pt x="4504623" y="907648"/>
                </a:lnTo>
                <a:lnTo>
                  <a:pt x="0" y="907648"/>
                </a:lnTo>
                <a:lnTo>
                  <a:pt x="0" y="0"/>
                </a:lnTo>
                <a:close/>
              </a:path>
            </a:pathLst>
          </a:custGeom>
          <a:blipFill>
            <a:blip r:embed="rId2"/>
            <a:stretch>
              <a:fillRect l="0" t="0" r="0" b="0"/>
            </a:stretch>
          </a:blipFill>
        </p:spPr>
      </p:sp>
      <p:sp>
        <p:nvSpPr>
          <p:cNvPr name="Freeform 3" id="3"/>
          <p:cNvSpPr/>
          <p:nvPr/>
        </p:nvSpPr>
        <p:spPr>
          <a:xfrm flipH="false" flipV="false" rot="0">
            <a:off x="4415190" y="3601621"/>
            <a:ext cx="4504623" cy="1541879"/>
          </a:xfrm>
          <a:custGeom>
            <a:avLst/>
            <a:gdLst/>
            <a:ahLst/>
            <a:cxnLst/>
            <a:rect r="r" b="b" t="t" l="l"/>
            <a:pathLst>
              <a:path h="1541879" w="4504623">
                <a:moveTo>
                  <a:pt x="0" y="0"/>
                </a:moveTo>
                <a:lnTo>
                  <a:pt x="4504623" y="0"/>
                </a:lnTo>
                <a:lnTo>
                  <a:pt x="4504623" y="1541879"/>
                </a:lnTo>
                <a:lnTo>
                  <a:pt x="0" y="1541879"/>
                </a:lnTo>
                <a:lnTo>
                  <a:pt x="0" y="0"/>
                </a:lnTo>
                <a:close/>
              </a:path>
            </a:pathLst>
          </a:custGeom>
          <a:blipFill>
            <a:blip r:embed="rId3"/>
            <a:stretch>
              <a:fillRect l="0" t="0" r="-2984" b="0"/>
            </a:stretch>
          </a:blipFill>
        </p:spPr>
      </p:sp>
      <p:sp>
        <p:nvSpPr>
          <p:cNvPr name="Freeform 4" id="4"/>
          <p:cNvSpPr/>
          <p:nvPr/>
        </p:nvSpPr>
        <p:spPr>
          <a:xfrm flipH="false" flipV="false" rot="0">
            <a:off x="4415190" y="5683542"/>
            <a:ext cx="4504623" cy="1443531"/>
          </a:xfrm>
          <a:custGeom>
            <a:avLst/>
            <a:gdLst/>
            <a:ahLst/>
            <a:cxnLst/>
            <a:rect r="r" b="b" t="t" l="l"/>
            <a:pathLst>
              <a:path h="1443531" w="4504623">
                <a:moveTo>
                  <a:pt x="0" y="0"/>
                </a:moveTo>
                <a:lnTo>
                  <a:pt x="4504623" y="0"/>
                </a:lnTo>
                <a:lnTo>
                  <a:pt x="4504623" y="1443531"/>
                </a:lnTo>
                <a:lnTo>
                  <a:pt x="0" y="1443531"/>
                </a:lnTo>
                <a:lnTo>
                  <a:pt x="0" y="0"/>
                </a:lnTo>
                <a:close/>
              </a:path>
            </a:pathLst>
          </a:custGeom>
          <a:blipFill>
            <a:blip r:embed="rId4"/>
            <a:stretch>
              <a:fillRect l="0" t="0" r="-20575" b="0"/>
            </a:stretch>
          </a:blipFill>
        </p:spPr>
      </p:sp>
      <p:sp>
        <p:nvSpPr>
          <p:cNvPr name="Freeform 5" id="5"/>
          <p:cNvSpPr/>
          <p:nvPr/>
        </p:nvSpPr>
        <p:spPr>
          <a:xfrm flipH="false" flipV="false" rot="0">
            <a:off x="748441" y="5683542"/>
            <a:ext cx="2252611" cy="2252611"/>
          </a:xfrm>
          <a:custGeom>
            <a:avLst/>
            <a:gdLst/>
            <a:ahLst/>
            <a:cxnLst/>
            <a:rect r="r" b="b" t="t" l="l"/>
            <a:pathLst>
              <a:path h="2252611" w="2252611">
                <a:moveTo>
                  <a:pt x="0" y="0"/>
                </a:moveTo>
                <a:lnTo>
                  <a:pt x="2252611" y="0"/>
                </a:lnTo>
                <a:lnTo>
                  <a:pt x="2252611" y="2252610"/>
                </a:lnTo>
                <a:lnTo>
                  <a:pt x="0" y="2252610"/>
                </a:lnTo>
                <a:lnTo>
                  <a:pt x="0" y="0"/>
                </a:lnTo>
                <a:close/>
              </a:path>
            </a:pathLst>
          </a:custGeom>
          <a:blipFill>
            <a:blip r:embed="rId5"/>
            <a:stretch>
              <a:fillRect l="0" t="0" r="0" b="0"/>
            </a:stretch>
          </a:blipFill>
        </p:spPr>
      </p:sp>
      <p:sp>
        <p:nvSpPr>
          <p:cNvPr name="AutoShape 6" id="6"/>
          <p:cNvSpPr/>
          <p:nvPr/>
        </p:nvSpPr>
        <p:spPr>
          <a:xfrm flipV="true">
            <a:off x="2686974" y="2119547"/>
            <a:ext cx="1728216" cy="3563995"/>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sp>
        <p:nvSpPr>
          <p:cNvPr name="AutoShape 7" id="7"/>
          <p:cNvSpPr/>
          <p:nvPr/>
        </p:nvSpPr>
        <p:spPr>
          <a:xfrm flipV="true">
            <a:off x="2686974" y="4372561"/>
            <a:ext cx="1728216" cy="1310981"/>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sp>
        <p:nvSpPr>
          <p:cNvPr name="AutoShape 8" id="8"/>
          <p:cNvSpPr/>
          <p:nvPr/>
        </p:nvSpPr>
        <p:spPr>
          <a:xfrm>
            <a:off x="2686974" y="5683542"/>
            <a:ext cx="1728216" cy="1123729"/>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grpSp>
        <p:nvGrpSpPr>
          <p:cNvPr name="Group 9" id="9"/>
          <p:cNvGrpSpPr/>
          <p:nvPr/>
        </p:nvGrpSpPr>
        <p:grpSpPr>
          <a:xfrm rot="0">
            <a:off x="0" y="203353"/>
            <a:ext cx="5291564" cy="1178869"/>
            <a:chOff x="0" y="0"/>
            <a:chExt cx="1151333" cy="256497"/>
          </a:xfrm>
        </p:grpSpPr>
        <p:sp>
          <p:nvSpPr>
            <p:cNvPr name="Freeform 10" id="10"/>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1" id="11"/>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2" id="12"/>
          <p:cNvGrpSpPr/>
          <p:nvPr/>
        </p:nvGrpSpPr>
        <p:grpSpPr>
          <a:xfrm rot="0">
            <a:off x="3767075" y="7472637"/>
            <a:ext cx="4662932" cy="1164419"/>
            <a:chOff x="0" y="0"/>
            <a:chExt cx="1228097" cy="306678"/>
          </a:xfrm>
        </p:grpSpPr>
        <p:sp>
          <p:nvSpPr>
            <p:cNvPr name="Freeform 13" id="13"/>
            <p:cNvSpPr/>
            <p:nvPr/>
          </p:nvSpPr>
          <p:spPr>
            <a:xfrm flipH="false" flipV="false" rot="0">
              <a:off x="0" y="0"/>
              <a:ext cx="1228097" cy="306678"/>
            </a:xfrm>
            <a:custGeom>
              <a:avLst/>
              <a:gdLst/>
              <a:ahLst/>
              <a:cxnLst/>
              <a:rect r="r" b="b" t="t" l="l"/>
              <a:pathLst>
                <a:path h="306678" w="1228097">
                  <a:moveTo>
                    <a:pt x="84676" y="0"/>
                  </a:moveTo>
                  <a:lnTo>
                    <a:pt x="1143421" y="0"/>
                  </a:lnTo>
                  <a:cubicBezTo>
                    <a:pt x="1190187" y="0"/>
                    <a:pt x="1228097" y="37911"/>
                    <a:pt x="1228097" y="84676"/>
                  </a:cubicBezTo>
                  <a:lnTo>
                    <a:pt x="1228097" y="222002"/>
                  </a:lnTo>
                  <a:cubicBezTo>
                    <a:pt x="1228097" y="244460"/>
                    <a:pt x="1219176" y="265998"/>
                    <a:pt x="1203296" y="281877"/>
                  </a:cubicBezTo>
                  <a:cubicBezTo>
                    <a:pt x="1187416" y="297757"/>
                    <a:pt x="1165879" y="306678"/>
                    <a:pt x="1143421" y="306678"/>
                  </a:cubicBezTo>
                  <a:lnTo>
                    <a:pt x="84676" y="306678"/>
                  </a:lnTo>
                  <a:cubicBezTo>
                    <a:pt x="62218" y="306678"/>
                    <a:pt x="40681" y="297757"/>
                    <a:pt x="24801" y="281877"/>
                  </a:cubicBezTo>
                  <a:cubicBezTo>
                    <a:pt x="8921" y="265998"/>
                    <a:pt x="0" y="244460"/>
                    <a:pt x="0" y="222002"/>
                  </a:cubicBezTo>
                  <a:lnTo>
                    <a:pt x="0" y="84676"/>
                  </a:lnTo>
                  <a:cubicBezTo>
                    <a:pt x="0" y="62218"/>
                    <a:pt x="8921" y="40681"/>
                    <a:pt x="24801" y="24801"/>
                  </a:cubicBezTo>
                  <a:cubicBezTo>
                    <a:pt x="40681" y="8921"/>
                    <a:pt x="62218" y="0"/>
                    <a:pt x="84676" y="0"/>
                  </a:cubicBezTo>
                  <a:close/>
                </a:path>
              </a:pathLst>
            </a:custGeom>
            <a:gradFill rotWithShape="true">
              <a:gsLst>
                <a:gs pos="0">
                  <a:srgbClr val="004AAD">
                    <a:alpha val="100000"/>
                  </a:srgbClr>
                </a:gs>
                <a:gs pos="100000">
                  <a:srgbClr val="CB6CE6">
                    <a:alpha val="100000"/>
                  </a:srgbClr>
                </a:gs>
              </a:gsLst>
              <a:lin ang="0"/>
            </a:gradFill>
          </p:spPr>
        </p:sp>
        <p:sp>
          <p:nvSpPr>
            <p:cNvPr name="TextBox 14" id="14"/>
            <p:cNvSpPr txBox="true"/>
            <p:nvPr/>
          </p:nvSpPr>
          <p:spPr>
            <a:xfrm>
              <a:off x="0" y="-47625"/>
              <a:ext cx="1228097" cy="354303"/>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Ngày mai rảnh không ta ...</a:t>
              </a:r>
            </a:p>
          </p:txBody>
        </p:sp>
      </p:grpSp>
      <p:sp>
        <p:nvSpPr>
          <p:cNvPr name="Freeform 15" id="15"/>
          <p:cNvSpPr/>
          <p:nvPr/>
        </p:nvSpPr>
        <p:spPr>
          <a:xfrm flipH="false" flipV="false" rot="0">
            <a:off x="2138313" y="7009122"/>
            <a:ext cx="1482171" cy="927031"/>
          </a:xfrm>
          <a:custGeom>
            <a:avLst/>
            <a:gdLst/>
            <a:ahLst/>
            <a:cxnLst/>
            <a:rect r="r" b="b" t="t" l="l"/>
            <a:pathLst>
              <a:path h="927031" w="1482171">
                <a:moveTo>
                  <a:pt x="0" y="0"/>
                </a:moveTo>
                <a:lnTo>
                  <a:pt x="1482171" y="0"/>
                </a:lnTo>
                <a:lnTo>
                  <a:pt x="1482171" y="927030"/>
                </a:lnTo>
                <a:lnTo>
                  <a:pt x="0" y="9270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3524710" y="8798982"/>
            <a:ext cx="5395103" cy="1164419"/>
            <a:chOff x="0" y="0"/>
            <a:chExt cx="1420932" cy="306678"/>
          </a:xfrm>
        </p:grpSpPr>
        <p:sp>
          <p:nvSpPr>
            <p:cNvPr name="Freeform 17" id="17"/>
            <p:cNvSpPr/>
            <p:nvPr/>
          </p:nvSpPr>
          <p:spPr>
            <a:xfrm flipH="false" flipV="false" rot="0">
              <a:off x="0" y="0"/>
              <a:ext cx="1420932" cy="306678"/>
            </a:xfrm>
            <a:custGeom>
              <a:avLst/>
              <a:gdLst/>
              <a:ahLst/>
              <a:cxnLst/>
              <a:rect r="r" b="b" t="t" l="l"/>
              <a:pathLst>
                <a:path h="306678" w="1420932">
                  <a:moveTo>
                    <a:pt x="73185" y="0"/>
                  </a:moveTo>
                  <a:lnTo>
                    <a:pt x="1347748" y="0"/>
                  </a:lnTo>
                  <a:cubicBezTo>
                    <a:pt x="1367158" y="0"/>
                    <a:pt x="1385772" y="7710"/>
                    <a:pt x="1399497" y="21435"/>
                  </a:cubicBezTo>
                  <a:cubicBezTo>
                    <a:pt x="1413222" y="35160"/>
                    <a:pt x="1420932" y="53775"/>
                    <a:pt x="1420932" y="73185"/>
                  </a:cubicBezTo>
                  <a:lnTo>
                    <a:pt x="1420932" y="233494"/>
                  </a:lnTo>
                  <a:cubicBezTo>
                    <a:pt x="1420932" y="252904"/>
                    <a:pt x="1413222" y="271518"/>
                    <a:pt x="1399497" y="285243"/>
                  </a:cubicBezTo>
                  <a:cubicBezTo>
                    <a:pt x="1385772" y="298968"/>
                    <a:pt x="1367158" y="306678"/>
                    <a:pt x="1347748" y="306678"/>
                  </a:cubicBezTo>
                  <a:lnTo>
                    <a:pt x="73185" y="306678"/>
                  </a:lnTo>
                  <a:cubicBezTo>
                    <a:pt x="53775" y="306678"/>
                    <a:pt x="35160" y="298968"/>
                    <a:pt x="21435" y="285243"/>
                  </a:cubicBezTo>
                  <a:cubicBezTo>
                    <a:pt x="7710" y="271518"/>
                    <a:pt x="0" y="252904"/>
                    <a:pt x="0" y="233494"/>
                  </a:cubicBezTo>
                  <a:lnTo>
                    <a:pt x="0" y="73185"/>
                  </a:lnTo>
                  <a:cubicBezTo>
                    <a:pt x="0" y="53775"/>
                    <a:pt x="7710" y="35160"/>
                    <a:pt x="21435" y="21435"/>
                  </a:cubicBezTo>
                  <a:cubicBezTo>
                    <a:pt x="35160" y="7710"/>
                    <a:pt x="53775" y="0"/>
                    <a:pt x="73185" y="0"/>
                  </a:cubicBezTo>
                  <a:close/>
                </a:path>
              </a:pathLst>
            </a:custGeom>
            <a:gradFill rotWithShape="true">
              <a:gsLst>
                <a:gs pos="0">
                  <a:srgbClr val="004AAD">
                    <a:alpha val="100000"/>
                  </a:srgbClr>
                </a:gs>
                <a:gs pos="100000">
                  <a:srgbClr val="CB6CE6">
                    <a:alpha val="100000"/>
                  </a:srgbClr>
                </a:gs>
              </a:gsLst>
              <a:lin ang="0"/>
            </a:gradFill>
          </p:spPr>
        </p:sp>
        <p:sp>
          <p:nvSpPr>
            <p:cNvPr name="TextBox 18" id="18"/>
            <p:cNvSpPr txBox="true"/>
            <p:nvPr/>
          </p:nvSpPr>
          <p:spPr>
            <a:xfrm>
              <a:off x="0" y="-47625"/>
              <a:ext cx="1420932" cy="354303"/>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Có nên nhuộm tóc không ta...</a:t>
              </a:r>
            </a:p>
          </p:txBody>
        </p:sp>
      </p:grpSp>
      <p:sp>
        <p:nvSpPr>
          <p:cNvPr name="Freeform 19" id="19"/>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0" id="20"/>
          <p:cNvSpPr/>
          <p:nvPr/>
        </p:nvSpPr>
        <p:spPr>
          <a:xfrm flipH="false" flipV="false" rot="7136214">
            <a:off x="15851939" y="7150046"/>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1" id="21"/>
          <p:cNvSpPr/>
          <p:nvPr/>
        </p:nvSpPr>
        <p:spPr>
          <a:xfrm flipH="false" flipV="false" rot="0">
            <a:off x="10135920" y="2947079"/>
            <a:ext cx="6067632" cy="2874541"/>
          </a:xfrm>
          <a:custGeom>
            <a:avLst/>
            <a:gdLst/>
            <a:ahLst/>
            <a:cxnLst/>
            <a:rect r="r" b="b" t="t" l="l"/>
            <a:pathLst>
              <a:path h="2874541" w="6067632">
                <a:moveTo>
                  <a:pt x="0" y="0"/>
                </a:moveTo>
                <a:lnTo>
                  <a:pt x="6067632" y="0"/>
                </a:lnTo>
                <a:lnTo>
                  <a:pt x="6067632" y="2874541"/>
                </a:lnTo>
                <a:lnTo>
                  <a:pt x="0" y="2874541"/>
                </a:lnTo>
                <a:lnTo>
                  <a:pt x="0" y="0"/>
                </a:lnTo>
                <a:close/>
              </a:path>
            </a:pathLst>
          </a:custGeom>
          <a:blipFill>
            <a:blip r:embed="rId10"/>
            <a:stretch>
              <a:fillRect l="0" t="0" r="0" b="0"/>
            </a:stretch>
          </a:blipFill>
        </p:spPr>
      </p:sp>
      <p:sp>
        <p:nvSpPr>
          <p:cNvPr name="AutoShape 22" id="22"/>
          <p:cNvSpPr/>
          <p:nvPr/>
        </p:nvSpPr>
        <p:spPr>
          <a:xfrm>
            <a:off x="8919813" y="4372561"/>
            <a:ext cx="1216107" cy="11789"/>
          </a:xfrm>
          <a:prstGeom prst="line">
            <a:avLst/>
          </a:prstGeom>
          <a:ln cap="flat" w="38100">
            <a:gradFill>
              <a:gsLst>
                <a:gs pos="0">
                  <a:srgbClr val="004AAD">
                    <a:alpha val="100000"/>
                  </a:srgbClr>
                </a:gs>
                <a:gs pos="100000">
                  <a:srgbClr val="CB6CE6">
                    <a:alpha val="100000"/>
                  </a:srgbClr>
                </a:gs>
              </a:gsLst>
              <a:lin ang="0"/>
            </a:gradFill>
            <a:prstDash val="solid"/>
            <a:headEnd type="none" len="sm" w="sm"/>
            <a:tailEnd type="arrow" len="sm" w="med"/>
          </a:ln>
        </p:spPr>
      </p:sp>
      <p:sp>
        <p:nvSpPr>
          <p:cNvPr name="Freeform 23" id="23"/>
          <p:cNvSpPr/>
          <p:nvPr/>
        </p:nvSpPr>
        <p:spPr>
          <a:xfrm flipH="false" flipV="false" rot="0">
            <a:off x="10329513" y="6373232"/>
            <a:ext cx="6042481" cy="2560502"/>
          </a:xfrm>
          <a:custGeom>
            <a:avLst/>
            <a:gdLst/>
            <a:ahLst/>
            <a:cxnLst/>
            <a:rect r="r" b="b" t="t" l="l"/>
            <a:pathLst>
              <a:path h="2560502" w="6042481">
                <a:moveTo>
                  <a:pt x="0" y="0"/>
                </a:moveTo>
                <a:lnTo>
                  <a:pt x="6042481" y="0"/>
                </a:lnTo>
                <a:lnTo>
                  <a:pt x="6042481" y="2560501"/>
                </a:lnTo>
                <a:lnTo>
                  <a:pt x="0" y="2560501"/>
                </a:lnTo>
                <a:lnTo>
                  <a:pt x="0" y="0"/>
                </a:lnTo>
                <a:close/>
              </a:path>
            </a:pathLst>
          </a:custGeom>
          <a:blipFill>
            <a:blip r:embed="rId11"/>
            <a:stretch>
              <a:fillRect l="0" t="0" r="0" b="0"/>
            </a:stretch>
          </a:blipFill>
        </p:spPr>
      </p:sp>
      <p:sp>
        <p:nvSpPr>
          <p:cNvPr name="AutoShape 24" id="24"/>
          <p:cNvSpPr/>
          <p:nvPr/>
        </p:nvSpPr>
        <p:spPr>
          <a:xfrm>
            <a:off x="8919813" y="7009122"/>
            <a:ext cx="1409700" cy="644361"/>
          </a:xfrm>
          <a:prstGeom prst="line">
            <a:avLst/>
          </a:prstGeom>
          <a:ln cap="flat" w="38100">
            <a:gradFill>
              <a:gsLst>
                <a:gs pos="0">
                  <a:srgbClr val="004AAD">
                    <a:alpha val="100000"/>
                  </a:srgbClr>
                </a:gs>
                <a:gs pos="100000">
                  <a:srgbClr val="CB6CE6">
                    <a:alpha val="100000"/>
                  </a:srgbClr>
                </a:gs>
              </a:gsLst>
              <a:lin ang="0"/>
            </a:gradFill>
            <a:prstDash val="solid"/>
            <a:headEnd type="none" len="sm" w="sm"/>
            <a:tailEnd type="arrow" len="sm" w="med"/>
          </a:ln>
        </p:spPr>
      </p:sp>
      <p:sp>
        <p:nvSpPr>
          <p:cNvPr name="AutoShape 25" id="25"/>
          <p:cNvSpPr/>
          <p:nvPr/>
        </p:nvSpPr>
        <p:spPr>
          <a:xfrm flipV="true">
            <a:off x="8919813" y="1343437"/>
            <a:ext cx="1409700" cy="776110"/>
          </a:xfrm>
          <a:prstGeom prst="line">
            <a:avLst/>
          </a:prstGeom>
          <a:ln cap="flat" w="38100">
            <a:gradFill>
              <a:gsLst>
                <a:gs pos="0">
                  <a:srgbClr val="004AAD">
                    <a:alpha val="100000"/>
                  </a:srgbClr>
                </a:gs>
                <a:gs pos="100000">
                  <a:srgbClr val="CB6CE6">
                    <a:alpha val="100000"/>
                  </a:srgbClr>
                </a:gs>
              </a:gsLst>
              <a:lin ang="0"/>
            </a:gradFill>
            <a:prstDash val="solid"/>
            <a:headEnd type="none" len="sm" w="sm"/>
            <a:tailEnd type="arrow" len="sm" w="med"/>
          </a:ln>
        </p:spPr>
      </p:sp>
      <p:sp>
        <p:nvSpPr>
          <p:cNvPr name="Freeform 26" id="26"/>
          <p:cNvSpPr/>
          <p:nvPr/>
        </p:nvSpPr>
        <p:spPr>
          <a:xfrm flipH="false" flipV="false" rot="0">
            <a:off x="10329513" y="113504"/>
            <a:ext cx="5376759" cy="2459867"/>
          </a:xfrm>
          <a:custGeom>
            <a:avLst/>
            <a:gdLst/>
            <a:ahLst/>
            <a:cxnLst/>
            <a:rect r="r" b="b" t="t" l="l"/>
            <a:pathLst>
              <a:path h="2459867" w="5376759">
                <a:moveTo>
                  <a:pt x="0" y="0"/>
                </a:moveTo>
                <a:lnTo>
                  <a:pt x="5376759" y="0"/>
                </a:lnTo>
                <a:lnTo>
                  <a:pt x="5376759" y="2459867"/>
                </a:lnTo>
                <a:lnTo>
                  <a:pt x="0" y="2459867"/>
                </a:lnTo>
                <a:lnTo>
                  <a:pt x="0" y="0"/>
                </a:lnTo>
                <a:close/>
              </a:path>
            </a:pathLst>
          </a:custGeom>
          <a:blipFill>
            <a:blip r:embed="rId12"/>
            <a:stretch>
              <a:fillRect l="0" t="0" r="0" b="0"/>
            </a:stretch>
          </a:blipFill>
        </p:spPr>
      </p:sp>
      <p:sp>
        <p:nvSpPr>
          <p:cNvPr name="TextBox 27" id="27"/>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grpSp>
        <p:nvGrpSpPr>
          <p:cNvPr name="Group 28" id="28"/>
          <p:cNvGrpSpPr/>
          <p:nvPr/>
        </p:nvGrpSpPr>
        <p:grpSpPr>
          <a:xfrm rot="0">
            <a:off x="121391" y="1544704"/>
            <a:ext cx="4293799" cy="902923"/>
            <a:chOff x="0" y="0"/>
            <a:chExt cx="1219758" cy="256497"/>
          </a:xfrm>
        </p:grpSpPr>
        <p:sp>
          <p:nvSpPr>
            <p:cNvPr name="Freeform 29" id="29"/>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30" id="30"/>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2.Quy trình đặt lịch </a:t>
              </a: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748565" y="9087823"/>
            <a:ext cx="1199177" cy="1199177"/>
          </a:xfrm>
          <a:custGeom>
            <a:avLst/>
            <a:gdLst/>
            <a:ahLst/>
            <a:cxnLst/>
            <a:rect r="r" b="b" t="t" l="l"/>
            <a:pathLst>
              <a:path h="1199177" w="1199177">
                <a:moveTo>
                  <a:pt x="0" y="0"/>
                </a:moveTo>
                <a:lnTo>
                  <a:pt x="1199177" y="0"/>
                </a:lnTo>
                <a:lnTo>
                  <a:pt x="1199177" y="1199177"/>
                </a:lnTo>
                <a:lnTo>
                  <a:pt x="0" y="1199177"/>
                </a:lnTo>
                <a:lnTo>
                  <a:pt x="0" y="0"/>
                </a:lnTo>
                <a:close/>
              </a:path>
            </a:pathLst>
          </a:custGeom>
          <a:blipFill>
            <a:blip r:embed="rId2"/>
            <a:stretch>
              <a:fillRect l="0" t="0" r="0" b="0"/>
            </a:stretch>
          </a:blipFill>
        </p:spPr>
      </p:sp>
      <p:sp>
        <p:nvSpPr>
          <p:cNvPr name="Freeform 3" id="3"/>
          <p:cNvSpPr/>
          <p:nvPr/>
        </p:nvSpPr>
        <p:spPr>
          <a:xfrm flipH="false" flipV="false" rot="0">
            <a:off x="2265279" y="4410973"/>
            <a:ext cx="761007" cy="475975"/>
          </a:xfrm>
          <a:custGeom>
            <a:avLst/>
            <a:gdLst/>
            <a:ahLst/>
            <a:cxnLst/>
            <a:rect r="r" b="b" t="t" l="l"/>
            <a:pathLst>
              <a:path h="475975" w="761007">
                <a:moveTo>
                  <a:pt x="0" y="0"/>
                </a:moveTo>
                <a:lnTo>
                  <a:pt x="761006" y="0"/>
                </a:lnTo>
                <a:lnTo>
                  <a:pt x="761006" y="475975"/>
                </a:lnTo>
                <a:lnTo>
                  <a:pt x="0" y="475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H="true">
            <a:off x="6801772" y="7324003"/>
            <a:ext cx="1742639" cy="1118845"/>
          </a:xfrm>
          <a:prstGeom prst="line">
            <a:avLst/>
          </a:prstGeom>
          <a:ln cap="flat" w="85725">
            <a:gradFill>
              <a:gsLst>
                <a:gs pos="0">
                  <a:srgbClr val="004AAD">
                    <a:alpha val="53000"/>
                  </a:srgbClr>
                </a:gs>
                <a:gs pos="100000">
                  <a:srgbClr val="CB6CE6">
                    <a:alpha val="53000"/>
                  </a:srgbClr>
                </a:gs>
              </a:gsLst>
              <a:lin ang="0"/>
            </a:gradFill>
            <a:prstDash val="solid"/>
            <a:headEnd type="none" len="sm" w="sm"/>
            <a:tailEnd type="triangle" len="med" w="lg"/>
          </a:ln>
        </p:spPr>
      </p:sp>
      <p:sp>
        <p:nvSpPr>
          <p:cNvPr name="Freeform 5" id="5"/>
          <p:cNvSpPr/>
          <p:nvPr/>
        </p:nvSpPr>
        <p:spPr>
          <a:xfrm flipH="false" flipV="false" rot="0">
            <a:off x="4215633" y="4886948"/>
            <a:ext cx="1234944" cy="1218256"/>
          </a:xfrm>
          <a:custGeom>
            <a:avLst/>
            <a:gdLst/>
            <a:ahLst/>
            <a:cxnLst/>
            <a:rect r="r" b="b" t="t" l="l"/>
            <a:pathLst>
              <a:path h="1218256" w="1234944">
                <a:moveTo>
                  <a:pt x="0" y="0"/>
                </a:moveTo>
                <a:lnTo>
                  <a:pt x="1234944" y="0"/>
                </a:lnTo>
                <a:lnTo>
                  <a:pt x="1234944" y="1218256"/>
                </a:lnTo>
                <a:lnTo>
                  <a:pt x="0" y="1218256"/>
                </a:lnTo>
                <a:lnTo>
                  <a:pt x="0" y="0"/>
                </a:lnTo>
                <a:close/>
              </a:path>
            </a:pathLst>
          </a:custGeom>
          <a:blipFill>
            <a:blip r:embed="rId5"/>
            <a:stretch>
              <a:fillRect l="0" t="0" r="0" b="0"/>
            </a:stretch>
          </a:blipFill>
        </p:spPr>
      </p:sp>
      <p:grpSp>
        <p:nvGrpSpPr>
          <p:cNvPr name="Group 6" id="6"/>
          <p:cNvGrpSpPr/>
          <p:nvPr/>
        </p:nvGrpSpPr>
        <p:grpSpPr>
          <a:xfrm rot="0">
            <a:off x="3026285" y="4078713"/>
            <a:ext cx="3086100" cy="808235"/>
            <a:chOff x="0" y="0"/>
            <a:chExt cx="812800" cy="212869"/>
          </a:xfrm>
        </p:grpSpPr>
        <p:sp>
          <p:nvSpPr>
            <p:cNvPr name="Freeform 7" id="7"/>
            <p:cNvSpPr/>
            <p:nvPr/>
          </p:nvSpPr>
          <p:spPr>
            <a:xfrm flipH="false" flipV="false" rot="0">
              <a:off x="0" y="0"/>
              <a:ext cx="812800" cy="212869"/>
            </a:xfrm>
            <a:custGeom>
              <a:avLst/>
              <a:gdLst/>
              <a:ahLst/>
              <a:cxnLst/>
              <a:rect r="r" b="b" t="t" l="l"/>
              <a:pathLst>
                <a:path h="212869" w="812800">
                  <a:moveTo>
                    <a:pt x="106434" y="0"/>
                  </a:moveTo>
                  <a:lnTo>
                    <a:pt x="706366" y="0"/>
                  </a:lnTo>
                  <a:cubicBezTo>
                    <a:pt x="734594" y="0"/>
                    <a:pt x="761666" y="11214"/>
                    <a:pt x="781626" y="31174"/>
                  </a:cubicBezTo>
                  <a:cubicBezTo>
                    <a:pt x="801586" y="51134"/>
                    <a:pt x="812800" y="78206"/>
                    <a:pt x="812800" y="106434"/>
                  </a:cubicBezTo>
                  <a:lnTo>
                    <a:pt x="812800" y="106434"/>
                  </a:lnTo>
                  <a:cubicBezTo>
                    <a:pt x="812800" y="134662"/>
                    <a:pt x="801586" y="161734"/>
                    <a:pt x="781626" y="181695"/>
                  </a:cubicBezTo>
                  <a:cubicBezTo>
                    <a:pt x="761666" y="201655"/>
                    <a:pt x="734594" y="212869"/>
                    <a:pt x="706366" y="212869"/>
                  </a:cubicBezTo>
                  <a:lnTo>
                    <a:pt x="106434" y="212869"/>
                  </a:lnTo>
                  <a:cubicBezTo>
                    <a:pt x="78206" y="212869"/>
                    <a:pt x="51134" y="201655"/>
                    <a:pt x="31174" y="181695"/>
                  </a:cubicBezTo>
                  <a:cubicBezTo>
                    <a:pt x="11214" y="161734"/>
                    <a:pt x="0" y="134662"/>
                    <a:pt x="0" y="106434"/>
                  </a:cubicBezTo>
                  <a:lnTo>
                    <a:pt x="0" y="106434"/>
                  </a:lnTo>
                  <a:cubicBezTo>
                    <a:pt x="0" y="78206"/>
                    <a:pt x="11214" y="51134"/>
                    <a:pt x="31174" y="31174"/>
                  </a:cubicBezTo>
                  <a:cubicBezTo>
                    <a:pt x="51134" y="11214"/>
                    <a:pt x="78206" y="0"/>
                    <a:pt x="106434" y="0"/>
                  </a:cubicBezTo>
                  <a:close/>
                </a:path>
              </a:pathLst>
            </a:custGeom>
            <a:solidFill>
              <a:srgbClr val="202020"/>
            </a:solidFill>
          </p:spPr>
        </p:sp>
        <p:sp>
          <p:nvSpPr>
            <p:cNvPr name="TextBox 8" id="8"/>
            <p:cNvSpPr txBox="true"/>
            <p:nvPr/>
          </p:nvSpPr>
          <p:spPr>
            <a:xfrm>
              <a:off x="0" y="-47625"/>
              <a:ext cx="812800" cy="260494"/>
            </a:xfrm>
            <a:prstGeom prst="rect">
              <a:avLst/>
            </a:prstGeom>
          </p:spPr>
          <p:txBody>
            <a:bodyPr anchor="ctr" rtlCol="false" tIns="50800" lIns="50800" bIns="50800" rIns="50800"/>
            <a:lstStyle/>
            <a:p>
              <a:pPr algn="ctr">
                <a:lnSpc>
                  <a:spcPts val="3359"/>
                </a:lnSpc>
              </a:pPr>
              <a:r>
                <a:rPr lang="en-US" sz="2399" spc="239">
                  <a:solidFill>
                    <a:srgbClr val="CB6CE6"/>
                  </a:solidFill>
                  <a:latin typeface="Lato"/>
                  <a:ea typeface="Lato"/>
                  <a:cs typeface="Lato"/>
                  <a:sym typeface="Lato"/>
                </a:rPr>
                <a:t>Chốt kèo</a:t>
              </a:r>
            </a:p>
          </p:txBody>
        </p:sp>
      </p:grpSp>
      <p:sp>
        <p:nvSpPr>
          <p:cNvPr name="Freeform 9" id="9"/>
          <p:cNvSpPr/>
          <p:nvPr/>
        </p:nvSpPr>
        <p:spPr>
          <a:xfrm flipH="false" flipV="false" rot="0">
            <a:off x="648756" y="4719183"/>
            <a:ext cx="2157884" cy="2157884"/>
          </a:xfrm>
          <a:custGeom>
            <a:avLst/>
            <a:gdLst/>
            <a:ahLst/>
            <a:cxnLst/>
            <a:rect r="r" b="b" t="t" l="l"/>
            <a:pathLst>
              <a:path h="2157884" w="2157884">
                <a:moveTo>
                  <a:pt x="0" y="0"/>
                </a:moveTo>
                <a:lnTo>
                  <a:pt x="2157885" y="0"/>
                </a:lnTo>
                <a:lnTo>
                  <a:pt x="2157885" y="2157885"/>
                </a:lnTo>
                <a:lnTo>
                  <a:pt x="0" y="2157885"/>
                </a:lnTo>
                <a:lnTo>
                  <a:pt x="0" y="0"/>
                </a:lnTo>
                <a:close/>
              </a:path>
            </a:pathLst>
          </a:custGeom>
          <a:blipFill>
            <a:blip r:embed="rId6"/>
            <a:stretch>
              <a:fillRect l="0" t="0" r="0" b="0"/>
            </a:stretch>
          </a:blipFill>
        </p:spPr>
      </p:sp>
      <p:sp>
        <p:nvSpPr>
          <p:cNvPr name="TextBox 10" id="10"/>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AutoShape 11" id="11"/>
          <p:cNvSpPr/>
          <p:nvPr/>
        </p:nvSpPr>
        <p:spPr>
          <a:xfrm flipH="true" flipV="true">
            <a:off x="4408953" y="8764863"/>
            <a:ext cx="1235954" cy="130174"/>
          </a:xfrm>
          <a:prstGeom prst="line">
            <a:avLst/>
          </a:prstGeom>
          <a:ln cap="flat" w="38100">
            <a:gradFill>
              <a:gsLst>
                <a:gs pos="0">
                  <a:srgbClr val="004AAD">
                    <a:alpha val="100000"/>
                  </a:srgbClr>
                </a:gs>
                <a:gs pos="100000">
                  <a:srgbClr val="CB6CE6">
                    <a:alpha val="100000"/>
                  </a:srgbClr>
                </a:gs>
              </a:gsLst>
              <a:lin ang="0"/>
            </a:gradFill>
            <a:prstDash val="solid"/>
            <a:headEnd type="none" len="sm" w="sm"/>
            <a:tailEnd type="arrow" len="sm" w="med"/>
          </a:ln>
        </p:spPr>
      </p:sp>
      <p:sp>
        <p:nvSpPr>
          <p:cNvPr name="Freeform 12" id="12"/>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3" id="13"/>
          <p:cNvSpPr/>
          <p:nvPr/>
        </p:nvSpPr>
        <p:spPr>
          <a:xfrm flipH="false" flipV="false" rot="7136214">
            <a:off x="16418252" y="-3288441"/>
            <a:ext cx="6311745" cy="5554335"/>
          </a:xfrm>
          <a:custGeom>
            <a:avLst/>
            <a:gdLst/>
            <a:ahLst/>
            <a:cxnLst/>
            <a:rect r="r" b="b" t="t" l="l"/>
            <a:pathLst>
              <a:path h="5554335" w="6311745">
                <a:moveTo>
                  <a:pt x="0" y="0"/>
                </a:moveTo>
                <a:lnTo>
                  <a:pt x="6311744" y="0"/>
                </a:lnTo>
                <a:lnTo>
                  <a:pt x="6311744" y="5554336"/>
                </a:lnTo>
                <a:lnTo>
                  <a:pt x="0" y="55543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grpSp>
        <p:nvGrpSpPr>
          <p:cNvPr name="Group 14" id="14"/>
          <p:cNvGrpSpPr/>
          <p:nvPr/>
        </p:nvGrpSpPr>
        <p:grpSpPr>
          <a:xfrm rot="0">
            <a:off x="0" y="203353"/>
            <a:ext cx="5291564" cy="1178869"/>
            <a:chOff x="0" y="0"/>
            <a:chExt cx="1151333" cy="256497"/>
          </a:xfrm>
        </p:grpSpPr>
        <p:sp>
          <p:nvSpPr>
            <p:cNvPr name="Freeform 15" id="15"/>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6" id="16"/>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sp>
        <p:nvSpPr>
          <p:cNvPr name="Freeform 17" id="17"/>
          <p:cNvSpPr/>
          <p:nvPr/>
        </p:nvSpPr>
        <p:spPr>
          <a:xfrm flipH="false" flipV="false" rot="0">
            <a:off x="852304" y="7503074"/>
            <a:ext cx="3470924" cy="2783926"/>
          </a:xfrm>
          <a:custGeom>
            <a:avLst/>
            <a:gdLst/>
            <a:ahLst/>
            <a:cxnLst/>
            <a:rect r="r" b="b" t="t" l="l"/>
            <a:pathLst>
              <a:path h="2783926" w="3470924">
                <a:moveTo>
                  <a:pt x="0" y="0"/>
                </a:moveTo>
                <a:lnTo>
                  <a:pt x="3470924" y="0"/>
                </a:lnTo>
                <a:lnTo>
                  <a:pt x="3470924" y="2783926"/>
                </a:lnTo>
                <a:lnTo>
                  <a:pt x="0" y="2783926"/>
                </a:lnTo>
                <a:lnTo>
                  <a:pt x="0" y="0"/>
                </a:lnTo>
                <a:close/>
              </a:path>
            </a:pathLst>
          </a:custGeom>
          <a:blipFill>
            <a:blip r:embed="rId9"/>
            <a:stretch>
              <a:fillRect l="0" t="-2700" r="0" b="0"/>
            </a:stretch>
          </a:blipFill>
        </p:spPr>
      </p:sp>
      <p:sp>
        <p:nvSpPr>
          <p:cNvPr name="Freeform 18" id="18"/>
          <p:cNvSpPr/>
          <p:nvPr/>
        </p:nvSpPr>
        <p:spPr>
          <a:xfrm flipH="false" flipV="false" rot="0">
            <a:off x="6801772" y="1544704"/>
            <a:ext cx="9506976" cy="5704186"/>
          </a:xfrm>
          <a:custGeom>
            <a:avLst/>
            <a:gdLst/>
            <a:ahLst/>
            <a:cxnLst/>
            <a:rect r="r" b="b" t="t" l="l"/>
            <a:pathLst>
              <a:path h="5704186" w="9506976">
                <a:moveTo>
                  <a:pt x="0" y="0"/>
                </a:moveTo>
                <a:lnTo>
                  <a:pt x="9506976" y="0"/>
                </a:lnTo>
                <a:lnTo>
                  <a:pt x="9506976" y="5704186"/>
                </a:lnTo>
                <a:lnTo>
                  <a:pt x="0" y="5704186"/>
                </a:lnTo>
                <a:lnTo>
                  <a:pt x="0" y="0"/>
                </a:lnTo>
                <a:close/>
              </a:path>
            </a:pathLst>
          </a:custGeom>
          <a:blipFill>
            <a:blip r:embed="rId10"/>
            <a:stretch>
              <a:fillRect l="0" t="0" r="0" b="0"/>
            </a:stretch>
          </a:blipFill>
        </p:spPr>
      </p:sp>
      <p:grpSp>
        <p:nvGrpSpPr>
          <p:cNvPr name="Group 19" id="19"/>
          <p:cNvGrpSpPr/>
          <p:nvPr/>
        </p:nvGrpSpPr>
        <p:grpSpPr>
          <a:xfrm rot="0">
            <a:off x="121391" y="1544704"/>
            <a:ext cx="4293799" cy="902923"/>
            <a:chOff x="0" y="0"/>
            <a:chExt cx="1219758" cy="256497"/>
          </a:xfrm>
        </p:grpSpPr>
        <p:sp>
          <p:nvSpPr>
            <p:cNvPr name="Freeform 20" id="20"/>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1" id="21"/>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2.Quy trình đặt lịch </a:t>
              </a:r>
            </a:p>
          </p:txBody>
        </p:sp>
      </p:grpSp>
      <p:sp>
        <p:nvSpPr>
          <p:cNvPr name="Freeform 22" id="22"/>
          <p:cNvSpPr/>
          <p:nvPr/>
        </p:nvSpPr>
        <p:spPr>
          <a:xfrm flipH="false" flipV="false" rot="0">
            <a:off x="5644908" y="8442849"/>
            <a:ext cx="2103657" cy="904376"/>
          </a:xfrm>
          <a:custGeom>
            <a:avLst/>
            <a:gdLst/>
            <a:ahLst/>
            <a:cxnLst/>
            <a:rect r="r" b="b" t="t" l="l"/>
            <a:pathLst>
              <a:path h="904376" w="2103657">
                <a:moveTo>
                  <a:pt x="0" y="0"/>
                </a:moveTo>
                <a:lnTo>
                  <a:pt x="2103657" y="0"/>
                </a:lnTo>
                <a:lnTo>
                  <a:pt x="2103657" y="904376"/>
                </a:lnTo>
                <a:lnTo>
                  <a:pt x="0" y="904376"/>
                </a:lnTo>
                <a:lnTo>
                  <a:pt x="0" y="0"/>
                </a:lnTo>
                <a:close/>
              </a:path>
            </a:pathLst>
          </a:custGeom>
          <a:blipFill>
            <a:blip r:embed="rId11"/>
            <a:stretch>
              <a:fillRect l="0" t="0" r="0" b="0"/>
            </a:stretch>
          </a:blipFill>
        </p:spPr>
      </p:sp>
      <p:sp>
        <p:nvSpPr>
          <p:cNvPr name="TextBox 23" id="23"/>
          <p:cNvSpPr txBox="true"/>
          <p:nvPr/>
        </p:nvSpPr>
        <p:spPr>
          <a:xfrm rot="0">
            <a:off x="799482" y="7097308"/>
            <a:ext cx="2416100"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Customer</a:t>
            </a:r>
          </a:p>
        </p:txBody>
      </p:sp>
      <p:sp>
        <p:nvSpPr>
          <p:cNvPr name="TextBox 24" id="24"/>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3" id="3"/>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136214">
            <a:off x="16418252" y="-3288441"/>
            <a:ext cx="6311745" cy="5554335"/>
          </a:xfrm>
          <a:custGeom>
            <a:avLst/>
            <a:gdLst/>
            <a:ahLst/>
            <a:cxnLst/>
            <a:rect r="r" b="b" t="t" l="l"/>
            <a:pathLst>
              <a:path h="5554335" w="6311745">
                <a:moveTo>
                  <a:pt x="0" y="0"/>
                </a:moveTo>
                <a:lnTo>
                  <a:pt x="6311744" y="0"/>
                </a:lnTo>
                <a:lnTo>
                  <a:pt x="6311744"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0" y="203353"/>
            <a:ext cx="5291564" cy="1178869"/>
            <a:chOff x="0" y="0"/>
            <a:chExt cx="1151333" cy="256497"/>
          </a:xfrm>
        </p:grpSpPr>
        <p:sp>
          <p:nvSpPr>
            <p:cNvPr name="Freeform 6" id="6"/>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7" id="7"/>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8" id="8"/>
          <p:cNvGrpSpPr/>
          <p:nvPr/>
        </p:nvGrpSpPr>
        <p:grpSpPr>
          <a:xfrm rot="0">
            <a:off x="121391" y="1544704"/>
            <a:ext cx="4935758" cy="980237"/>
            <a:chOff x="0" y="0"/>
            <a:chExt cx="1402122" cy="278460"/>
          </a:xfrm>
        </p:grpSpPr>
        <p:sp>
          <p:nvSpPr>
            <p:cNvPr name="Freeform 9" id="9"/>
            <p:cNvSpPr/>
            <p:nvPr/>
          </p:nvSpPr>
          <p:spPr>
            <a:xfrm flipH="false" flipV="false" rot="0">
              <a:off x="0" y="0"/>
              <a:ext cx="1402122" cy="278460"/>
            </a:xfrm>
            <a:custGeom>
              <a:avLst/>
              <a:gdLst/>
              <a:ahLst/>
              <a:cxnLst/>
              <a:rect r="r" b="b" t="t" l="l"/>
              <a:pathLst>
                <a:path h="278460" w="1402122">
                  <a:moveTo>
                    <a:pt x="0" y="0"/>
                  </a:moveTo>
                  <a:lnTo>
                    <a:pt x="1198922" y="0"/>
                  </a:lnTo>
                  <a:lnTo>
                    <a:pt x="1402122" y="139230"/>
                  </a:lnTo>
                  <a:lnTo>
                    <a:pt x="1198922" y="278460"/>
                  </a:lnTo>
                  <a:lnTo>
                    <a:pt x="0" y="278460"/>
                  </a:lnTo>
                  <a:lnTo>
                    <a:pt x="203200" y="139230"/>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0" id="10"/>
            <p:cNvSpPr txBox="true"/>
            <p:nvPr/>
          </p:nvSpPr>
          <p:spPr>
            <a:xfrm>
              <a:off x="177800" y="-47625"/>
              <a:ext cx="1148122" cy="326085"/>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3. Xem thông tin lịch hẹn</a:t>
              </a:r>
            </a:p>
          </p:txBody>
        </p:sp>
      </p:grpSp>
      <p:sp>
        <p:nvSpPr>
          <p:cNvPr name="Freeform 11" id="11"/>
          <p:cNvSpPr/>
          <p:nvPr/>
        </p:nvSpPr>
        <p:spPr>
          <a:xfrm flipH="false" flipV="false" rot="0">
            <a:off x="528487" y="3594320"/>
            <a:ext cx="8110612" cy="5941023"/>
          </a:xfrm>
          <a:custGeom>
            <a:avLst/>
            <a:gdLst/>
            <a:ahLst/>
            <a:cxnLst/>
            <a:rect r="r" b="b" t="t" l="l"/>
            <a:pathLst>
              <a:path h="5941023" w="8110612">
                <a:moveTo>
                  <a:pt x="0" y="0"/>
                </a:moveTo>
                <a:lnTo>
                  <a:pt x="8110612" y="0"/>
                </a:lnTo>
                <a:lnTo>
                  <a:pt x="8110612" y="5941023"/>
                </a:lnTo>
                <a:lnTo>
                  <a:pt x="0" y="5941023"/>
                </a:lnTo>
                <a:lnTo>
                  <a:pt x="0" y="0"/>
                </a:lnTo>
                <a:close/>
              </a:path>
            </a:pathLst>
          </a:custGeom>
          <a:blipFill>
            <a:blip r:embed="rId4"/>
            <a:stretch>
              <a:fillRect l="0" t="0" r="0" b="0"/>
            </a:stretch>
          </a:blipFill>
        </p:spPr>
      </p:sp>
      <p:sp>
        <p:nvSpPr>
          <p:cNvPr name="Freeform 12" id="12"/>
          <p:cNvSpPr/>
          <p:nvPr/>
        </p:nvSpPr>
        <p:spPr>
          <a:xfrm flipH="false" flipV="false" rot="0">
            <a:off x="9846571" y="2656389"/>
            <a:ext cx="7020392" cy="5212641"/>
          </a:xfrm>
          <a:custGeom>
            <a:avLst/>
            <a:gdLst/>
            <a:ahLst/>
            <a:cxnLst/>
            <a:rect r="r" b="b" t="t" l="l"/>
            <a:pathLst>
              <a:path h="5212641" w="7020392">
                <a:moveTo>
                  <a:pt x="0" y="0"/>
                </a:moveTo>
                <a:lnTo>
                  <a:pt x="7020392" y="0"/>
                </a:lnTo>
                <a:lnTo>
                  <a:pt x="7020392" y="5212641"/>
                </a:lnTo>
                <a:lnTo>
                  <a:pt x="0" y="5212641"/>
                </a:lnTo>
                <a:lnTo>
                  <a:pt x="0" y="0"/>
                </a:lnTo>
                <a:close/>
              </a:path>
            </a:pathLst>
          </a:custGeom>
          <a:blipFill>
            <a:blip r:embed="rId5"/>
            <a:stretch>
              <a:fillRect l="0" t="0" r="0" b="0"/>
            </a:stretch>
          </a:blipFill>
        </p:spPr>
      </p:sp>
      <p:sp>
        <p:nvSpPr>
          <p:cNvPr name="TextBox 13" id="13"/>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AutoShape 14" id="14"/>
          <p:cNvSpPr/>
          <p:nvPr/>
        </p:nvSpPr>
        <p:spPr>
          <a:xfrm flipV="true">
            <a:off x="7997140" y="5262710"/>
            <a:ext cx="1849431" cy="1302122"/>
          </a:xfrm>
          <a:prstGeom prst="line">
            <a:avLst/>
          </a:prstGeom>
          <a:ln cap="flat" w="95250">
            <a:gradFill>
              <a:gsLst>
                <a:gs pos="0">
                  <a:srgbClr val="004AAD">
                    <a:alpha val="53000"/>
                  </a:srgbClr>
                </a:gs>
                <a:gs pos="100000">
                  <a:srgbClr val="CB6CE6">
                    <a:alpha val="53000"/>
                  </a:srgbClr>
                </a:gs>
              </a:gsLst>
              <a:lin ang="0"/>
            </a:gradFill>
            <a:prstDash val="solid"/>
            <a:headEnd type="none" len="sm" w="sm"/>
            <a:tailEnd type="triangle" len="med" w="lg"/>
          </a:ln>
        </p:spPr>
      </p:sp>
    </p:spTree>
  </p:cSld>
  <p:clrMapOvr>
    <a:masterClrMapping/>
  </p:clrMapOvr>
  <p:transition spd="fast">
    <p:wipe dir="l"/>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3" id="3"/>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136214">
            <a:off x="16418252" y="-3288441"/>
            <a:ext cx="6311745" cy="5554335"/>
          </a:xfrm>
          <a:custGeom>
            <a:avLst/>
            <a:gdLst/>
            <a:ahLst/>
            <a:cxnLst/>
            <a:rect r="r" b="b" t="t" l="l"/>
            <a:pathLst>
              <a:path h="5554335" w="6311745">
                <a:moveTo>
                  <a:pt x="0" y="0"/>
                </a:moveTo>
                <a:lnTo>
                  <a:pt x="6311744" y="0"/>
                </a:lnTo>
                <a:lnTo>
                  <a:pt x="6311744"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0" y="203353"/>
            <a:ext cx="5291564" cy="1178869"/>
            <a:chOff x="0" y="0"/>
            <a:chExt cx="1151333" cy="256497"/>
          </a:xfrm>
        </p:grpSpPr>
        <p:sp>
          <p:nvSpPr>
            <p:cNvPr name="Freeform 6" id="6"/>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7" id="7"/>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8" id="8"/>
          <p:cNvGrpSpPr/>
          <p:nvPr/>
        </p:nvGrpSpPr>
        <p:grpSpPr>
          <a:xfrm rot="0">
            <a:off x="121391" y="1544704"/>
            <a:ext cx="4935758" cy="980237"/>
            <a:chOff x="0" y="0"/>
            <a:chExt cx="1402122" cy="278460"/>
          </a:xfrm>
        </p:grpSpPr>
        <p:sp>
          <p:nvSpPr>
            <p:cNvPr name="Freeform 9" id="9"/>
            <p:cNvSpPr/>
            <p:nvPr/>
          </p:nvSpPr>
          <p:spPr>
            <a:xfrm flipH="false" flipV="false" rot="0">
              <a:off x="0" y="0"/>
              <a:ext cx="1402122" cy="278460"/>
            </a:xfrm>
            <a:custGeom>
              <a:avLst/>
              <a:gdLst/>
              <a:ahLst/>
              <a:cxnLst/>
              <a:rect r="r" b="b" t="t" l="l"/>
              <a:pathLst>
                <a:path h="278460" w="1402122">
                  <a:moveTo>
                    <a:pt x="0" y="0"/>
                  </a:moveTo>
                  <a:lnTo>
                    <a:pt x="1198922" y="0"/>
                  </a:lnTo>
                  <a:lnTo>
                    <a:pt x="1402122" y="139230"/>
                  </a:lnTo>
                  <a:lnTo>
                    <a:pt x="1198922" y="278460"/>
                  </a:lnTo>
                  <a:lnTo>
                    <a:pt x="0" y="278460"/>
                  </a:lnTo>
                  <a:lnTo>
                    <a:pt x="203200" y="139230"/>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0" id="10"/>
            <p:cNvSpPr txBox="true"/>
            <p:nvPr/>
          </p:nvSpPr>
          <p:spPr>
            <a:xfrm>
              <a:off x="177800" y="-47625"/>
              <a:ext cx="1148122" cy="326085"/>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3. Xem thông tin lịch hẹn</a:t>
              </a:r>
            </a:p>
          </p:txBody>
        </p:sp>
      </p:grpSp>
      <p:sp>
        <p:nvSpPr>
          <p:cNvPr name="Freeform 11" id="11"/>
          <p:cNvSpPr/>
          <p:nvPr/>
        </p:nvSpPr>
        <p:spPr>
          <a:xfrm flipH="false" flipV="false" rot="0">
            <a:off x="452050" y="2976298"/>
            <a:ext cx="8133765" cy="6039321"/>
          </a:xfrm>
          <a:custGeom>
            <a:avLst/>
            <a:gdLst/>
            <a:ahLst/>
            <a:cxnLst/>
            <a:rect r="r" b="b" t="t" l="l"/>
            <a:pathLst>
              <a:path h="6039321" w="8133765">
                <a:moveTo>
                  <a:pt x="0" y="0"/>
                </a:moveTo>
                <a:lnTo>
                  <a:pt x="8133766" y="0"/>
                </a:lnTo>
                <a:lnTo>
                  <a:pt x="8133766" y="6039321"/>
                </a:lnTo>
                <a:lnTo>
                  <a:pt x="0" y="6039321"/>
                </a:lnTo>
                <a:lnTo>
                  <a:pt x="0" y="0"/>
                </a:lnTo>
                <a:close/>
              </a:path>
            </a:pathLst>
          </a:custGeom>
          <a:blipFill>
            <a:blip r:embed="rId4"/>
            <a:stretch>
              <a:fillRect l="0" t="0" r="0" b="0"/>
            </a:stretch>
          </a:blipFill>
        </p:spPr>
      </p:sp>
      <p:sp>
        <p:nvSpPr>
          <p:cNvPr name="AutoShape 12" id="12"/>
          <p:cNvSpPr/>
          <p:nvPr/>
        </p:nvSpPr>
        <p:spPr>
          <a:xfrm flipV="true">
            <a:off x="6779712" y="3623792"/>
            <a:ext cx="2060249" cy="4474546"/>
          </a:xfrm>
          <a:prstGeom prst="line">
            <a:avLst/>
          </a:prstGeom>
          <a:ln cap="flat" w="38100">
            <a:solidFill>
              <a:srgbClr val="000000"/>
            </a:solidFill>
            <a:prstDash val="solid"/>
            <a:headEnd type="none" len="sm" w="sm"/>
            <a:tailEnd type="arrow" len="sm" w="med"/>
          </a:ln>
        </p:spPr>
      </p:sp>
      <p:sp>
        <p:nvSpPr>
          <p:cNvPr name="Freeform 13" id="13"/>
          <p:cNvSpPr/>
          <p:nvPr/>
        </p:nvSpPr>
        <p:spPr>
          <a:xfrm flipH="false" flipV="false" rot="0">
            <a:off x="8839962" y="173882"/>
            <a:ext cx="7177124" cy="3420439"/>
          </a:xfrm>
          <a:custGeom>
            <a:avLst/>
            <a:gdLst/>
            <a:ahLst/>
            <a:cxnLst/>
            <a:rect r="r" b="b" t="t" l="l"/>
            <a:pathLst>
              <a:path h="3420439" w="7177124">
                <a:moveTo>
                  <a:pt x="0" y="0"/>
                </a:moveTo>
                <a:lnTo>
                  <a:pt x="7177123" y="0"/>
                </a:lnTo>
                <a:lnTo>
                  <a:pt x="7177123" y="3420438"/>
                </a:lnTo>
                <a:lnTo>
                  <a:pt x="0" y="3420438"/>
                </a:lnTo>
                <a:lnTo>
                  <a:pt x="0" y="0"/>
                </a:lnTo>
                <a:close/>
              </a:path>
            </a:pathLst>
          </a:custGeom>
          <a:blipFill>
            <a:blip r:embed="rId5"/>
            <a:stretch>
              <a:fillRect l="0" t="0" r="0" b="0"/>
            </a:stretch>
          </a:blipFill>
        </p:spPr>
      </p:sp>
      <p:sp>
        <p:nvSpPr>
          <p:cNvPr name="AutoShape 14" id="14"/>
          <p:cNvSpPr/>
          <p:nvPr/>
        </p:nvSpPr>
        <p:spPr>
          <a:xfrm flipV="true">
            <a:off x="7869037" y="7852253"/>
            <a:ext cx="3143220" cy="449632"/>
          </a:xfrm>
          <a:prstGeom prst="line">
            <a:avLst/>
          </a:prstGeom>
          <a:ln cap="flat" w="38100">
            <a:solidFill>
              <a:srgbClr val="000000"/>
            </a:solidFill>
            <a:prstDash val="solid"/>
            <a:headEnd type="none" len="sm" w="sm"/>
            <a:tailEnd type="arrow" len="sm" w="med"/>
          </a:ln>
        </p:spPr>
      </p:sp>
      <p:sp>
        <p:nvSpPr>
          <p:cNvPr name="Freeform 15" id="15"/>
          <p:cNvSpPr/>
          <p:nvPr/>
        </p:nvSpPr>
        <p:spPr>
          <a:xfrm flipH="false" flipV="false" rot="0">
            <a:off x="11012257" y="5143500"/>
            <a:ext cx="6681378" cy="3549482"/>
          </a:xfrm>
          <a:custGeom>
            <a:avLst/>
            <a:gdLst/>
            <a:ahLst/>
            <a:cxnLst/>
            <a:rect r="r" b="b" t="t" l="l"/>
            <a:pathLst>
              <a:path h="3549482" w="6681378">
                <a:moveTo>
                  <a:pt x="0" y="0"/>
                </a:moveTo>
                <a:lnTo>
                  <a:pt x="6681377" y="0"/>
                </a:lnTo>
                <a:lnTo>
                  <a:pt x="6681377" y="3549482"/>
                </a:lnTo>
                <a:lnTo>
                  <a:pt x="0" y="3549482"/>
                </a:lnTo>
                <a:lnTo>
                  <a:pt x="0" y="0"/>
                </a:lnTo>
                <a:close/>
              </a:path>
            </a:pathLst>
          </a:custGeom>
          <a:blipFill>
            <a:blip r:embed="rId6"/>
            <a:stretch>
              <a:fillRect l="0" t="0" r="0" b="0"/>
            </a:stretch>
          </a:blipFill>
        </p:spPr>
      </p:sp>
      <p:sp>
        <p:nvSpPr>
          <p:cNvPr name="TextBox 16" id="16"/>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fast">
    <p:wipe dir="l"/>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50754" y="4592110"/>
            <a:ext cx="2590056" cy="2590056"/>
          </a:xfrm>
          <a:custGeom>
            <a:avLst/>
            <a:gdLst/>
            <a:ahLst/>
            <a:cxnLst/>
            <a:rect r="r" b="b" t="t" l="l"/>
            <a:pathLst>
              <a:path h="2590056" w="2590056">
                <a:moveTo>
                  <a:pt x="0" y="0"/>
                </a:moveTo>
                <a:lnTo>
                  <a:pt x="2590056" y="0"/>
                </a:lnTo>
                <a:lnTo>
                  <a:pt x="2590056" y="2590057"/>
                </a:lnTo>
                <a:lnTo>
                  <a:pt x="0" y="2590057"/>
                </a:lnTo>
                <a:lnTo>
                  <a:pt x="0" y="0"/>
                </a:lnTo>
                <a:close/>
              </a:path>
            </a:pathLst>
          </a:custGeom>
          <a:blipFill>
            <a:blip r:embed="rId2"/>
            <a:stretch>
              <a:fillRect l="0" t="0" r="0" b="0"/>
            </a:stretch>
          </a:blipFill>
        </p:spPr>
      </p:sp>
      <p:grpSp>
        <p:nvGrpSpPr>
          <p:cNvPr name="Group 3" id="3"/>
          <p:cNvGrpSpPr/>
          <p:nvPr/>
        </p:nvGrpSpPr>
        <p:grpSpPr>
          <a:xfrm rot="0">
            <a:off x="4419207" y="4128595"/>
            <a:ext cx="3086100" cy="820175"/>
            <a:chOff x="0" y="0"/>
            <a:chExt cx="812800" cy="216013"/>
          </a:xfrm>
        </p:grpSpPr>
        <p:sp>
          <p:nvSpPr>
            <p:cNvPr name="Freeform 4" id="4"/>
            <p:cNvSpPr/>
            <p:nvPr/>
          </p:nvSpPr>
          <p:spPr>
            <a:xfrm flipH="false" flipV="false" rot="0">
              <a:off x="0" y="0"/>
              <a:ext cx="812800" cy="216013"/>
            </a:xfrm>
            <a:custGeom>
              <a:avLst/>
              <a:gdLst/>
              <a:ahLst/>
              <a:cxnLst/>
              <a:rect r="r" b="b" t="t" l="l"/>
              <a:pathLst>
                <a:path h="216013" w="812800">
                  <a:moveTo>
                    <a:pt x="108007" y="0"/>
                  </a:moveTo>
                  <a:lnTo>
                    <a:pt x="704793" y="0"/>
                  </a:lnTo>
                  <a:cubicBezTo>
                    <a:pt x="733439" y="0"/>
                    <a:pt x="760910" y="11379"/>
                    <a:pt x="781166" y="31634"/>
                  </a:cubicBezTo>
                  <a:cubicBezTo>
                    <a:pt x="801421" y="51890"/>
                    <a:pt x="812800" y="79361"/>
                    <a:pt x="812800" y="108007"/>
                  </a:cubicBezTo>
                  <a:lnTo>
                    <a:pt x="812800" y="108007"/>
                  </a:lnTo>
                  <a:cubicBezTo>
                    <a:pt x="812800" y="167657"/>
                    <a:pt x="764444" y="216013"/>
                    <a:pt x="704793" y="216013"/>
                  </a:cubicBezTo>
                  <a:lnTo>
                    <a:pt x="108007" y="216013"/>
                  </a:lnTo>
                  <a:cubicBezTo>
                    <a:pt x="79361" y="216013"/>
                    <a:pt x="51890" y="204634"/>
                    <a:pt x="31634" y="184379"/>
                  </a:cubicBezTo>
                  <a:cubicBezTo>
                    <a:pt x="11379" y="164124"/>
                    <a:pt x="0" y="136652"/>
                    <a:pt x="0" y="108007"/>
                  </a:cubicBezTo>
                  <a:lnTo>
                    <a:pt x="0" y="108007"/>
                  </a:lnTo>
                  <a:cubicBezTo>
                    <a:pt x="0" y="79361"/>
                    <a:pt x="11379" y="51890"/>
                    <a:pt x="31634" y="31634"/>
                  </a:cubicBezTo>
                  <a:cubicBezTo>
                    <a:pt x="51890" y="11379"/>
                    <a:pt x="79361" y="0"/>
                    <a:pt x="108007" y="0"/>
                  </a:cubicBezTo>
                  <a:close/>
                </a:path>
              </a:pathLst>
            </a:custGeom>
            <a:gradFill rotWithShape="true">
              <a:gsLst>
                <a:gs pos="0">
                  <a:srgbClr val="004AAD">
                    <a:alpha val="100000"/>
                  </a:srgbClr>
                </a:gs>
                <a:gs pos="100000">
                  <a:srgbClr val="CB6CE6">
                    <a:alpha val="100000"/>
                  </a:srgbClr>
                </a:gs>
              </a:gsLst>
              <a:lin ang="0"/>
            </a:gradFill>
          </p:spPr>
        </p:sp>
        <p:sp>
          <p:nvSpPr>
            <p:cNvPr name="TextBox 5" id="5"/>
            <p:cNvSpPr txBox="true"/>
            <p:nvPr/>
          </p:nvSpPr>
          <p:spPr>
            <a:xfrm>
              <a:off x="0" y="-47625"/>
              <a:ext cx="812800" cy="263638"/>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Có lịch hẹn mới</a:t>
              </a:r>
            </a:p>
          </p:txBody>
        </p:sp>
      </p:grpSp>
      <p:grpSp>
        <p:nvGrpSpPr>
          <p:cNvPr name="Group 6" id="6"/>
          <p:cNvGrpSpPr/>
          <p:nvPr/>
        </p:nvGrpSpPr>
        <p:grpSpPr>
          <a:xfrm rot="0">
            <a:off x="1386042" y="7182167"/>
            <a:ext cx="2554768" cy="561137"/>
            <a:chOff x="0" y="0"/>
            <a:chExt cx="672861" cy="147789"/>
          </a:xfrm>
        </p:grpSpPr>
        <p:sp>
          <p:nvSpPr>
            <p:cNvPr name="Freeform 7" id="7"/>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8" id="8"/>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grpSp>
        <p:nvGrpSpPr>
          <p:cNvPr name="Group 9" id="9"/>
          <p:cNvGrpSpPr/>
          <p:nvPr/>
        </p:nvGrpSpPr>
        <p:grpSpPr>
          <a:xfrm rot="0">
            <a:off x="10412879" y="1771780"/>
            <a:ext cx="4628461" cy="820175"/>
            <a:chOff x="0" y="0"/>
            <a:chExt cx="1219019" cy="216013"/>
          </a:xfrm>
        </p:grpSpPr>
        <p:sp>
          <p:nvSpPr>
            <p:cNvPr name="Freeform 10" id="10"/>
            <p:cNvSpPr/>
            <p:nvPr/>
          </p:nvSpPr>
          <p:spPr>
            <a:xfrm flipH="false" flipV="false" rot="0">
              <a:off x="0" y="0"/>
              <a:ext cx="1219019" cy="216013"/>
            </a:xfrm>
            <a:custGeom>
              <a:avLst/>
              <a:gdLst/>
              <a:ahLst/>
              <a:cxnLst/>
              <a:rect r="r" b="b" t="t" l="l"/>
              <a:pathLst>
                <a:path h="216013" w="1219019">
                  <a:moveTo>
                    <a:pt x="85307" y="0"/>
                  </a:moveTo>
                  <a:lnTo>
                    <a:pt x="1133712" y="0"/>
                  </a:lnTo>
                  <a:cubicBezTo>
                    <a:pt x="1180826" y="0"/>
                    <a:pt x="1219019" y="38193"/>
                    <a:pt x="1219019" y="85307"/>
                  </a:cubicBezTo>
                  <a:lnTo>
                    <a:pt x="1219019" y="130707"/>
                  </a:lnTo>
                  <a:cubicBezTo>
                    <a:pt x="1219019" y="177820"/>
                    <a:pt x="1180826" y="216013"/>
                    <a:pt x="1133712" y="216013"/>
                  </a:cubicBezTo>
                  <a:lnTo>
                    <a:pt x="85307" y="216013"/>
                  </a:lnTo>
                  <a:cubicBezTo>
                    <a:pt x="38193" y="216013"/>
                    <a:pt x="0" y="177820"/>
                    <a:pt x="0" y="130707"/>
                  </a:cubicBezTo>
                  <a:lnTo>
                    <a:pt x="0" y="85307"/>
                  </a:lnTo>
                  <a:cubicBezTo>
                    <a:pt x="0" y="38193"/>
                    <a:pt x="38193" y="0"/>
                    <a:pt x="85307" y="0"/>
                  </a:cubicBezTo>
                  <a:close/>
                </a:path>
              </a:pathLst>
            </a:custGeom>
            <a:gradFill rotWithShape="true">
              <a:gsLst>
                <a:gs pos="0">
                  <a:srgbClr val="004AAD">
                    <a:alpha val="100000"/>
                  </a:srgbClr>
                </a:gs>
                <a:gs pos="100000">
                  <a:srgbClr val="CB6CE6">
                    <a:alpha val="100000"/>
                  </a:srgbClr>
                </a:gs>
              </a:gsLst>
              <a:lin ang="0"/>
            </a:gradFill>
          </p:spPr>
        </p:sp>
        <p:sp>
          <p:nvSpPr>
            <p:cNvPr name="TextBox 11" id="11"/>
            <p:cNvSpPr txBox="true"/>
            <p:nvPr/>
          </p:nvSpPr>
          <p:spPr>
            <a:xfrm>
              <a:off x="0" y="-47625"/>
              <a:ext cx="1219019" cy="263638"/>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Xem xét lịch hẹn</a:t>
              </a:r>
            </a:p>
          </p:txBody>
        </p:sp>
      </p:grpSp>
      <p:sp>
        <p:nvSpPr>
          <p:cNvPr name="Freeform 12" id="12"/>
          <p:cNvSpPr/>
          <p:nvPr/>
        </p:nvSpPr>
        <p:spPr>
          <a:xfrm flipH="false" flipV="false" rot="0">
            <a:off x="2937036" y="4128595"/>
            <a:ext cx="1482171" cy="927031"/>
          </a:xfrm>
          <a:custGeom>
            <a:avLst/>
            <a:gdLst/>
            <a:ahLst/>
            <a:cxnLst/>
            <a:rect r="r" b="b" t="t" l="l"/>
            <a:pathLst>
              <a:path h="927031" w="1482171">
                <a:moveTo>
                  <a:pt x="0" y="0"/>
                </a:moveTo>
                <a:lnTo>
                  <a:pt x="1482171" y="0"/>
                </a:lnTo>
                <a:lnTo>
                  <a:pt x="1482171" y="927031"/>
                </a:lnTo>
                <a:lnTo>
                  <a:pt x="0" y="9270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4" id="14"/>
          <p:cNvSpPr/>
          <p:nvPr/>
        </p:nvSpPr>
        <p:spPr>
          <a:xfrm flipH="false" flipV="false" rot="7136214">
            <a:off x="16418252" y="-3288441"/>
            <a:ext cx="6311745" cy="5554335"/>
          </a:xfrm>
          <a:custGeom>
            <a:avLst/>
            <a:gdLst/>
            <a:ahLst/>
            <a:cxnLst/>
            <a:rect r="r" b="b" t="t" l="l"/>
            <a:pathLst>
              <a:path h="5554335" w="6311745">
                <a:moveTo>
                  <a:pt x="0" y="0"/>
                </a:moveTo>
                <a:lnTo>
                  <a:pt x="6311744" y="0"/>
                </a:lnTo>
                <a:lnTo>
                  <a:pt x="6311744" y="5554336"/>
                </a:lnTo>
                <a:lnTo>
                  <a:pt x="0" y="55543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15" id="15"/>
          <p:cNvGrpSpPr/>
          <p:nvPr/>
        </p:nvGrpSpPr>
        <p:grpSpPr>
          <a:xfrm rot="0">
            <a:off x="0" y="203353"/>
            <a:ext cx="5291564" cy="1178869"/>
            <a:chOff x="0" y="0"/>
            <a:chExt cx="1151333" cy="256497"/>
          </a:xfrm>
        </p:grpSpPr>
        <p:sp>
          <p:nvSpPr>
            <p:cNvPr name="Freeform 16" id="16"/>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7" id="17"/>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8" id="18"/>
          <p:cNvGrpSpPr/>
          <p:nvPr/>
        </p:nvGrpSpPr>
        <p:grpSpPr>
          <a:xfrm rot="0">
            <a:off x="121391" y="1544704"/>
            <a:ext cx="4293799" cy="902923"/>
            <a:chOff x="0" y="0"/>
            <a:chExt cx="1219758" cy="256497"/>
          </a:xfrm>
        </p:grpSpPr>
        <p:sp>
          <p:nvSpPr>
            <p:cNvPr name="Freeform 19" id="19"/>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0" id="20"/>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1.Quy trình đặt lịch </a:t>
              </a:r>
            </a:p>
          </p:txBody>
        </p:sp>
      </p:grpSp>
      <p:sp>
        <p:nvSpPr>
          <p:cNvPr name="Freeform 21" id="21"/>
          <p:cNvSpPr/>
          <p:nvPr/>
        </p:nvSpPr>
        <p:spPr>
          <a:xfrm flipH="false" flipV="false" rot="0">
            <a:off x="8154973" y="2830278"/>
            <a:ext cx="9491105" cy="5706527"/>
          </a:xfrm>
          <a:custGeom>
            <a:avLst/>
            <a:gdLst/>
            <a:ahLst/>
            <a:cxnLst/>
            <a:rect r="r" b="b" t="t" l="l"/>
            <a:pathLst>
              <a:path h="5706527" w="9491105">
                <a:moveTo>
                  <a:pt x="0" y="0"/>
                </a:moveTo>
                <a:lnTo>
                  <a:pt x="9491105" y="0"/>
                </a:lnTo>
                <a:lnTo>
                  <a:pt x="9491105" y="5706527"/>
                </a:lnTo>
                <a:lnTo>
                  <a:pt x="0" y="5706527"/>
                </a:lnTo>
                <a:lnTo>
                  <a:pt x="0" y="0"/>
                </a:lnTo>
                <a:close/>
              </a:path>
            </a:pathLst>
          </a:custGeom>
          <a:blipFill>
            <a:blip r:embed="rId7"/>
            <a:stretch>
              <a:fillRect l="0" t="0" r="0" b="0"/>
            </a:stretch>
          </a:blipFill>
        </p:spPr>
      </p:sp>
      <p:sp>
        <p:nvSpPr>
          <p:cNvPr name="TextBox 22" id="22"/>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23" id="23"/>
          <p:cNvSpPr/>
          <p:nvPr/>
        </p:nvSpPr>
        <p:spPr>
          <a:xfrm flipH="false" flipV="false" rot="0">
            <a:off x="15616720" y="4826428"/>
            <a:ext cx="838592" cy="857113"/>
          </a:xfrm>
          <a:custGeom>
            <a:avLst/>
            <a:gdLst/>
            <a:ahLst/>
            <a:cxnLst/>
            <a:rect r="r" b="b" t="t" l="l"/>
            <a:pathLst>
              <a:path h="857113" w="838592">
                <a:moveTo>
                  <a:pt x="0" y="0"/>
                </a:moveTo>
                <a:lnTo>
                  <a:pt x="838593" y="0"/>
                </a:lnTo>
                <a:lnTo>
                  <a:pt x="838593" y="857114"/>
                </a:lnTo>
                <a:lnTo>
                  <a:pt x="0" y="857114"/>
                </a:lnTo>
                <a:lnTo>
                  <a:pt x="0" y="0"/>
                </a:lnTo>
                <a:close/>
              </a:path>
            </a:pathLst>
          </a:custGeom>
          <a:blipFill>
            <a:blip r:embed="rId8"/>
            <a:stretch>
              <a:fillRect l="-9203" t="-3421" r="0" b="-3421"/>
            </a:stretch>
          </a:blipFill>
        </p:spPr>
      </p:sp>
    </p:spTree>
  </p:cSld>
  <p:clrMapOvr>
    <a:masterClrMapping/>
  </p:clrMapOvr>
  <p:transition spd="fast">
    <p:wipe dir="l"/>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12950" y="895210"/>
            <a:ext cx="3086100" cy="820175"/>
            <a:chOff x="0" y="0"/>
            <a:chExt cx="812800" cy="216013"/>
          </a:xfrm>
        </p:grpSpPr>
        <p:sp>
          <p:nvSpPr>
            <p:cNvPr name="Freeform 3" id="3"/>
            <p:cNvSpPr/>
            <p:nvPr/>
          </p:nvSpPr>
          <p:spPr>
            <a:xfrm flipH="false" flipV="false" rot="0">
              <a:off x="0" y="0"/>
              <a:ext cx="812800" cy="216013"/>
            </a:xfrm>
            <a:custGeom>
              <a:avLst/>
              <a:gdLst/>
              <a:ahLst/>
              <a:cxnLst/>
              <a:rect r="r" b="b" t="t" l="l"/>
              <a:pathLst>
                <a:path h="216013" w="812800">
                  <a:moveTo>
                    <a:pt x="108007" y="0"/>
                  </a:moveTo>
                  <a:lnTo>
                    <a:pt x="704793" y="0"/>
                  </a:lnTo>
                  <a:cubicBezTo>
                    <a:pt x="733439" y="0"/>
                    <a:pt x="760910" y="11379"/>
                    <a:pt x="781166" y="31634"/>
                  </a:cubicBezTo>
                  <a:cubicBezTo>
                    <a:pt x="801421" y="51890"/>
                    <a:pt x="812800" y="79361"/>
                    <a:pt x="812800" y="108007"/>
                  </a:cubicBezTo>
                  <a:lnTo>
                    <a:pt x="812800" y="108007"/>
                  </a:lnTo>
                  <a:cubicBezTo>
                    <a:pt x="812800" y="167657"/>
                    <a:pt x="764444" y="216013"/>
                    <a:pt x="704793" y="216013"/>
                  </a:cubicBezTo>
                  <a:lnTo>
                    <a:pt x="108007" y="216013"/>
                  </a:lnTo>
                  <a:cubicBezTo>
                    <a:pt x="79361" y="216013"/>
                    <a:pt x="51890" y="204634"/>
                    <a:pt x="31634" y="184379"/>
                  </a:cubicBezTo>
                  <a:cubicBezTo>
                    <a:pt x="11379" y="164124"/>
                    <a:pt x="0" y="136652"/>
                    <a:pt x="0" y="108007"/>
                  </a:cubicBezTo>
                  <a:lnTo>
                    <a:pt x="0" y="108007"/>
                  </a:lnTo>
                  <a:cubicBezTo>
                    <a:pt x="0" y="79361"/>
                    <a:pt x="11379" y="51890"/>
                    <a:pt x="31634" y="31634"/>
                  </a:cubicBezTo>
                  <a:cubicBezTo>
                    <a:pt x="51890" y="11379"/>
                    <a:pt x="79361" y="0"/>
                    <a:pt x="108007" y="0"/>
                  </a:cubicBezTo>
                  <a:close/>
                </a:path>
              </a:pathLst>
            </a:custGeom>
            <a:gradFill rotWithShape="true">
              <a:gsLst>
                <a:gs pos="0">
                  <a:srgbClr val="004AAD">
                    <a:alpha val="100000"/>
                  </a:srgbClr>
                </a:gs>
                <a:gs pos="100000">
                  <a:srgbClr val="CB6CE6">
                    <a:alpha val="100000"/>
                  </a:srgbClr>
                </a:gs>
              </a:gsLst>
              <a:lin ang="0"/>
            </a:gradFill>
          </p:spPr>
        </p:sp>
        <p:sp>
          <p:nvSpPr>
            <p:cNvPr name="TextBox 4" id="4"/>
            <p:cNvSpPr txBox="true"/>
            <p:nvPr/>
          </p:nvSpPr>
          <p:spPr>
            <a:xfrm>
              <a:off x="0" y="-47625"/>
              <a:ext cx="812800" cy="263638"/>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Check list</a:t>
              </a:r>
            </a:p>
          </p:txBody>
        </p:sp>
      </p:grpSp>
      <p:sp>
        <p:nvSpPr>
          <p:cNvPr name="Freeform 5" id="5"/>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612146" y="4508952"/>
            <a:ext cx="2139305" cy="2139305"/>
          </a:xfrm>
          <a:custGeom>
            <a:avLst/>
            <a:gdLst/>
            <a:ahLst/>
            <a:cxnLst/>
            <a:rect r="r" b="b" t="t" l="l"/>
            <a:pathLst>
              <a:path h="2139305" w="2139305">
                <a:moveTo>
                  <a:pt x="0" y="0"/>
                </a:moveTo>
                <a:lnTo>
                  <a:pt x="2139305" y="0"/>
                </a:lnTo>
                <a:lnTo>
                  <a:pt x="2139305" y="2139305"/>
                </a:lnTo>
                <a:lnTo>
                  <a:pt x="0" y="2139305"/>
                </a:lnTo>
                <a:lnTo>
                  <a:pt x="0" y="0"/>
                </a:lnTo>
                <a:close/>
              </a:path>
            </a:pathLst>
          </a:custGeom>
          <a:blipFill>
            <a:blip r:embed="rId4"/>
            <a:stretch>
              <a:fillRect l="0" t="0" r="0" b="0"/>
            </a:stretch>
          </a:blipFill>
        </p:spPr>
      </p:sp>
      <p:grpSp>
        <p:nvGrpSpPr>
          <p:cNvPr name="Group 8" id="8"/>
          <p:cNvGrpSpPr/>
          <p:nvPr/>
        </p:nvGrpSpPr>
        <p:grpSpPr>
          <a:xfrm rot="0">
            <a:off x="0" y="203353"/>
            <a:ext cx="5291564" cy="1178869"/>
            <a:chOff x="0" y="0"/>
            <a:chExt cx="1151333" cy="256497"/>
          </a:xfrm>
        </p:grpSpPr>
        <p:sp>
          <p:nvSpPr>
            <p:cNvPr name="Freeform 9" id="9"/>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0" id="10"/>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1" id="11"/>
          <p:cNvGrpSpPr/>
          <p:nvPr/>
        </p:nvGrpSpPr>
        <p:grpSpPr>
          <a:xfrm rot="0">
            <a:off x="121391" y="1544704"/>
            <a:ext cx="4293799" cy="902923"/>
            <a:chOff x="0" y="0"/>
            <a:chExt cx="1219758" cy="256497"/>
          </a:xfrm>
        </p:grpSpPr>
        <p:sp>
          <p:nvSpPr>
            <p:cNvPr name="Freeform 12" id="12"/>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3" id="13"/>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1.Quy trình đặt lịch </a:t>
              </a:r>
            </a:p>
          </p:txBody>
        </p:sp>
      </p:grpSp>
      <p:sp>
        <p:nvSpPr>
          <p:cNvPr name="Freeform 14" id="14"/>
          <p:cNvSpPr/>
          <p:nvPr/>
        </p:nvSpPr>
        <p:spPr>
          <a:xfrm flipH="false" flipV="false" rot="0">
            <a:off x="6684163" y="1986211"/>
            <a:ext cx="11301259" cy="6314578"/>
          </a:xfrm>
          <a:custGeom>
            <a:avLst/>
            <a:gdLst/>
            <a:ahLst/>
            <a:cxnLst/>
            <a:rect r="r" b="b" t="t" l="l"/>
            <a:pathLst>
              <a:path h="6314578" w="11301259">
                <a:moveTo>
                  <a:pt x="0" y="0"/>
                </a:moveTo>
                <a:lnTo>
                  <a:pt x="11301259" y="0"/>
                </a:lnTo>
                <a:lnTo>
                  <a:pt x="11301259" y="6314578"/>
                </a:lnTo>
                <a:lnTo>
                  <a:pt x="0" y="6314578"/>
                </a:lnTo>
                <a:lnTo>
                  <a:pt x="0" y="0"/>
                </a:lnTo>
                <a:close/>
              </a:path>
            </a:pathLst>
          </a:custGeom>
          <a:blipFill>
            <a:blip r:embed="rId5"/>
            <a:stretch>
              <a:fillRect l="0" t="0" r="0" b="0"/>
            </a:stretch>
          </a:blipFill>
        </p:spPr>
      </p:sp>
      <p:sp>
        <p:nvSpPr>
          <p:cNvPr name="TextBox 15" id="15"/>
          <p:cNvSpPr txBox="true"/>
          <p:nvPr/>
        </p:nvSpPr>
        <p:spPr>
          <a:xfrm rot="0">
            <a:off x="1473748" y="6918333"/>
            <a:ext cx="2416100"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Customer</a:t>
            </a:r>
          </a:p>
        </p:txBody>
      </p:sp>
      <p:sp>
        <p:nvSpPr>
          <p:cNvPr name="TextBox 16" id="16"/>
          <p:cNvSpPr txBox="true"/>
          <p:nvPr/>
        </p:nvSpPr>
        <p:spPr>
          <a:xfrm rot="0">
            <a:off x="15401567" y="93996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49292" y="1927845"/>
            <a:ext cx="10396603" cy="5848089"/>
          </a:xfrm>
          <a:custGeom>
            <a:avLst/>
            <a:gdLst/>
            <a:ahLst/>
            <a:cxnLst/>
            <a:rect r="r" b="b" t="t" l="l"/>
            <a:pathLst>
              <a:path h="5848089" w="10396603">
                <a:moveTo>
                  <a:pt x="0" y="0"/>
                </a:moveTo>
                <a:lnTo>
                  <a:pt x="10396603" y="0"/>
                </a:lnTo>
                <a:lnTo>
                  <a:pt x="10396603" y="5848089"/>
                </a:lnTo>
                <a:lnTo>
                  <a:pt x="0" y="5848089"/>
                </a:lnTo>
                <a:lnTo>
                  <a:pt x="0" y="0"/>
                </a:lnTo>
                <a:close/>
              </a:path>
            </a:pathLst>
          </a:custGeom>
          <a:blipFill>
            <a:blip r:embed="rId2"/>
            <a:stretch>
              <a:fillRect l="0" t="0" r="0" b="0"/>
            </a:stretch>
          </a:blipFill>
        </p:spPr>
      </p:sp>
      <p:grpSp>
        <p:nvGrpSpPr>
          <p:cNvPr name="Group 3" id="3"/>
          <p:cNvGrpSpPr/>
          <p:nvPr/>
        </p:nvGrpSpPr>
        <p:grpSpPr>
          <a:xfrm rot="0">
            <a:off x="10646600" y="972135"/>
            <a:ext cx="3086100" cy="820175"/>
            <a:chOff x="0" y="0"/>
            <a:chExt cx="812800" cy="216013"/>
          </a:xfrm>
        </p:grpSpPr>
        <p:sp>
          <p:nvSpPr>
            <p:cNvPr name="Freeform 4" id="4"/>
            <p:cNvSpPr/>
            <p:nvPr/>
          </p:nvSpPr>
          <p:spPr>
            <a:xfrm flipH="false" flipV="false" rot="0">
              <a:off x="0" y="0"/>
              <a:ext cx="812800" cy="216013"/>
            </a:xfrm>
            <a:custGeom>
              <a:avLst/>
              <a:gdLst/>
              <a:ahLst/>
              <a:cxnLst/>
              <a:rect r="r" b="b" t="t" l="l"/>
              <a:pathLst>
                <a:path h="216013" w="812800">
                  <a:moveTo>
                    <a:pt x="108007" y="0"/>
                  </a:moveTo>
                  <a:lnTo>
                    <a:pt x="704793" y="0"/>
                  </a:lnTo>
                  <a:cubicBezTo>
                    <a:pt x="733439" y="0"/>
                    <a:pt x="760910" y="11379"/>
                    <a:pt x="781166" y="31634"/>
                  </a:cubicBezTo>
                  <a:cubicBezTo>
                    <a:pt x="801421" y="51890"/>
                    <a:pt x="812800" y="79361"/>
                    <a:pt x="812800" y="108007"/>
                  </a:cubicBezTo>
                  <a:lnTo>
                    <a:pt x="812800" y="108007"/>
                  </a:lnTo>
                  <a:cubicBezTo>
                    <a:pt x="812800" y="167657"/>
                    <a:pt x="764444" y="216013"/>
                    <a:pt x="704793" y="216013"/>
                  </a:cubicBezTo>
                  <a:lnTo>
                    <a:pt x="108007" y="216013"/>
                  </a:lnTo>
                  <a:cubicBezTo>
                    <a:pt x="79361" y="216013"/>
                    <a:pt x="51890" y="204634"/>
                    <a:pt x="31634" y="184379"/>
                  </a:cubicBezTo>
                  <a:cubicBezTo>
                    <a:pt x="11379" y="164124"/>
                    <a:pt x="0" y="136652"/>
                    <a:pt x="0" y="108007"/>
                  </a:cubicBezTo>
                  <a:lnTo>
                    <a:pt x="0" y="108007"/>
                  </a:lnTo>
                  <a:cubicBezTo>
                    <a:pt x="0" y="79361"/>
                    <a:pt x="11379" y="51890"/>
                    <a:pt x="31634" y="31634"/>
                  </a:cubicBezTo>
                  <a:cubicBezTo>
                    <a:pt x="51890" y="11379"/>
                    <a:pt x="79361" y="0"/>
                    <a:pt x="108007" y="0"/>
                  </a:cubicBezTo>
                  <a:close/>
                </a:path>
              </a:pathLst>
            </a:custGeom>
            <a:gradFill rotWithShape="true">
              <a:gsLst>
                <a:gs pos="0">
                  <a:srgbClr val="004AAD">
                    <a:alpha val="100000"/>
                  </a:srgbClr>
                </a:gs>
                <a:gs pos="100000">
                  <a:srgbClr val="CB6CE6">
                    <a:alpha val="100000"/>
                  </a:srgbClr>
                </a:gs>
              </a:gsLst>
              <a:lin ang="0"/>
            </a:gradFill>
          </p:spPr>
        </p:sp>
        <p:sp>
          <p:nvSpPr>
            <p:cNvPr name="TextBox 5" id="5"/>
            <p:cNvSpPr txBox="true"/>
            <p:nvPr/>
          </p:nvSpPr>
          <p:spPr>
            <a:xfrm>
              <a:off x="0" y="-47625"/>
              <a:ext cx="812800" cy="263638"/>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Order detail</a:t>
              </a:r>
            </a:p>
          </p:txBody>
        </p:sp>
      </p:grpSp>
      <p:sp>
        <p:nvSpPr>
          <p:cNvPr name="Freeform 6" id="6"/>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false" flipV="false" rot="0">
            <a:off x="1747080" y="4482665"/>
            <a:ext cx="2109073" cy="2109073"/>
          </a:xfrm>
          <a:custGeom>
            <a:avLst/>
            <a:gdLst/>
            <a:ahLst/>
            <a:cxnLst/>
            <a:rect r="r" b="b" t="t" l="l"/>
            <a:pathLst>
              <a:path h="2109073" w="2109073">
                <a:moveTo>
                  <a:pt x="0" y="0"/>
                </a:moveTo>
                <a:lnTo>
                  <a:pt x="2109073" y="0"/>
                </a:lnTo>
                <a:lnTo>
                  <a:pt x="2109073" y="2109073"/>
                </a:lnTo>
                <a:lnTo>
                  <a:pt x="0" y="2109073"/>
                </a:lnTo>
                <a:lnTo>
                  <a:pt x="0" y="0"/>
                </a:lnTo>
                <a:close/>
              </a:path>
            </a:pathLst>
          </a:custGeom>
          <a:blipFill>
            <a:blip r:embed="rId5"/>
            <a:stretch>
              <a:fillRect l="0" t="0" r="0" b="0"/>
            </a:stretch>
          </a:blipFill>
        </p:spPr>
      </p:sp>
      <p:grpSp>
        <p:nvGrpSpPr>
          <p:cNvPr name="Group 10" id="10"/>
          <p:cNvGrpSpPr/>
          <p:nvPr/>
        </p:nvGrpSpPr>
        <p:grpSpPr>
          <a:xfrm rot="0">
            <a:off x="1256486" y="3315785"/>
            <a:ext cx="3779357" cy="791965"/>
            <a:chOff x="0" y="0"/>
            <a:chExt cx="995386" cy="208583"/>
          </a:xfrm>
        </p:grpSpPr>
        <p:sp>
          <p:nvSpPr>
            <p:cNvPr name="Freeform 11" id="11"/>
            <p:cNvSpPr/>
            <p:nvPr/>
          </p:nvSpPr>
          <p:spPr>
            <a:xfrm flipH="false" flipV="false" rot="0">
              <a:off x="0" y="0"/>
              <a:ext cx="995386" cy="208583"/>
            </a:xfrm>
            <a:custGeom>
              <a:avLst/>
              <a:gdLst/>
              <a:ahLst/>
              <a:cxnLst/>
              <a:rect r="r" b="b" t="t" l="l"/>
              <a:pathLst>
                <a:path h="208583" w="995386">
                  <a:moveTo>
                    <a:pt x="104292" y="0"/>
                  </a:moveTo>
                  <a:lnTo>
                    <a:pt x="891095" y="0"/>
                  </a:lnTo>
                  <a:cubicBezTo>
                    <a:pt x="948693" y="0"/>
                    <a:pt x="995386" y="46693"/>
                    <a:pt x="995386" y="104292"/>
                  </a:cubicBezTo>
                  <a:lnTo>
                    <a:pt x="995386" y="104292"/>
                  </a:lnTo>
                  <a:cubicBezTo>
                    <a:pt x="995386" y="131952"/>
                    <a:pt x="984398" y="158479"/>
                    <a:pt x="964840" y="178037"/>
                  </a:cubicBezTo>
                  <a:cubicBezTo>
                    <a:pt x="945281" y="197595"/>
                    <a:pt x="918754" y="208583"/>
                    <a:pt x="891095" y="208583"/>
                  </a:cubicBezTo>
                  <a:lnTo>
                    <a:pt x="104292" y="208583"/>
                  </a:lnTo>
                  <a:cubicBezTo>
                    <a:pt x="46693" y="208583"/>
                    <a:pt x="0" y="161890"/>
                    <a:pt x="0" y="104292"/>
                  </a:cubicBezTo>
                  <a:lnTo>
                    <a:pt x="0" y="104292"/>
                  </a:lnTo>
                  <a:cubicBezTo>
                    <a:pt x="0" y="46693"/>
                    <a:pt x="46693" y="0"/>
                    <a:pt x="104292" y="0"/>
                  </a:cubicBezTo>
                  <a:close/>
                </a:path>
              </a:pathLst>
            </a:custGeom>
            <a:gradFill rotWithShape="true">
              <a:gsLst>
                <a:gs pos="0">
                  <a:srgbClr val="004AAD">
                    <a:alpha val="100000"/>
                  </a:srgbClr>
                </a:gs>
                <a:gs pos="100000">
                  <a:srgbClr val="CB6CE6">
                    <a:alpha val="100000"/>
                  </a:srgbClr>
                </a:gs>
              </a:gsLst>
              <a:lin ang="0"/>
            </a:gradFill>
          </p:spPr>
        </p:sp>
        <p:sp>
          <p:nvSpPr>
            <p:cNvPr name="TextBox 12" id="12"/>
            <p:cNvSpPr txBox="true"/>
            <p:nvPr/>
          </p:nvSpPr>
          <p:spPr>
            <a:xfrm>
              <a:off x="0" y="-47625"/>
              <a:ext cx="995386" cy="256208"/>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Đi cắt tóc thoiii</a:t>
              </a:r>
            </a:p>
          </p:txBody>
        </p:sp>
      </p:grpSp>
      <p:sp>
        <p:nvSpPr>
          <p:cNvPr name="TextBox 13" id="13"/>
          <p:cNvSpPr txBox="true"/>
          <p:nvPr/>
        </p:nvSpPr>
        <p:spPr>
          <a:xfrm rot="0">
            <a:off x="1593567" y="6915588"/>
            <a:ext cx="2416100"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Customer</a:t>
            </a:r>
          </a:p>
        </p:txBody>
      </p:sp>
      <p:sp>
        <p:nvSpPr>
          <p:cNvPr name="TextBox 14" id="14"/>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AutoShape 15" id="15"/>
          <p:cNvSpPr/>
          <p:nvPr/>
        </p:nvSpPr>
        <p:spPr>
          <a:xfrm flipV="true">
            <a:off x="3751451" y="3315785"/>
            <a:ext cx="4326996" cy="2262820"/>
          </a:xfrm>
          <a:prstGeom prst="line">
            <a:avLst/>
          </a:prstGeom>
          <a:ln cap="flat" w="38100">
            <a:gradFill>
              <a:gsLst>
                <a:gs pos="0">
                  <a:srgbClr val="004AAD">
                    <a:alpha val="100000"/>
                  </a:srgbClr>
                </a:gs>
                <a:gs pos="100000">
                  <a:srgbClr val="CB6CE6">
                    <a:alpha val="100000"/>
                  </a:srgbClr>
                </a:gs>
              </a:gsLst>
              <a:lin ang="0"/>
            </a:gradFill>
            <a:prstDash val="solid"/>
            <a:headEnd type="none" len="sm" w="sm"/>
            <a:tailEnd type="arrow" len="sm" w="med"/>
          </a:ln>
        </p:spPr>
      </p:sp>
      <p:grpSp>
        <p:nvGrpSpPr>
          <p:cNvPr name="Group 16" id="16"/>
          <p:cNvGrpSpPr/>
          <p:nvPr/>
        </p:nvGrpSpPr>
        <p:grpSpPr>
          <a:xfrm rot="0">
            <a:off x="0" y="203353"/>
            <a:ext cx="5291564" cy="1178869"/>
            <a:chOff x="0" y="0"/>
            <a:chExt cx="1151333" cy="256497"/>
          </a:xfrm>
        </p:grpSpPr>
        <p:sp>
          <p:nvSpPr>
            <p:cNvPr name="Freeform 17" id="17"/>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8" id="18"/>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9" id="19"/>
          <p:cNvGrpSpPr/>
          <p:nvPr/>
        </p:nvGrpSpPr>
        <p:grpSpPr>
          <a:xfrm rot="0">
            <a:off x="121391" y="1544704"/>
            <a:ext cx="4293799" cy="902923"/>
            <a:chOff x="0" y="0"/>
            <a:chExt cx="1219758" cy="256497"/>
          </a:xfrm>
        </p:grpSpPr>
        <p:sp>
          <p:nvSpPr>
            <p:cNvPr name="Freeform 20" id="20"/>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1" id="21"/>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1.Quy trình đặt lịch </a:t>
              </a:r>
            </a:p>
          </p:txBody>
        </p:sp>
      </p:grpSp>
    </p:spTree>
  </p:cSld>
  <p:clrMapOvr>
    <a:masterClrMapping/>
  </p:clrMapOvr>
  <p:transition spd="slow">
    <p:cover dir="l"/>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01048" y="3573596"/>
            <a:ext cx="2889031" cy="2889031"/>
          </a:xfrm>
          <a:custGeom>
            <a:avLst/>
            <a:gdLst/>
            <a:ahLst/>
            <a:cxnLst/>
            <a:rect r="r" b="b" t="t" l="l"/>
            <a:pathLst>
              <a:path h="2889031" w="2889031">
                <a:moveTo>
                  <a:pt x="0" y="0"/>
                </a:moveTo>
                <a:lnTo>
                  <a:pt x="2889031" y="0"/>
                </a:lnTo>
                <a:lnTo>
                  <a:pt x="2889031" y="2889032"/>
                </a:lnTo>
                <a:lnTo>
                  <a:pt x="0" y="2889032"/>
                </a:lnTo>
                <a:lnTo>
                  <a:pt x="0" y="0"/>
                </a:lnTo>
                <a:close/>
              </a:path>
            </a:pathLst>
          </a:custGeom>
          <a:blipFill>
            <a:blip r:embed="rId2"/>
            <a:stretch>
              <a:fillRect l="0" t="0" r="0" b="0"/>
            </a:stretch>
          </a:blipFill>
        </p:spPr>
      </p:sp>
      <p:grpSp>
        <p:nvGrpSpPr>
          <p:cNvPr name="Group 3" id="3"/>
          <p:cNvGrpSpPr/>
          <p:nvPr/>
        </p:nvGrpSpPr>
        <p:grpSpPr>
          <a:xfrm rot="0">
            <a:off x="1028700" y="7133627"/>
            <a:ext cx="3779357" cy="980237"/>
            <a:chOff x="0" y="0"/>
            <a:chExt cx="995386" cy="258169"/>
          </a:xfrm>
        </p:grpSpPr>
        <p:sp>
          <p:nvSpPr>
            <p:cNvPr name="Freeform 4" id="4"/>
            <p:cNvSpPr/>
            <p:nvPr/>
          </p:nvSpPr>
          <p:spPr>
            <a:xfrm flipH="false" flipV="false" rot="0">
              <a:off x="0" y="0"/>
              <a:ext cx="995386" cy="258169"/>
            </a:xfrm>
            <a:custGeom>
              <a:avLst/>
              <a:gdLst/>
              <a:ahLst/>
              <a:cxnLst/>
              <a:rect r="r" b="b" t="t" l="l"/>
              <a:pathLst>
                <a:path h="258169" w="995386">
                  <a:moveTo>
                    <a:pt x="104472" y="0"/>
                  </a:moveTo>
                  <a:lnTo>
                    <a:pt x="890914" y="0"/>
                  </a:lnTo>
                  <a:cubicBezTo>
                    <a:pt x="948612" y="0"/>
                    <a:pt x="995386" y="46774"/>
                    <a:pt x="995386" y="104472"/>
                  </a:cubicBezTo>
                  <a:lnTo>
                    <a:pt x="995386" y="153697"/>
                  </a:lnTo>
                  <a:cubicBezTo>
                    <a:pt x="995386" y="181405"/>
                    <a:pt x="984379" y="207978"/>
                    <a:pt x="964787" y="227570"/>
                  </a:cubicBezTo>
                  <a:cubicBezTo>
                    <a:pt x="945195" y="247162"/>
                    <a:pt x="918622" y="258169"/>
                    <a:pt x="890914" y="258169"/>
                  </a:cubicBezTo>
                  <a:lnTo>
                    <a:pt x="104472" y="258169"/>
                  </a:lnTo>
                  <a:cubicBezTo>
                    <a:pt x="46774" y="258169"/>
                    <a:pt x="0" y="211396"/>
                    <a:pt x="0" y="153697"/>
                  </a:cubicBezTo>
                  <a:lnTo>
                    <a:pt x="0" y="104472"/>
                  </a:lnTo>
                  <a:cubicBezTo>
                    <a:pt x="0" y="76764"/>
                    <a:pt x="11007" y="50192"/>
                    <a:pt x="30599" y="30599"/>
                  </a:cubicBezTo>
                  <a:cubicBezTo>
                    <a:pt x="50192" y="11007"/>
                    <a:pt x="76764" y="0"/>
                    <a:pt x="104472" y="0"/>
                  </a:cubicBezTo>
                  <a:close/>
                </a:path>
              </a:pathLst>
            </a:custGeom>
            <a:gradFill rotWithShape="true">
              <a:gsLst>
                <a:gs pos="0">
                  <a:srgbClr val="004AAD">
                    <a:alpha val="100000"/>
                  </a:srgbClr>
                </a:gs>
                <a:gs pos="100000">
                  <a:srgbClr val="CB6CE6">
                    <a:alpha val="100000"/>
                  </a:srgbClr>
                </a:gs>
              </a:gsLst>
              <a:lin ang="0"/>
            </a:gradFill>
          </p:spPr>
        </p:sp>
        <p:sp>
          <p:nvSpPr>
            <p:cNvPr name="TextBox 5" id="5"/>
            <p:cNvSpPr txBox="true"/>
            <p:nvPr/>
          </p:nvSpPr>
          <p:spPr>
            <a:xfrm>
              <a:off x="0" y="-47625"/>
              <a:ext cx="995386" cy="30579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Cắt đẹp quá, cho 5 sao &lt;3</a:t>
              </a:r>
            </a:p>
          </p:txBody>
        </p:sp>
      </p:grpSp>
      <p:sp>
        <p:nvSpPr>
          <p:cNvPr name="Freeform 6" id="6"/>
          <p:cNvSpPr/>
          <p:nvPr/>
        </p:nvSpPr>
        <p:spPr>
          <a:xfrm flipH="false" flipV="false" rot="0">
            <a:off x="6730021" y="2476100"/>
            <a:ext cx="9978343" cy="5637764"/>
          </a:xfrm>
          <a:custGeom>
            <a:avLst/>
            <a:gdLst/>
            <a:ahLst/>
            <a:cxnLst/>
            <a:rect r="r" b="b" t="t" l="l"/>
            <a:pathLst>
              <a:path h="5637764" w="9978343">
                <a:moveTo>
                  <a:pt x="0" y="0"/>
                </a:moveTo>
                <a:lnTo>
                  <a:pt x="9978343" y="0"/>
                </a:lnTo>
                <a:lnTo>
                  <a:pt x="9978343" y="5637764"/>
                </a:lnTo>
                <a:lnTo>
                  <a:pt x="0" y="5637764"/>
                </a:lnTo>
                <a:lnTo>
                  <a:pt x="0" y="0"/>
                </a:lnTo>
                <a:close/>
              </a:path>
            </a:pathLst>
          </a:custGeom>
          <a:blipFill>
            <a:blip r:embed="rId3"/>
            <a:stretch>
              <a:fillRect l="0" t="0" r="0" b="0"/>
            </a:stretch>
          </a:blipFill>
        </p:spPr>
      </p:sp>
      <p:grpSp>
        <p:nvGrpSpPr>
          <p:cNvPr name="Group 7" id="7"/>
          <p:cNvGrpSpPr/>
          <p:nvPr/>
        </p:nvGrpSpPr>
        <p:grpSpPr>
          <a:xfrm rot="0">
            <a:off x="10036081" y="1492391"/>
            <a:ext cx="3779357" cy="791965"/>
            <a:chOff x="0" y="0"/>
            <a:chExt cx="995386" cy="208583"/>
          </a:xfrm>
        </p:grpSpPr>
        <p:sp>
          <p:nvSpPr>
            <p:cNvPr name="Freeform 8" id="8"/>
            <p:cNvSpPr/>
            <p:nvPr/>
          </p:nvSpPr>
          <p:spPr>
            <a:xfrm flipH="false" flipV="false" rot="0">
              <a:off x="0" y="0"/>
              <a:ext cx="995386" cy="208583"/>
            </a:xfrm>
            <a:custGeom>
              <a:avLst/>
              <a:gdLst/>
              <a:ahLst/>
              <a:cxnLst/>
              <a:rect r="r" b="b" t="t" l="l"/>
              <a:pathLst>
                <a:path h="208583" w="995386">
                  <a:moveTo>
                    <a:pt x="104292" y="0"/>
                  </a:moveTo>
                  <a:lnTo>
                    <a:pt x="891095" y="0"/>
                  </a:lnTo>
                  <a:cubicBezTo>
                    <a:pt x="948693" y="0"/>
                    <a:pt x="995386" y="46693"/>
                    <a:pt x="995386" y="104292"/>
                  </a:cubicBezTo>
                  <a:lnTo>
                    <a:pt x="995386" y="104292"/>
                  </a:lnTo>
                  <a:cubicBezTo>
                    <a:pt x="995386" y="131952"/>
                    <a:pt x="984398" y="158479"/>
                    <a:pt x="964840" y="178037"/>
                  </a:cubicBezTo>
                  <a:cubicBezTo>
                    <a:pt x="945281" y="197595"/>
                    <a:pt x="918754" y="208583"/>
                    <a:pt x="891095" y="208583"/>
                  </a:cubicBezTo>
                  <a:lnTo>
                    <a:pt x="104292" y="208583"/>
                  </a:lnTo>
                  <a:cubicBezTo>
                    <a:pt x="46693" y="208583"/>
                    <a:pt x="0" y="161890"/>
                    <a:pt x="0" y="104292"/>
                  </a:cubicBezTo>
                  <a:lnTo>
                    <a:pt x="0" y="104292"/>
                  </a:lnTo>
                  <a:cubicBezTo>
                    <a:pt x="0" y="46693"/>
                    <a:pt x="46693" y="0"/>
                    <a:pt x="104292" y="0"/>
                  </a:cubicBezTo>
                  <a:close/>
                </a:path>
              </a:pathLst>
            </a:custGeom>
            <a:gradFill rotWithShape="true">
              <a:gsLst>
                <a:gs pos="0">
                  <a:srgbClr val="004AAD">
                    <a:alpha val="100000"/>
                  </a:srgbClr>
                </a:gs>
                <a:gs pos="100000">
                  <a:srgbClr val="CB6CE6">
                    <a:alpha val="100000"/>
                  </a:srgbClr>
                </a:gs>
              </a:gsLst>
              <a:lin ang="0"/>
            </a:gradFill>
          </p:spPr>
        </p:sp>
        <p:sp>
          <p:nvSpPr>
            <p:cNvPr name="TextBox 9" id="9"/>
            <p:cNvSpPr txBox="true"/>
            <p:nvPr/>
          </p:nvSpPr>
          <p:spPr>
            <a:xfrm>
              <a:off x="0" y="-47625"/>
              <a:ext cx="995386" cy="256208"/>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Feedback</a:t>
              </a:r>
            </a:p>
          </p:txBody>
        </p:sp>
      </p:grpSp>
      <p:sp>
        <p:nvSpPr>
          <p:cNvPr name="Freeform 10" id="10"/>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2" id="12"/>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13" id="13"/>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14" id="14"/>
          <p:cNvGrpSpPr/>
          <p:nvPr/>
        </p:nvGrpSpPr>
        <p:grpSpPr>
          <a:xfrm rot="0">
            <a:off x="0" y="203353"/>
            <a:ext cx="5291564" cy="1178869"/>
            <a:chOff x="0" y="0"/>
            <a:chExt cx="1151333" cy="256497"/>
          </a:xfrm>
        </p:grpSpPr>
        <p:sp>
          <p:nvSpPr>
            <p:cNvPr name="Freeform 15" id="15"/>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6" id="16"/>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7" id="17"/>
          <p:cNvGrpSpPr/>
          <p:nvPr/>
        </p:nvGrpSpPr>
        <p:grpSpPr>
          <a:xfrm rot="0">
            <a:off x="121391" y="1544704"/>
            <a:ext cx="4293799" cy="902923"/>
            <a:chOff x="0" y="0"/>
            <a:chExt cx="1219758" cy="256497"/>
          </a:xfrm>
        </p:grpSpPr>
        <p:sp>
          <p:nvSpPr>
            <p:cNvPr name="Freeform 18" id="18"/>
            <p:cNvSpPr/>
            <p:nvPr/>
          </p:nvSpPr>
          <p:spPr>
            <a:xfrm flipH="false" flipV="false" rot="0">
              <a:off x="0" y="0"/>
              <a:ext cx="1219758" cy="256497"/>
            </a:xfrm>
            <a:custGeom>
              <a:avLst/>
              <a:gdLst/>
              <a:ahLst/>
              <a:cxnLst/>
              <a:rect r="r" b="b" t="t" l="l"/>
              <a:pathLst>
                <a:path h="256497" w="1219758">
                  <a:moveTo>
                    <a:pt x="0" y="0"/>
                  </a:moveTo>
                  <a:lnTo>
                    <a:pt x="1016558" y="0"/>
                  </a:lnTo>
                  <a:lnTo>
                    <a:pt x="1219758" y="128249"/>
                  </a:lnTo>
                  <a:lnTo>
                    <a:pt x="1016558"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9" id="19"/>
            <p:cNvSpPr txBox="true"/>
            <p:nvPr/>
          </p:nvSpPr>
          <p:spPr>
            <a:xfrm>
              <a:off x="177800" y="-47625"/>
              <a:ext cx="965758"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1.Quy trình đặt lịch </a:t>
              </a:r>
            </a:p>
          </p:txBody>
        </p:sp>
      </p:grpSp>
      <p:sp>
        <p:nvSpPr>
          <p:cNvPr name="TextBox 20" id="20"/>
          <p:cNvSpPr txBox="true"/>
          <p:nvPr/>
        </p:nvSpPr>
        <p:spPr>
          <a:xfrm rot="0">
            <a:off x="5581316" y="8852535"/>
            <a:ext cx="2297410" cy="405765"/>
          </a:xfrm>
          <a:prstGeom prst="rect">
            <a:avLst/>
          </a:prstGeom>
        </p:spPr>
        <p:txBody>
          <a:bodyPr anchor="t" rtlCol="false" tIns="0" lIns="0" bIns="0" rIns="0">
            <a:spAutoFit/>
          </a:bodyPr>
          <a:lstStyle/>
          <a:p>
            <a:pPr algn="ctr">
              <a:lnSpc>
                <a:spcPts val="3359"/>
              </a:lnSpc>
              <a:spcBef>
                <a:spcPct val="0"/>
              </a:spcBef>
            </a:pPr>
            <a:r>
              <a:rPr lang="en-US" b="true" sz="2399" spc="239">
                <a:solidFill>
                  <a:srgbClr val="000000"/>
                </a:solidFill>
                <a:latin typeface="Lato Bold"/>
                <a:ea typeface="Lato Bold"/>
                <a:cs typeface="Lato Bold"/>
                <a:sym typeface="Lato Bold"/>
              </a:rPr>
              <a:t>Sau khi đã cắt</a:t>
            </a:r>
          </a:p>
        </p:txBody>
      </p:sp>
      <p:sp>
        <p:nvSpPr>
          <p:cNvPr name="AutoShape 21" id="21"/>
          <p:cNvSpPr/>
          <p:nvPr/>
        </p:nvSpPr>
        <p:spPr>
          <a:xfrm flipV="true">
            <a:off x="6884217" y="6275836"/>
            <a:ext cx="2259783" cy="2624324"/>
          </a:xfrm>
          <a:prstGeom prst="line">
            <a:avLst/>
          </a:prstGeom>
          <a:ln cap="flat" w="38100">
            <a:gradFill>
              <a:gsLst>
                <a:gs pos="0">
                  <a:srgbClr val="5170FF">
                    <a:alpha val="100000"/>
                  </a:srgbClr>
                </a:gs>
                <a:gs pos="100000">
                  <a:srgbClr val="FF66C4">
                    <a:alpha val="100000"/>
                  </a:srgbClr>
                </a:gs>
              </a:gsLst>
              <a:lin ang="0"/>
            </a:gradFill>
            <a:prstDash val="solid"/>
            <a:headEnd type="none" len="sm" w="sm"/>
            <a:tailEnd type="arrow" len="sm" w="med"/>
          </a:ln>
        </p:spPr>
      </p:sp>
    </p:spTree>
  </p:cSld>
  <p:clrMapOvr>
    <a:masterClrMapping/>
  </p:clrMapOvr>
  <p:transition spd="slow">
    <p:cover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02490" y="5751344"/>
            <a:ext cx="1599597" cy="1599597"/>
          </a:xfrm>
          <a:custGeom>
            <a:avLst/>
            <a:gdLst/>
            <a:ahLst/>
            <a:cxnLst/>
            <a:rect r="r" b="b" t="t" l="l"/>
            <a:pathLst>
              <a:path h="1599597" w="1599597">
                <a:moveTo>
                  <a:pt x="0" y="0"/>
                </a:moveTo>
                <a:lnTo>
                  <a:pt x="1599597" y="0"/>
                </a:lnTo>
                <a:lnTo>
                  <a:pt x="1599597" y="1599597"/>
                </a:lnTo>
                <a:lnTo>
                  <a:pt x="0" y="1599597"/>
                </a:lnTo>
                <a:lnTo>
                  <a:pt x="0" y="0"/>
                </a:lnTo>
                <a:close/>
              </a:path>
            </a:pathLst>
          </a:custGeom>
          <a:blipFill>
            <a:blip r:embed="rId2"/>
            <a:stretch>
              <a:fillRect l="0" t="0" r="0" b="0"/>
            </a:stretch>
          </a:blipFill>
        </p:spPr>
      </p:sp>
      <p:grpSp>
        <p:nvGrpSpPr>
          <p:cNvPr name="Group 3" id="3"/>
          <p:cNvGrpSpPr/>
          <p:nvPr/>
        </p:nvGrpSpPr>
        <p:grpSpPr>
          <a:xfrm rot="0">
            <a:off x="1524905" y="7641461"/>
            <a:ext cx="2554768" cy="561137"/>
            <a:chOff x="0" y="0"/>
            <a:chExt cx="672861" cy="147789"/>
          </a:xfrm>
        </p:grpSpPr>
        <p:sp>
          <p:nvSpPr>
            <p:cNvPr name="Freeform 4" id="4"/>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5" id="5"/>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sp>
        <p:nvSpPr>
          <p:cNvPr name="AutoShape 6" id="6"/>
          <p:cNvSpPr/>
          <p:nvPr/>
        </p:nvSpPr>
        <p:spPr>
          <a:xfrm flipV="true">
            <a:off x="3850032" y="4526668"/>
            <a:ext cx="6221981" cy="1667175"/>
          </a:xfrm>
          <a:prstGeom prst="line">
            <a:avLst/>
          </a:prstGeom>
          <a:ln cap="flat" w="47625">
            <a:gradFill>
              <a:gsLst>
                <a:gs pos="0">
                  <a:srgbClr val="004AAD">
                    <a:alpha val="53000"/>
                  </a:srgbClr>
                </a:gs>
                <a:gs pos="100000">
                  <a:srgbClr val="CB6CE6">
                    <a:alpha val="53000"/>
                  </a:srgbClr>
                </a:gs>
              </a:gsLst>
              <a:lin ang="0"/>
            </a:gradFill>
            <a:prstDash val="solid"/>
            <a:headEnd type="none" len="sm" w="sm"/>
            <a:tailEnd type="triangle" len="med" w="lg"/>
          </a:ln>
        </p:spPr>
      </p:sp>
      <p:sp>
        <p:nvSpPr>
          <p:cNvPr name="Freeform 7" id="7"/>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9" id="9"/>
          <p:cNvGrpSpPr/>
          <p:nvPr/>
        </p:nvGrpSpPr>
        <p:grpSpPr>
          <a:xfrm rot="0">
            <a:off x="10080434" y="1028700"/>
            <a:ext cx="4662932" cy="1164419"/>
            <a:chOff x="0" y="0"/>
            <a:chExt cx="1228097" cy="306678"/>
          </a:xfrm>
        </p:grpSpPr>
        <p:sp>
          <p:nvSpPr>
            <p:cNvPr name="Freeform 10" id="10"/>
            <p:cNvSpPr/>
            <p:nvPr/>
          </p:nvSpPr>
          <p:spPr>
            <a:xfrm flipH="false" flipV="false" rot="0">
              <a:off x="0" y="0"/>
              <a:ext cx="1228097" cy="306678"/>
            </a:xfrm>
            <a:custGeom>
              <a:avLst/>
              <a:gdLst/>
              <a:ahLst/>
              <a:cxnLst/>
              <a:rect r="r" b="b" t="t" l="l"/>
              <a:pathLst>
                <a:path h="306678" w="1228097">
                  <a:moveTo>
                    <a:pt x="84676" y="0"/>
                  </a:moveTo>
                  <a:lnTo>
                    <a:pt x="1143421" y="0"/>
                  </a:lnTo>
                  <a:cubicBezTo>
                    <a:pt x="1190187" y="0"/>
                    <a:pt x="1228097" y="37911"/>
                    <a:pt x="1228097" y="84676"/>
                  </a:cubicBezTo>
                  <a:lnTo>
                    <a:pt x="1228097" y="222002"/>
                  </a:lnTo>
                  <a:cubicBezTo>
                    <a:pt x="1228097" y="244460"/>
                    <a:pt x="1219176" y="265998"/>
                    <a:pt x="1203296" y="281877"/>
                  </a:cubicBezTo>
                  <a:cubicBezTo>
                    <a:pt x="1187416" y="297757"/>
                    <a:pt x="1165879" y="306678"/>
                    <a:pt x="1143421" y="306678"/>
                  </a:cubicBezTo>
                  <a:lnTo>
                    <a:pt x="84676" y="306678"/>
                  </a:lnTo>
                  <a:cubicBezTo>
                    <a:pt x="62218" y="306678"/>
                    <a:pt x="40681" y="297757"/>
                    <a:pt x="24801" y="281877"/>
                  </a:cubicBezTo>
                  <a:cubicBezTo>
                    <a:pt x="8921" y="265998"/>
                    <a:pt x="0" y="244460"/>
                    <a:pt x="0" y="222002"/>
                  </a:cubicBezTo>
                  <a:lnTo>
                    <a:pt x="0" y="84676"/>
                  </a:lnTo>
                  <a:cubicBezTo>
                    <a:pt x="0" y="62218"/>
                    <a:pt x="8921" y="40681"/>
                    <a:pt x="24801" y="24801"/>
                  </a:cubicBezTo>
                  <a:cubicBezTo>
                    <a:pt x="40681" y="8921"/>
                    <a:pt x="62218" y="0"/>
                    <a:pt x="84676" y="0"/>
                  </a:cubicBezTo>
                  <a:close/>
                </a:path>
              </a:pathLst>
            </a:custGeom>
            <a:gradFill rotWithShape="true">
              <a:gsLst>
                <a:gs pos="0">
                  <a:srgbClr val="004AAD">
                    <a:alpha val="100000"/>
                  </a:srgbClr>
                </a:gs>
                <a:gs pos="100000">
                  <a:srgbClr val="CB6CE6">
                    <a:alpha val="100000"/>
                  </a:srgbClr>
                </a:gs>
              </a:gsLst>
              <a:lin ang="0"/>
            </a:gradFill>
          </p:spPr>
        </p:sp>
        <p:sp>
          <p:nvSpPr>
            <p:cNvPr name="TextBox 11" id="11"/>
            <p:cNvSpPr txBox="true"/>
            <p:nvPr/>
          </p:nvSpPr>
          <p:spPr>
            <a:xfrm>
              <a:off x="0" y="-47625"/>
              <a:ext cx="1228097" cy="354303"/>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Login</a:t>
              </a:r>
            </a:p>
          </p:txBody>
        </p:sp>
      </p:grpSp>
      <p:sp>
        <p:nvSpPr>
          <p:cNvPr name="Freeform 12" id="12"/>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3" id="13"/>
          <p:cNvGrpSpPr/>
          <p:nvPr/>
        </p:nvGrpSpPr>
        <p:grpSpPr>
          <a:xfrm rot="0">
            <a:off x="0" y="313522"/>
            <a:ext cx="5291564" cy="1178869"/>
            <a:chOff x="0" y="0"/>
            <a:chExt cx="1151333" cy="256497"/>
          </a:xfrm>
        </p:grpSpPr>
        <p:sp>
          <p:nvSpPr>
            <p:cNvPr name="Freeform 14" id="14"/>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5" id="15"/>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6" id="16"/>
          <p:cNvGrpSpPr/>
          <p:nvPr/>
        </p:nvGrpSpPr>
        <p:grpSpPr>
          <a:xfrm rot="0">
            <a:off x="162705" y="2082814"/>
            <a:ext cx="4383434" cy="902923"/>
            <a:chOff x="0" y="0"/>
            <a:chExt cx="1245221" cy="256497"/>
          </a:xfrm>
        </p:grpSpPr>
        <p:sp>
          <p:nvSpPr>
            <p:cNvPr name="Freeform 17" id="17"/>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8" id="18"/>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Quản lý chi nhánh</a:t>
              </a:r>
            </a:p>
          </p:txBody>
        </p:sp>
      </p:grpSp>
      <p:sp>
        <p:nvSpPr>
          <p:cNvPr name="Freeform 19" id="19"/>
          <p:cNvSpPr/>
          <p:nvPr/>
        </p:nvSpPr>
        <p:spPr>
          <a:xfrm flipH="false" flipV="false" rot="0">
            <a:off x="10072012" y="2302862"/>
            <a:ext cx="5295629" cy="6065561"/>
          </a:xfrm>
          <a:custGeom>
            <a:avLst/>
            <a:gdLst/>
            <a:ahLst/>
            <a:cxnLst/>
            <a:rect r="r" b="b" t="t" l="l"/>
            <a:pathLst>
              <a:path h="6065561" w="5295629">
                <a:moveTo>
                  <a:pt x="0" y="0"/>
                </a:moveTo>
                <a:lnTo>
                  <a:pt x="5295629" y="0"/>
                </a:lnTo>
                <a:lnTo>
                  <a:pt x="5295629" y="6065561"/>
                </a:lnTo>
                <a:lnTo>
                  <a:pt x="0" y="6065561"/>
                </a:lnTo>
                <a:lnTo>
                  <a:pt x="0" y="0"/>
                </a:lnTo>
                <a:close/>
              </a:path>
            </a:pathLst>
          </a:custGeom>
          <a:blipFill>
            <a:blip r:embed="rId5"/>
            <a:stretch>
              <a:fillRect l="0" t="0" r="0" b="0"/>
            </a:stretch>
          </a:blipFill>
        </p:spPr>
      </p:sp>
      <p:sp>
        <p:nvSpPr>
          <p:cNvPr name="TextBox 20" id="20"/>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slow">
    <p:cover dir="l"/>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28346" y="5283127"/>
            <a:ext cx="1599597" cy="1599597"/>
          </a:xfrm>
          <a:custGeom>
            <a:avLst/>
            <a:gdLst/>
            <a:ahLst/>
            <a:cxnLst/>
            <a:rect r="r" b="b" t="t" l="l"/>
            <a:pathLst>
              <a:path h="1599597" w="1599597">
                <a:moveTo>
                  <a:pt x="0" y="0"/>
                </a:moveTo>
                <a:lnTo>
                  <a:pt x="1599597" y="0"/>
                </a:lnTo>
                <a:lnTo>
                  <a:pt x="1599597" y="1599597"/>
                </a:lnTo>
                <a:lnTo>
                  <a:pt x="0" y="1599597"/>
                </a:lnTo>
                <a:lnTo>
                  <a:pt x="0" y="0"/>
                </a:lnTo>
                <a:close/>
              </a:path>
            </a:pathLst>
          </a:custGeom>
          <a:blipFill>
            <a:blip r:embed="rId2"/>
            <a:stretch>
              <a:fillRect l="0" t="0" r="0" b="0"/>
            </a:stretch>
          </a:blipFill>
        </p:spPr>
      </p:sp>
      <p:grpSp>
        <p:nvGrpSpPr>
          <p:cNvPr name="Group 3" id="3"/>
          <p:cNvGrpSpPr/>
          <p:nvPr/>
        </p:nvGrpSpPr>
        <p:grpSpPr>
          <a:xfrm rot="0">
            <a:off x="450760" y="7173244"/>
            <a:ext cx="2554768" cy="561137"/>
            <a:chOff x="0" y="0"/>
            <a:chExt cx="672861" cy="147789"/>
          </a:xfrm>
        </p:grpSpPr>
        <p:sp>
          <p:nvSpPr>
            <p:cNvPr name="Freeform 4" id="4"/>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5" id="5"/>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sp>
        <p:nvSpPr>
          <p:cNvPr name="AutoShape 6" id="6"/>
          <p:cNvSpPr/>
          <p:nvPr/>
        </p:nvSpPr>
        <p:spPr>
          <a:xfrm flipV="true">
            <a:off x="2775887" y="4457226"/>
            <a:ext cx="4820300" cy="1268400"/>
          </a:xfrm>
          <a:prstGeom prst="line">
            <a:avLst/>
          </a:prstGeom>
          <a:ln cap="flat" w="47625">
            <a:gradFill>
              <a:gsLst>
                <a:gs pos="0">
                  <a:srgbClr val="004AAD">
                    <a:alpha val="53000"/>
                  </a:srgbClr>
                </a:gs>
                <a:gs pos="100000">
                  <a:srgbClr val="CB6CE6">
                    <a:alpha val="53000"/>
                  </a:srgbClr>
                </a:gs>
              </a:gsLst>
              <a:lin ang="0"/>
            </a:gradFill>
            <a:prstDash val="solid"/>
            <a:headEnd type="none" len="sm" w="sm"/>
            <a:tailEnd type="triangle" len="med" w="lg"/>
          </a:ln>
        </p:spPr>
      </p:sp>
      <p:grpSp>
        <p:nvGrpSpPr>
          <p:cNvPr name="Group 7" id="7"/>
          <p:cNvGrpSpPr/>
          <p:nvPr/>
        </p:nvGrpSpPr>
        <p:grpSpPr>
          <a:xfrm rot="0">
            <a:off x="928346" y="3669037"/>
            <a:ext cx="5337715" cy="1164419"/>
            <a:chOff x="0" y="0"/>
            <a:chExt cx="1405818" cy="306678"/>
          </a:xfrm>
        </p:grpSpPr>
        <p:sp>
          <p:nvSpPr>
            <p:cNvPr name="Freeform 8" id="8"/>
            <p:cNvSpPr/>
            <p:nvPr/>
          </p:nvSpPr>
          <p:spPr>
            <a:xfrm flipH="false" flipV="false" rot="0">
              <a:off x="0" y="0"/>
              <a:ext cx="1405818" cy="306678"/>
            </a:xfrm>
            <a:custGeom>
              <a:avLst/>
              <a:gdLst/>
              <a:ahLst/>
              <a:cxnLst/>
              <a:rect r="r" b="b" t="t" l="l"/>
              <a:pathLst>
                <a:path h="306678" w="1405818">
                  <a:moveTo>
                    <a:pt x="73971" y="0"/>
                  </a:moveTo>
                  <a:lnTo>
                    <a:pt x="1331847" y="0"/>
                  </a:lnTo>
                  <a:cubicBezTo>
                    <a:pt x="1351465" y="0"/>
                    <a:pt x="1370280" y="7793"/>
                    <a:pt x="1384152" y="21666"/>
                  </a:cubicBezTo>
                  <a:cubicBezTo>
                    <a:pt x="1398025" y="35538"/>
                    <a:pt x="1405818" y="54353"/>
                    <a:pt x="1405818" y="73971"/>
                  </a:cubicBezTo>
                  <a:lnTo>
                    <a:pt x="1405818" y="232707"/>
                  </a:lnTo>
                  <a:cubicBezTo>
                    <a:pt x="1405818" y="273560"/>
                    <a:pt x="1372700" y="306678"/>
                    <a:pt x="1331847" y="306678"/>
                  </a:cubicBezTo>
                  <a:lnTo>
                    <a:pt x="73971" y="306678"/>
                  </a:lnTo>
                  <a:cubicBezTo>
                    <a:pt x="54353" y="306678"/>
                    <a:pt x="35538" y="298885"/>
                    <a:pt x="21666" y="285013"/>
                  </a:cubicBezTo>
                  <a:cubicBezTo>
                    <a:pt x="7793" y="271140"/>
                    <a:pt x="0" y="252325"/>
                    <a:pt x="0" y="232707"/>
                  </a:cubicBezTo>
                  <a:lnTo>
                    <a:pt x="0" y="73971"/>
                  </a:lnTo>
                  <a:cubicBezTo>
                    <a:pt x="0" y="54353"/>
                    <a:pt x="7793" y="35538"/>
                    <a:pt x="21666" y="21666"/>
                  </a:cubicBezTo>
                  <a:cubicBezTo>
                    <a:pt x="35538" y="7793"/>
                    <a:pt x="54353" y="0"/>
                    <a:pt x="73971" y="0"/>
                  </a:cubicBezTo>
                  <a:close/>
                </a:path>
              </a:pathLst>
            </a:custGeom>
            <a:gradFill rotWithShape="true">
              <a:gsLst>
                <a:gs pos="0">
                  <a:srgbClr val="004AAD">
                    <a:alpha val="100000"/>
                  </a:srgbClr>
                </a:gs>
                <a:gs pos="100000">
                  <a:srgbClr val="CB6CE6">
                    <a:alpha val="100000"/>
                  </a:srgbClr>
                </a:gs>
              </a:gsLst>
              <a:lin ang="0"/>
            </a:gradFill>
          </p:spPr>
        </p:sp>
        <p:sp>
          <p:nvSpPr>
            <p:cNvPr name="TextBox 9" id="9"/>
            <p:cNvSpPr txBox="true"/>
            <p:nvPr/>
          </p:nvSpPr>
          <p:spPr>
            <a:xfrm>
              <a:off x="0" y="-47625"/>
              <a:ext cx="1405818" cy="354303"/>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hmm để xem tình hình cửa hàng thế nào rồi</a:t>
              </a:r>
            </a:p>
          </p:txBody>
        </p:sp>
      </p:grpSp>
      <p:sp>
        <p:nvSpPr>
          <p:cNvPr name="Freeform 10" id="10"/>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2" id="12"/>
          <p:cNvSpPr/>
          <p:nvPr/>
        </p:nvSpPr>
        <p:spPr>
          <a:xfrm flipH="false" flipV="false" rot="7136214">
            <a:off x="15220167" y="-4390128"/>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3" id="13"/>
          <p:cNvGrpSpPr/>
          <p:nvPr/>
        </p:nvGrpSpPr>
        <p:grpSpPr>
          <a:xfrm rot="0">
            <a:off x="0" y="313522"/>
            <a:ext cx="5291564" cy="1178869"/>
            <a:chOff x="0" y="0"/>
            <a:chExt cx="1151333" cy="256497"/>
          </a:xfrm>
        </p:grpSpPr>
        <p:sp>
          <p:nvSpPr>
            <p:cNvPr name="Freeform 14" id="14"/>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5" id="15"/>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6" id="16"/>
          <p:cNvGrpSpPr/>
          <p:nvPr/>
        </p:nvGrpSpPr>
        <p:grpSpPr>
          <a:xfrm rot="0">
            <a:off x="162705" y="2082814"/>
            <a:ext cx="4383434" cy="902923"/>
            <a:chOff x="0" y="0"/>
            <a:chExt cx="1245221" cy="256497"/>
          </a:xfrm>
        </p:grpSpPr>
        <p:sp>
          <p:nvSpPr>
            <p:cNvPr name="Freeform 17" id="17"/>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8" id="18"/>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Freeform 19" id="19"/>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20" id="20"/>
          <p:cNvSpPr/>
          <p:nvPr/>
        </p:nvSpPr>
        <p:spPr>
          <a:xfrm flipH="false" flipV="false" rot="0">
            <a:off x="7596187" y="1492391"/>
            <a:ext cx="9587281" cy="5692448"/>
          </a:xfrm>
          <a:custGeom>
            <a:avLst/>
            <a:gdLst/>
            <a:ahLst/>
            <a:cxnLst/>
            <a:rect r="r" b="b" t="t" l="l"/>
            <a:pathLst>
              <a:path h="5692448" w="9587281">
                <a:moveTo>
                  <a:pt x="0" y="0"/>
                </a:moveTo>
                <a:lnTo>
                  <a:pt x="9587282" y="0"/>
                </a:lnTo>
                <a:lnTo>
                  <a:pt x="9587282" y="5692448"/>
                </a:lnTo>
                <a:lnTo>
                  <a:pt x="0" y="5692448"/>
                </a:lnTo>
                <a:lnTo>
                  <a:pt x="0" y="0"/>
                </a:lnTo>
                <a:close/>
              </a:path>
            </a:pathLst>
          </a:custGeom>
          <a:blipFill>
            <a:blip r:embed="rId5"/>
            <a:stretch>
              <a:fillRect l="0" t="0" r="0" b="0"/>
            </a:stretch>
          </a:blipFill>
        </p:spPr>
      </p:sp>
      <p:sp>
        <p:nvSpPr>
          <p:cNvPr name="TextBox 21" id="21"/>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slow">
    <p:cover dir="l"/>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4819" y="4388513"/>
            <a:ext cx="2590056" cy="2590056"/>
          </a:xfrm>
          <a:custGeom>
            <a:avLst/>
            <a:gdLst/>
            <a:ahLst/>
            <a:cxnLst/>
            <a:rect r="r" b="b" t="t" l="l"/>
            <a:pathLst>
              <a:path h="2590056" w="2590056">
                <a:moveTo>
                  <a:pt x="0" y="0"/>
                </a:moveTo>
                <a:lnTo>
                  <a:pt x="2590056" y="0"/>
                </a:lnTo>
                <a:lnTo>
                  <a:pt x="2590056" y="2590057"/>
                </a:lnTo>
                <a:lnTo>
                  <a:pt x="0" y="2590057"/>
                </a:lnTo>
                <a:lnTo>
                  <a:pt x="0" y="0"/>
                </a:lnTo>
                <a:close/>
              </a:path>
            </a:pathLst>
          </a:custGeom>
          <a:blipFill>
            <a:blip r:embed="rId2"/>
            <a:stretch>
              <a:fillRect l="0" t="0" r="0" b="0"/>
            </a:stretch>
          </a:blipFill>
        </p:spPr>
      </p:sp>
      <p:grpSp>
        <p:nvGrpSpPr>
          <p:cNvPr name="Group 3" id="3"/>
          <p:cNvGrpSpPr/>
          <p:nvPr/>
        </p:nvGrpSpPr>
        <p:grpSpPr>
          <a:xfrm rot="0">
            <a:off x="870107" y="7276895"/>
            <a:ext cx="2554768" cy="561137"/>
            <a:chOff x="0" y="0"/>
            <a:chExt cx="672861" cy="147789"/>
          </a:xfrm>
        </p:grpSpPr>
        <p:sp>
          <p:nvSpPr>
            <p:cNvPr name="Freeform 4" id="4"/>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5" id="5"/>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sp>
        <p:nvSpPr>
          <p:cNvPr name="Freeform 6" id="6"/>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7136214">
            <a:off x="15675531" y="71643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false" flipV="false" rot="7136214">
            <a:off x="15675531" y="74957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1" id="11"/>
          <p:cNvGrpSpPr/>
          <p:nvPr/>
        </p:nvGrpSpPr>
        <p:grpSpPr>
          <a:xfrm rot="0">
            <a:off x="10241481" y="1274291"/>
            <a:ext cx="5337715" cy="1164419"/>
            <a:chOff x="0" y="0"/>
            <a:chExt cx="1405818" cy="306678"/>
          </a:xfrm>
        </p:grpSpPr>
        <p:sp>
          <p:nvSpPr>
            <p:cNvPr name="Freeform 12" id="12"/>
            <p:cNvSpPr/>
            <p:nvPr/>
          </p:nvSpPr>
          <p:spPr>
            <a:xfrm flipH="false" flipV="false" rot="0">
              <a:off x="0" y="0"/>
              <a:ext cx="1405818" cy="306678"/>
            </a:xfrm>
            <a:custGeom>
              <a:avLst/>
              <a:gdLst/>
              <a:ahLst/>
              <a:cxnLst/>
              <a:rect r="r" b="b" t="t" l="l"/>
              <a:pathLst>
                <a:path h="306678" w="1405818">
                  <a:moveTo>
                    <a:pt x="73971" y="0"/>
                  </a:moveTo>
                  <a:lnTo>
                    <a:pt x="1331847" y="0"/>
                  </a:lnTo>
                  <a:cubicBezTo>
                    <a:pt x="1351465" y="0"/>
                    <a:pt x="1370280" y="7793"/>
                    <a:pt x="1384152" y="21666"/>
                  </a:cubicBezTo>
                  <a:cubicBezTo>
                    <a:pt x="1398025" y="35538"/>
                    <a:pt x="1405818" y="54353"/>
                    <a:pt x="1405818" y="73971"/>
                  </a:cubicBezTo>
                  <a:lnTo>
                    <a:pt x="1405818" y="232707"/>
                  </a:lnTo>
                  <a:cubicBezTo>
                    <a:pt x="1405818" y="273560"/>
                    <a:pt x="1372700" y="306678"/>
                    <a:pt x="1331847" y="306678"/>
                  </a:cubicBezTo>
                  <a:lnTo>
                    <a:pt x="73971" y="306678"/>
                  </a:lnTo>
                  <a:cubicBezTo>
                    <a:pt x="54353" y="306678"/>
                    <a:pt x="35538" y="298885"/>
                    <a:pt x="21666" y="285013"/>
                  </a:cubicBezTo>
                  <a:cubicBezTo>
                    <a:pt x="7793" y="271140"/>
                    <a:pt x="0" y="252325"/>
                    <a:pt x="0" y="232707"/>
                  </a:cubicBezTo>
                  <a:lnTo>
                    <a:pt x="0" y="73971"/>
                  </a:lnTo>
                  <a:cubicBezTo>
                    <a:pt x="0" y="54353"/>
                    <a:pt x="7793" y="35538"/>
                    <a:pt x="21666" y="21666"/>
                  </a:cubicBezTo>
                  <a:cubicBezTo>
                    <a:pt x="35538" y="7793"/>
                    <a:pt x="54353" y="0"/>
                    <a:pt x="73971"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47625"/>
              <a:ext cx="1405818" cy="354303"/>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Quản lý lịch hẹn</a:t>
              </a:r>
            </a:p>
          </p:txBody>
        </p:sp>
      </p:grpSp>
      <p:sp>
        <p:nvSpPr>
          <p:cNvPr name="Freeform 14" id="14"/>
          <p:cNvSpPr/>
          <p:nvPr/>
        </p:nvSpPr>
        <p:spPr>
          <a:xfrm flipH="false" flipV="false" rot="0">
            <a:off x="2354422" y="3924998"/>
            <a:ext cx="1482171" cy="927031"/>
          </a:xfrm>
          <a:custGeom>
            <a:avLst/>
            <a:gdLst/>
            <a:ahLst/>
            <a:cxnLst/>
            <a:rect r="r" b="b" t="t" l="l"/>
            <a:pathLst>
              <a:path h="927031" w="1482171">
                <a:moveTo>
                  <a:pt x="0" y="0"/>
                </a:moveTo>
                <a:lnTo>
                  <a:pt x="1482171" y="0"/>
                </a:lnTo>
                <a:lnTo>
                  <a:pt x="1482171" y="927031"/>
                </a:lnTo>
                <a:lnTo>
                  <a:pt x="0" y="9270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0" y="313522"/>
            <a:ext cx="5291564" cy="1178869"/>
            <a:chOff x="0" y="0"/>
            <a:chExt cx="1151333" cy="256497"/>
          </a:xfrm>
        </p:grpSpPr>
        <p:sp>
          <p:nvSpPr>
            <p:cNvPr name="Freeform 16" id="16"/>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7" id="17"/>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8" id="18"/>
          <p:cNvGrpSpPr/>
          <p:nvPr/>
        </p:nvGrpSpPr>
        <p:grpSpPr>
          <a:xfrm rot="0">
            <a:off x="162705" y="2082814"/>
            <a:ext cx="4383434" cy="902923"/>
            <a:chOff x="0" y="0"/>
            <a:chExt cx="1245221" cy="256497"/>
          </a:xfrm>
        </p:grpSpPr>
        <p:sp>
          <p:nvSpPr>
            <p:cNvPr name="Freeform 19" id="19"/>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0" id="20"/>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Freeform 21" id="21"/>
          <p:cNvSpPr/>
          <p:nvPr/>
        </p:nvSpPr>
        <p:spPr>
          <a:xfrm flipH="false" flipV="false" rot="0">
            <a:off x="7868189" y="2534275"/>
            <a:ext cx="9571092" cy="5694800"/>
          </a:xfrm>
          <a:custGeom>
            <a:avLst/>
            <a:gdLst/>
            <a:ahLst/>
            <a:cxnLst/>
            <a:rect r="r" b="b" t="t" l="l"/>
            <a:pathLst>
              <a:path h="5694800" w="9571092">
                <a:moveTo>
                  <a:pt x="0" y="0"/>
                </a:moveTo>
                <a:lnTo>
                  <a:pt x="9571092" y="0"/>
                </a:lnTo>
                <a:lnTo>
                  <a:pt x="9571092" y="5694800"/>
                </a:lnTo>
                <a:lnTo>
                  <a:pt x="0" y="5694800"/>
                </a:lnTo>
                <a:lnTo>
                  <a:pt x="0" y="0"/>
                </a:lnTo>
                <a:close/>
              </a:path>
            </a:pathLst>
          </a:custGeom>
          <a:blipFill>
            <a:blip r:embed="rId7"/>
            <a:stretch>
              <a:fillRect l="0" t="0" r="0" b="0"/>
            </a:stretch>
          </a:blipFill>
        </p:spPr>
      </p:sp>
      <p:sp>
        <p:nvSpPr>
          <p:cNvPr name="TextBox 22" id="22"/>
          <p:cNvSpPr txBox="true"/>
          <p:nvPr/>
        </p:nvSpPr>
        <p:spPr>
          <a:xfrm rot="0">
            <a:off x="15706367" y="97044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grpSp>
        <p:nvGrpSpPr>
          <p:cNvPr name="Group 23" id="23"/>
          <p:cNvGrpSpPr/>
          <p:nvPr/>
        </p:nvGrpSpPr>
        <p:grpSpPr>
          <a:xfrm rot="0">
            <a:off x="3806285" y="3979081"/>
            <a:ext cx="5337715" cy="643765"/>
            <a:chOff x="0" y="0"/>
            <a:chExt cx="1405818" cy="169551"/>
          </a:xfrm>
        </p:grpSpPr>
        <p:sp>
          <p:nvSpPr>
            <p:cNvPr name="Freeform 24" id="24"/>
            <p:cNvSpPr/>
            <p:nvPr/>
          </p:nvSpPr>
          <p:spPr>
            <a:xfrm flipH="false" flipV="false" rot="0">
              <a:off x="0" y="0"/>
              <a:ext cx="1405818" cy="169551"/>
            </a:xfrm>
            <a:custGeom>
              <a:avLst/>
              <a:gdLst/>
              <a:ahLst/>
              <a:cxnLst/>
              <a:rect r="r" b="b" t="t" l="l"/>
              <a:pathLst>
                <a:path h="169551" w="1405818">
                  <a:moveTo>
                    <a:pt x="73971" y="0"/>
                  </a:moveTo>
                  <a:lnTo>
                    <a:pt x="1331847" y="0"/>
                  </a:lnTo>
                  <a:cubicBezTo>
                    <a:pt x="1351465" y="0"/>
                    <a:pt x="1370280" y="7793"/>
                    <a:pt x="1384152" y="21666"/>
                  </a:cubicBezTo>
                  <a:cubicBezTo>
                    <a:pt x="1398025" y="35538"/>
                    <a:pt x="1405818" y="54353"/>
                    <a:pt x="1405818" y="73971"/>
                  </a:cubicBezTo>
                  <a:lnTo>
                    <a:pt x="1405818" y="95580"/>
                  </a:lnTo>
                  <a:cubicBezTo>
                    <a:pt x="1405818" y="115198"/>
                    <a:pt x="1398025" y="134013"/>
                    <a:pt x="1384152" y="147885"/>
                  </a:cubicBezTo>
                  <a:cubicBezTo>
                    <a:pt x="1370280" y="161758"/>
                    <a:pt x="1351465" y="169551"/>
                    <a:pt x="1331847" y="169551"/>
                  </a:cubicBezTo>
                  <a:lnTo>
                    <a:pt x="73971" y="169551"/>
                  </a:lnTo>
                  <a:cubicBezTo>
                    <a:pt x="54353" y="169551"/>
                    <a:pt x="35538" y="161758"/>
                    <a:pt x="21666" y="147885"/>
                  </a:cubicBezTo>
                  <a:cubicBezTo>
                    <a:pt x="7793" y="134013"/>
                    <a:pt x="0" y="115198"/>
                    <a:pt x="0" y="95580"/>
                  </a:cubicBezTo>
                  <a:lnTo>
                    <a:pt x="0" y="73971"/>
                  </a:lnTo>
                  <a:cubicBezTo>
                    <a:pt x="0" y="54353"/>
                    <a:pt x="7793" y="35538"/>
                    <a:pt x="21666" y="21666"/>
                  </a:cubicBezTo>
                  <a:cubicBezTo>
                    <a:pt x="35538" y="7793"/>
                    <a:pt x="54353" y="0"/>
                    <a:pt x="73971" y="0"/>
                  </a:cubicBezTo>
                  <a:close/>
                </a:path>
              </a:pathLst>
            </a:custGeom>
            <a:gradFill rotWithShape="true">
              <a:gsLst>
                <a:gs pos="0">
                  <a:srgbClr val="004AAD">
                    <a:alpha val="100000"/>
                  </a:srgbClr>
                </a:gs>
                <a:gs pos="100000">
                  <a:srgbClr val="CB6CE6">
                    <a:alpha val="100000"/>
                  </a:srgbClr>
                </a:gs>
              </a:gsLst>
              <a:lin ang="0"/>
            </a:gradFill>
          </p:spPr>
        </p:sp>
        <p:sp>
          <p:nvSpPr>
            <p:cNvPr name="TextBox 25" id="25"/>
            <p:cNvSpPr txBox="true"/>
            <p:nvPr/>
          </p:nvSpPr>
          <p:spPr>
            <a:xfrm>
              <a:off x="0" y="-47625"/>
              <a:ext cx="1405818" cy="217176"/>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Nhiều lịch quá !!!</a:t>
              </a:r>
            </a:p>
          </p:txBody>
        </p:sp>
      </p:grpSp>
      <p:sp>
        <p:nvSpPr>
          <p:cNvPr name="AutoShape 26" id="26"/>
          <p:cNvSpPr/>
          <p:nvPr/>
        </p:nvSpPr>
        <p:spPr>
          <a:xfrm flipV="true">
            <a:off x="7868189" y="6978570"/>
            <a:ext cx="4785546" cy="2028064"/>
          </a:xfrm>
          <a:prstGeom prst="line">
            <a:avLst/>
          </a:prstGeom>
          <a:ln cap="flat" w="38100">
            <a:gradFill>
              <a:gsLst>
                <a:gs pos="0">
                  <a:srgbClr val="5170FF">
                    <a:alpha val="100000"/>
                  </a:srgbClr>
                </a:gs>
                <a:gs pos="100000">
                  <a:srgbClr val="FF66C4">
                    <a:alpha val="100000"/>
                  </a:srgbClr>
                </a:gs>
              </a:gsLst>
              <a:lin ang="0"/>
            </a:gradFill>
            <a:prstDash val="solid"/>
            <a:headEnd type="none" len="sm" w="sm"/>
            <a:tailEnd type="arrow" len="sm" w="med"/>
          </a:ln>
        </p:spPr>
      </p:sp>
      <p:sp>
        <p:nvSpPr>
          <p:cNvPr name="TextBox 27" id="27"/>
          <p:cNvSpPr txBox="true"/>
          <p:nvPr/>
        </p:nvSpPr>
        <p:spPr>
          <a:xfrm rot="0">
            <a:off x="5197535" y="8954745"/>
            <a:ext cx="4800413" cy="834390"/>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Roboto"/>
                <a:ea typeface="Roboto"/>
                <a:cs typeface="Roboto"/>
                <a:sym typeface="Roboto"/>
              </a:rPr>
              <a:t>Submit để xác nhận trạng thái của lịch hẹn</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13522"/>
            <a:ext cx="5291564" cy="1178869"/>
            <a:chOff x="0" y="0"/>
            <a:chExt cx="1151333" cy="256497"/>
          </a:xfrm>
        </p:grpSpPr>
        <p:sp>
          <p:nvSpPr>
            <p:cNvPr name="Freeform 3" id="3"/>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4" id="4"/>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5" id="5"/>
          <p:cNvGrpSpPr/>
          <p:nvPr/>
        </p:nvGrpSpPr>
        <p:grpSpPr>
          <a:xfrm rot="0">
            <a:off x="162705" y="2082814"/>
            <a:ext cx="4383434" cy="902923"/>
            <a:chOff x="0" y="0"/>
            <a:chExt cx="1245221" cy="256497"/>
          </a:xfrm>
        </p:grpSpPr>
        <p:sp>
          <p:nvSpPr>
            <p:cNvPr name="Freeform 6" id="6"/>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7" id="7"/>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Freeform 8" id="8"/>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346980" y="4495713"/>
            <a:ext cx="2590056" cy="2590056"/>
          </a:xfrm>
          <a:custGeom>
            <a:avLst/>
            <a:gdLst/>
            <a:ahLst/>
            <a:cxnLst/>
            <a:rect r="r" b="b" t="t" l="l"/>
            <a:pathLst>
              <a:path h="2590056" w="2590056">
                <a:moveTo>
                  <a:pt x="0" y="0"/>
                </a:moveTo>
                <a:lnTo>
                  <a:pt x="2590056" y="0"/>
                </a:lnTo>
                <a:lnTo>
                  <a:pt x="2590056" y="2590056"/>
                </a:lnTo>
                <a:lnTo>
                  <a:pt x="0" y="2590056"/>
                </a:lnTo>
                <a:lnTo>
                  <a:pt x="0" y="0"/>
                </a:lnTo>
                <a:close/>
              </a:path>
            </a:pathLst>
          </a:custGeom>
          <a:blipFill>
            <a:blip r:embed="rId4"/>
            <a:stretch>
              <a:fillRect l="0" t="0" r="0" b="0"/>
            </a:stretch>
          </a:blipFill>
        </p:spPr>
      </p:sp>
      <p:grpSp>
        <p:nvGrpSpPr>
          <p:cNvPr name="Group 11" id="11"/>
          <p:cNvGrpSpPr/>
          <p:nvPr/>
        </p:nvGrpSpPr>
        <p:grpSpPr>
          <a:xfrm rot="0">
            <a:off x="3836593" y="4216244"/>
            <a:ext cx="3306437" cy="980237"/>
            <a:chOff x="0" y="0"/>
            <a:chExt cx="870831" cy="258169"/>
          </a:xfrm>
        </p:grpSpPr>
        <p:sp>
          <p:nvSpPr>
            <p:cNvPr name="Freeform 12" id="12"/>
            <p:cNvSpPr/>
            <p:nvPr/>
          </p:nvSpPr>
          <p:spPr>
            <a:xfrm flipH="false" flipV="false" rot="0">
              <a:off x="0" y="0"/>
              <a:ext cx="870831" cy="258169"/>
            </a:xfrm>
            <a:custGeom>
              <a:avLst/>
              <a:gdLst/>
              <a:ahLst/>
              <a:cxnLst/>
              <a:rect r="r" b="b" t="t" l="l"/>
              <a:pathLst>
                <a:path h="258169" w="870831">
                  <a:moveTo>
                    <a:pt x="119415" y="0"/>
                  </a:moveTo>
                  <a:lnTo>
                    <a:pt x="751416" y="0"/>
                  </a:lnTo>
                  <a:cubicBezTo>
                    <a:pt x="783087" y="0"/>
                    <a:pt x="813461" y="12581"/>
                    <a:pt x="835855" y="34976"/>
                  </a:cubicBezTo>
                  <a:cubicBezTo>
                    <a:pt x="858250" y="57370"/>
                    <a:pt x="870831" y="87744"/>
                    <a:pt x="870831" y="119415"/>
                  </a:cubicBezTo>
                  <a:lnTo>
                    <a:pt x="870831" y="138754"/>
                  </a:lnTo>
                  <a:cubicBezTo>
                    <a:pt x="870831" y="170425"/>
                    <a:pt x="858250" y="200799"/>
                    <a:pt x="835855" y="223193"/>
                  </a:cubicBezTo>
                  <a:cubicBezTo>
                    <a:pt x="813461" y="245588"/>
                    <a:pt x="783087" y="258169"/>
                    <a:pt x="751416" y="258169"/>
                  </a:cubicBezTo>
                  <a:lnTo>
                    <a:pt x="119415" y="258169"/>
                  </a:lnTo>
                  <a:cubicBezTo>
                    <a:pt x="87744" y="258169"/>
                    <a:pt x="57370" y="245588"/>
                    <a:pt x="34976" y="223193"/>
                  </a:cubicBezTo>
                  <a:cubicBezTo>
                    <a:pt x="12581" y="200799"/>
                    <a:pt x="0" y="170425"/>
                    <a:pt x="0" y="138754"/>
                  </a:cubicBezTo>
                  <a:lnTo>
                    <a:pt x="0" y="119415"/>
                  </a:lnTo>
                  <a:cubicBezTo>
                    <a:pt x="0" y="87744"/>
                    <a:pt x="12581" y="57370"/>
                    <a:pt x="34976" y="34976"/>
                  </a:cubicBezTo>
                  <a:cubicBezTo>
                    <a:pt x="57370" y="12581"/>
                    <a:pt x="87744" y="0"/>
                    <a:pt x="119415"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47625"/>
              <a:ext cx="870831" cy="305794"/>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Khách hàng vi phạm </a:t>
              </a:r>
            </a:p>
          </p:txBody>
        </p:sp>
      </p:grpSp>
      <p:grpSp>
        <p:nvGrpSpPr>
          <p:cNvPr name="Group 14" id="14"/>
          <p:cNvGrpSpPr/>
          <p:nvPr/>
        </p:nvGrpSpPr>
        <p:grpSpPr>
          <a:xfrm rot="0">
            <a:off x="346980" y="7182167"/>
            <a:ext cx="2554768" cy="561137"/>
            <a:chOff x="0" y="0"/>
            <a:chExt cx="672861" cy="147789"/>
          </a:xfrm>
        </p:grpSpPr>
        <p:sp>
          <p:nvSpPr>
            <p:cNvPr name="Freeform 15" id="15"/>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sp>
        <p:nvSpPr>
          <p:cNvPr name="Freeform 17" id="17"/>
          <p:cNvSpPr/>
          <p:nvPr/>
        </p:nvSpPr>
        <p:spPr>
          <a:xfrm flipH="false" flipV="false" rot="0">
            <a:off x="2354422" y="4242847"/>
            <a:ext cx="1482171" cy="927031"/>
          </a:xfrm>
          <a:custGeom>
            <a:avLst/>
            <a:gdLst/>
            <a:ahLst/>
            <a:cxnLst/>
            <a:rect r="r" b="b" t="t" l="l"/>
            <a:pathLst>
              <a:path h="927031" w="1482171">
                <a:moveTo>
                  <a:pt x="0" y="0"/>
                </a:moveTo>
                <a:lnTo>
                  <a:pt x="1482171" y="0"/>
                </a:lnTo>
                <a:lnTo>
                  <a:pt x="1482171" y="927030"/>
                </a:lnTo>
                <a:lnTo>
                  <a:pt x="0" y="927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055587" y="7975756"/>
            <a:ext cx="3562011" cy="1442429"/>
          </a:xfrm>
          <a:custGeom>
            <a:avLst/>
            <a:gdLst/>
            <a:ahLst/>
            <a:cxnLst/>
            <a:rect r="r" b="b" t="t" l="l"/>
            <a:pathLst>
              <a:path h="1442429" w="3562011">
                <a:moveTo>
                  <a:pt x="0" y="0"/>
                </a:moveTo>
                <a:lnTo>
                  <a:pt x="3562011" y="0"/>
                </a:lnTo>
                <a:lnTo>
                  <a:pt x="3562011" y="1442429"/>
                </a:lnTo>
                <a:lnTo>
                  <a:pt x="0" y="1442429"/>
                </a:lnTo>
                <a:lnTo>
                  <a:pt x="0" y="0"/>
                </a:lnTo>
                <a:close/>
              </a:path>
            </a:pathLst>
          </a:custGeom>
          <a:blipFill>
            <a:blip r:embed="rId7"/>
            <a:stretch>
              <a:fillRect l="0" t="0" r="0" b="0"/>
            </a:stretch>
          </a:blipFill>
        </p:spPr>
      </p:sp>
      <p:sp>
        <p:nvSpPr>
          <p:cNvPr name="Freeform 19" id="19"/>
          <p:cNvSpPr/>
          <p:nvPr/>
        </p:nvSpPr>
        <p:spPr>
          <a:xfrm flipH="false" flipV="false" rot="0">
            <a:off x="4546139" y="9258300"/>
            <a:ext cx="529441" cy="529441"/>
          </a:xfrm>
          <a:custGeom>
            <a:avLst/>
            <a:gdLst/>
            <a:ahLst/>
            <a:cxnLst/>
            <a:rect r="r" b="b" t="t" l="l"/>
            <a:pathLst>
              <a:path h="529441" w="529441">
                <a:moveTo>
                  <a:pt x="0" y="0"/>
                </a:moveTo>
                <a:lnTo>
                  <a:pt x="529441" y="0"/>
                </a:lnTo>
                <a:lnTo>
                  <a:pt x="529441" y="529441"/>
                </a:lnTo>
                <a:lnTo>
                  <a:pt x="0" y="529441"/>
                </a:lnTo>
                <a:lnTo>
                  <a:pt x="0" y="0"/>
                </a:lnTo>
                <a:close/>
              </a:path>
            </a:pathLst>
          </a:custGeom>
          <a:blipFill>
            <a:blip r:embed="rId8"/>
            <a:stretch>
              <a:fillRect l="0" t="0" r="0" b="0"/>
            </a:stretch>
          </a:blipFill>
        </p:spPr>
      </p:sp>
      <p:sp>
        <p:nvSpPr>
          <p:cNvPr name="Freeform 20" id="20"/>
          <p:cNvSpPr/>
          <p:nvPr/>
        </p:nvSpPr>
        <p:spPr>
          <a:xfrm flipH="false" flipV="false" rot="7136214">
            <a:off x="15523131" y="-393568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21" id="21"/>
          <p:cNvGrpSpPr/>
          <p:nvPr/>
        </p:nvGrpSpPr>
        <p:grpSpPr>
          <a:xfrm rot="0">
            <a:off x="9316843" y="1028700"/>
            <a:ext cx="5191281" cy="1083067"/>
            <a:chOff x="0" y="0"/>
            <a:chExt cx="1367251" cy="285252"/>
          </a:xfrm>
        </p:grpSpPr>
        <p:sp>
          <p:nvSpPr>
            <p:cNvPr name="Freeform 22" id="22"/>
            <p:cNvSpPr/>
            <p:nvPr/>
          </p:nvSpPr>
          <p:spPr>
            <a:xfrm flipH="false" flipV="false" rot="0">
              <a:off x="0" y="0"/>
              <a:ext cx="1367251" cy="285252"/>
            </a:xfrm>
            <a:custGeom>
              <a:avLst/>
              <a:gdLst/>
              <a:ahLst/>
              <a:cxnLst/>
              <a:rect r="r" b="b" t="t" l="l"/>
              <a:pathLst>
                <a:path h="285252" w="1367251">
                  <a:moveTo>
                    <a:pt x="76058" y="0"/>
                  </a:moveTo>
                  <a:lnTo>
                    <a:pt x="1291193" y="0"/>
                  </a:lnTo>
                  <a:cubicBezTo>
                    <a:pt x="1311365" y="0"/>
                    <a:pt x="1330710" y="8013"/>
                    <a:pt x="1344974" y="22277"/>
                  </a:cubicBezTo>
                  <a:cubicBezTo>
                    <a:pt x="1359238" y="36540"/>
                    <a:pt x="1367251" y="55886"/>
                    <a:pt x="1367251" y="76058"/>
                  </a:cubicBezTo>
                  <a:lnTo>
                    <a:pt x="1367251" y="209194"/>
                  </a:lnTo>
                  <a:cubicBezTo>
                    <a:pt x="1367251" y="251200"/>
                    <a:pt x="1333199" y="285252"/>
                    <a:pt x="1291193" y="285252"/>
                  </a:cubicBezTo>
                  <a:lnTo>
                    <a:pt x="76058" y="285252"/>
                  </a:lnTo>
                  <a:cubicBezTo>
                    <a:pt x="55886" y="285252"/>
                    <a:pt x="36540" y="277239"/>
                    <a:pt x="22277" y="262975"/>
                  </a:cubicBezTo>
                  <a:cubicBezTo>
                    <a:pt x="8013" y="248712"/>
                    <a:pt x="0" y="229366"/>
                    <a:pt x="0" y="209194"/>
                  </a:cubicBezTo>
                  <a:lnTo>
                    <a:pt x="0" y="76058"/>
                  </a:lnTo>
                  <a:cubicBezTo>
                    <a:pt x="0" y="55886"/>
                    <a:pt x="8013" y="36540"/>
                    <a:pt x="22277" y="22277"/>
                  </a:cubicBezTo>
                  <a:cubicBezTo>
                    <a:pt x="36540" y="8013"/>
                    <a:pt x="55886" y="0"/>
                    <a:pt x="76058" y="0"/>
                  </a:cubicBezTo>
                  <a:close/>
                </a:path>
              </a:pathLst>
            </a:custGeom>
            <a:gradFill rotWithShape="true">
              <a:gsLst>
                <a:gs pos="0">
                  <a:srgbClr val="004AAD">
                    <a:alpha val="100000"/>
                  </a:srgbClr>
                </a:gs>
                <a:gs pos="100000">
                  <a:srgbClr val="CB6CE6">
                    <a:alpha val="100000"/>
                  </a:srgbClr>
                </a:gs>
              </a:gsLst>
              <a:lin ang="0"/>
            </a:gradFill>
          </p:spPr>
        </p:sp>
        <p:sp>
          <p:nvSpPr>
            <p:cNvPr name="TextBox 23" id="23"/>
            <p:cNvSpPr txBox="true"/>
            <p:nvPr/>
          </p:nvSpPr>
          <p:spPr>
            <a:xfrm>
              <a:off x="0" y="-47625"/>
              <a:ext cx="1367251" cy="332877"/>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Quản lý tài khoản</a:t>
              </a:r>
            </a:p>
          </p:txBody>
        </p:sp>
      </p:grpSp>
      <p:sp>
        <p:nvSpPr>
          <p:cNvPr name="Freeform 24" id="24"/>
          <p:cNvSpPr/>
          <p:nvPr/>
        </p:nvSpPr>
        <p:spPr>
          <a:xfrm flipH="false" flipV="false" rot="0">
            <a:off x="7143030" y="2320129"/>
            <a:ext cx="9538907" cy="5699497"/>
          </a:xfrm>
          <a:custGeom>
            <a:avLst/>
            <a:gdLst/>
            <a:ahLst/>
            <a:cxnLst/>
            <a:rect r="r" b="b" t="t" l="l"/>
            <a:pathLst>
              <a:path h="5699497" w="9538907">
                <a:moveTo>
                  <a:pt x="0" y="0"/>
                </a:moveTo>
                <a:lnTo>
                  <a:pt x="9538907" y="0"/>
                </a:lnTo>
                <a:lnTo>
                  <a:pt x="9538907" y="5699497"/>
                </a:lnTo>
                <a:lnTo>
                  <a:pt x="0" y="5699497"/>
                </a:lnTo>
                <a:lnTo>
                  <a:pt x="0" y="0"/>
                </a:lnTo>
                <a:close/>
              </a:path>
            </a:pathLst>
          </a:custGeom>
          <a:blipFill>
            <a:blip r:embed="rId9"/>
            <a:stretch>
              <a:fillRect l="0" t="0" r="0" b="0"/>
            </a:stretch>
          </a:blipFill>
        </p:spPr>
      </p:sp>
      <p:sp>
        <p:nvSpPr>
          <p:cNvPr name="TextBox 25" id="25"/>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AutoShape 26" id="26"/>
          <p:cNvSpPr/>
          <p:nvPr/>
        </p:nvSpPr>
        <p:spPr>
          <a:xfrm flipH="true">
            <a:off x="5291564" y="3879683"/>
            <a:ext cx="6367949" cy="4326356"/>
          </a:xfrm>
          <a:prstGeom prst="line">
            <a:avLst/>
          </a:prstGeom>
          <a:ln cap="flat" w="47625">
            <a:gradFill>
              <a:gsLst>
                <a:gs pos="0">
                  <a:srgbClr val="004AAD">
                    <a:alpha val="53000"/>
                  </a:srgbClr>
                </a:gs>
                <a:gs pos="100000">
                  <a:srgbClr val="CB6CE6">
                    <a:alpha val="53000"/>
                  </a:srgbClr>
                </a:gs>
              </a:gsLst>
              <a:lin ang="0"/>
            </a:gradFill>
            <a:prstDash val="solid"/>
            <a:headEnd type="none" len="sm" w="sm"/>
            <a:tailEnd type="triangle" len="med" w="lg"/>
          </a:ln>
        </p:spPr>
      </p:sp>
    </p:spTree>
  </p:cSld>
  <p:clrMapOvr>
    <a:masterClrMapping/>
  </p:clrMapOvr>
  <p:transition spd="fast">
    <p:push dir="l"/>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346980" y="4495713"/>
            <a:ext cx="2590056" cy="2590056"/>
          </a:xfrm>
          <a:custGeom>
            <a:avLst/>
            <a:gdLst/>
            <a:ahLst/>
            <a:cxnLst/>
            <a:rect r="r" b="b" t="t" l="l"/>
            <a:pathLst>
              <a:path h="2590056" w="2590056">
                <a:moveTo>
                  <a:pt x="0" y="0"/>
                </a:moveTo>
                <a:lnTo>
                  <a:pt x="2590056" y="0"/>
                </a:lnTo>
                <a:lnTo>
                  <a:pt x="2590056" y="2590056"/>
                </a:lnTo>
                <a:lnTo>
                  <a:pt x="0" y="2590056"/>
                </a:lnTo>
                <a:lnTo>
                  <a:pt x="0" y="0"/>
                </a:lnTo>
                <a:close/>
              </a:path>
            </a:pathLst>
          </a:custGeom>
          <a:blipFill>
            <a:blip r:embed="rId4"/>
            <a:stretch>
              <a:fillRect l="0" t="0" r="0" b="0"/>
            </a:stretch>
          </a:blipFill>
        </p:spPr>
      </p:sp>
      <p:grpSp>
        <p:nvGrpSpPr>
          <p:cNvPr name="Group 5" id="5"/>
          <p:cNvGrpSpPr/>
          <p:nvPr/>
        </p:nvGrpSpPr>
        <p:grpSpPr>
          <a:xfrm rot="0">
            <a:off x="3836593" y="4216244"/>
            <a:ext cx="3729469" cy="980237"/>
            <a:chOff x="0" y="0"/>
            <a:chExt cx="982247" cy="258169"/>
          </a:xfrm>
        </p:grpSpPr>
        <p:sp>
          <p:nvSpPr>
            <p:cNvPr name="Freeform 6" id="6"/>
            <p:cNvSpPr/>
            <p:nvPr/>
          </p:nvSpPr>
          <p:spPr>
            <a:xfrm flipH="false" flipV="false" rot="0">
              <a:off x="0" y="0"/>
              <a:ext cx="982247" cy="258169"/>
            </a:xfrm>
            <a:custGeom>
              <a:avLst/>
              <a:gdLst/>
              <a:ahLst/>
              <a:cxnLst/>
              <a:rect r="r" b="b" t="t" l="l"/>
              <a:pathLst>
                <a:path h="258169" w="982247">
                  <a:moveTo>
                    <a:pt x="105870" y="0"/>
                  </a:moveTo>
                  <a:lnTo>
                    <a:pt x="876377" y="0"/>
                  </a:lnTo>
                  <a:cubicBezTo>
                    <a:pt x="934848" y="0"/>
                    <a:pt x="982247" y="47399"/>
                    <a:pt x="982247" y="105870"/>
                  </a:cubicBezTo>
                  <a:lnTo>
                    <a:pt x="982247" y="152300"/>
                  </a:lnTo>
                  <a:cubicBezTo>
                    <a:pt x="982247" y="210770"/>
                    <a:pt x="934848" y="258169"/>
                    <a:pt x="876377" y="258169"/>
                  </a:cubicBezTo>
                  <a:lnTo>
                    <a:pt x="105870" y="258169"/>
                  </a:lnTo>
                  <a:cubicBezTo>
                    <a:pt x="47399" y="258169"/>
                    <a:pt x="0" y="210770"/>
                    <a:pt x="0" y="152300"/>
                  </a:cubicBezTo>
                  <a:lnTo>
                    <a:pt x="0" y="105870"/>
                  </a:lnTo>
                  <a:cubicBezTo>
                    <a:pt x="0" y="47399"/>
                    <a:pt x="47399" y="0"/>
                    <a:pt x="105870" y="0"/>
                  </a:cubicBezTo>
                  <a:close/>
                </a:path>
              </a:pathLst>
            </a:custGeom>
            <a:gradFill rotWithShape="true">
              <a:gsLst>
                <a:gs pos="0">
                  <a:srgbClr val="004AAD">
                    <a:alpha val="100000"/>
                  </a:srgbClr>
                </a:gs>
                <a:gs pos="100000">
                  <a:srgbClr val="CB6CE6">
                    <a:alpha val="100000"/>
                  </a:srgbClr>
                </a:gs>
              </a:gsLst>
              <a:lin ang="0"/>
            </a:gradFill>
          </p:spPr>
        </p:sp>
        <p:sp>
          <p:nvSpPr>
            <p:cNvPr name="TextBox 7" id="7"/>
            <p:cNvSpPr txBox="true"/>
            <p:nvPr/>
          </p:nvSpPr>
          <p:spPr>
            <a:xfrm>
              <a:off x="0" y="-47625"/>
              <a:ext cx="982247" cy="305794"/>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Có nhân viên mới, thay đổi thông tin  </a:t>
              </a:r>
            </a:p>
          </p:txBody>
        </p:sp>
      </p:grpSp>
      <p:grpSp>
        <p:nvGrpSpPr>
          <p:cNvPr name="Group 8" id="8"/>
          <p:cNvGrpSpPr/>
          <p:nvPr/>
        </p:nvGrpSpPr>
        <p:grpSpPr>
          <a:xfrm rot="0">
            <a:off x="346980" y="7182167"/>
            <a:ext cx="2554768" cy="561137"/>
            <a:chOff x="0" y="0"/>
            <a:chExt cx="672861" cy="147789"/>
          </a:xfrm>
        </p:grpSpPr>
        <p:sp>
          <p:nvSpPr>
            <p:cNvPr name="Freeform 9" id="9"/>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10" id="10"/>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sp>
        <p:nvSpPr>
          <p:cNvPr name="Freeform 11" id="11"/>
          <p:cNvSpPr/>
          <p:nvPr/>
        </p:nvSpPr>
        <p:spPr>
          <a:xfrm flipH="false" flipV="false" rot="0">
            <a:off x="2354422" y="4242847"/>
            <a:ext cx="1482171" cy="927031"/>
          </a:xfrm>
          <a:custGeom>
            <a:avLst/>
            <a:gdLst/>
            <a:ahLst/>
            <a:cxnLst/>
            <a:rect r="r" b="b" t="t" l="l"/>
            <a:pathLst>
              <a:path h="927031" w="1482171">
                <a:moveTo>
                  <a:pt x="0" y="0"/>
                </a:moveTo>
                <a:lnTo>
                  <a:pt x="1482171" y="0"/>
                </a:lnTo>
                <a:lnTo>
                  <a:pt x="1482171" y="927030"/>
                </a:lnTo>
                <a:lnTo>
                  <a:pt x="0" y="927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0720905" y="1138921"/>
            <a:ext cx="3794551" cy="1031691"/>
            <a:chOff x="0" y="0"/>
            <a:chExt cx="999388" cy="271721"/>
          </a:xfrm>
        </p:grpSpPr>
        <p:sp>
          <p:nvSpPr>
            <p:cNvPr name="Freeform 13" id="13"/>
            <p:cNvSpPr/>
            <p:nvPr/>
          </p:nvSpPr>
          <p:spPr>
            <a:xfrm flipH="false" flipV="false" rot="0">
              <a:off x="0" y="0"/>
              <a:ext cx="999388" cy="271721"/>
            </a:xfrm>
            <a:custGeom>
              <a:avLst/>
              <a:gdLst/>
              <a:ahLst/>
              <a:cxnLst/>
              <a:rect r="r" b="b" t="t" l="l"/>
              <a:pathLst>
                <a:path h="271721" w="999388">
                  <a:moveTo>
                    <a:pt x="104054" y="0"/>
                  </a:moveTo>
                  <a:lnTo>
                    <a:pt x="895334" y="0"/>
                  </a:lnTo>
                  <a:cubicBezTo>
                    <a:pt x="922931" y="0"/>
                    <a:pt x="949397" y="10963"/>
                    <a:pt x="968911" y="30477"/>
                  </a:cubicBezTo>
                  <a:cubicBezTo>
                    <a:pt x="988425" y="49991"/>
                    <a:pt x="999388" y="76457"/>
                    <a:pt x="999388" y="104054"/>
                  </a:cubicBezTo>
                  <a:lnTo>
                    <a:pt x="999388" y="167667"/>
                  </a:lnTo>
                  <a:cubicBezTo>
                    <a:pt x="999388" y="225135"/>
                    <a:pt x="952801" y="271721"/>
                    <a:pt x="895334" y="271721"/>
                  </a:cubicBezTo>
                  <a:lnTo>
                    <a:pt x="104054" y="271721"/>
                  </a:lnTo>
                  <a:cubicBezTo>
                    <a:pt x="76457" y="271721"/>
                    <a:pt x="49991" y="260758"/>
                    <a:pt x="30477" y="241244"/>
                  </a:cubicBezTo>
                  <a:cubicBezTo>
                    <a:pt x="10963" y="221731"/>
                    <a:pt x="0" y="195264"/>
                    <a:pt x="0" y="167667"/>
                  </a:cubicBezTo>
                  <a:lnTo>
                    <a:pt x="0" y="104054"/>
                  </a:lnTo>
                  <a:cubicBezTo>
                    <a:pt x="0" y="76457"/>
                    <a:pt x="10963" y="49991"/>
                    <a:pt x="30477" y="30477"/>
                  </a:cubicBezTo>
                  <a:cubicBezTo>
                    <a:pt x="49991" y="10963"/>
                    <a:pt x="76457" y="0"/>
                    <a:pt x="104054" y="0"/>
                  </a:cubicBezTo>
                  <a:close/>
                </a:path>
              </a:pathLst>
            </a:custGeom>
            <a:gradFill rotWithShape="true">
              <a:gsLst>
                <a:gs pos="0">
                  <a:srgbClr val="004AAD">
                    <a:alpha val="100000"/>
                  </a:srgbClr>
                </a:gs>
                <a:gs pos="100000">
                  <a:srgbClr val="CB6CE6">
                    <a:alpha val="100000"/>
                  </a:srgbClr>
                </a:gs>
              </a:gsLst>
              <a:lin ang="0"/>
            </a:gradFill>
          </p:spPr>
        </p:sp>
        <p:sp>
          <p:nvSpPr>
            <p:cNvPr name="TextBox 14" id="14"/>
            <p:cNvSpPr txBox="true"/>
            <p:nvPr/>
          </p:nvSpPr>
          <p:spPr>
            <a:xfrm>
              <a:off x="0" y="-47625"/>
              <a:ext cx="999388" cy="319346"/>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Quản lý nhân viên</a:t>
              </a:r>
            </a:p>
          </p:txBody>
        </p:sp>
      </p:grpSp>
      <p:sp>
        <p:nvSpPr>
          <p:cNvPr name="Freeform 15" id="15"/>
          <p:cNvSpPr/>
          <p:nvPr/>
        </p:nvSpPr>
        <p:spPr>
          <a:xfrm flipH="false" flipV="false" rot="7136214">
            <a:off x="3447313" y="5571273"/>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6" id="16"/>
          <p:cNvGrpSpPr/>
          <p:nvPr/>
        </p:nvGrpSpPr>
        <p:grpSpPr>
          <a:xfrm rot="0">
            <a:off x="0" y="313522"/>
            <a:ext cx="5291564" cy="1178869"/>
            <a:chOff x="0" y="0"/>
            <a:chExt cx="1151333" cy="256497"/>
          </a:xfrm>
        </p:grpSpPr>
        <p:sp>
          <p:nvSpPr>
            <p:cNvPr name="Freeform 17" id="17"/>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8" id="18"/>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9" id="19"/>
          <p:cNvGrpSpPr/>
          <p:nvPr/>
        </p:nvGrpSpPr>
        <p:grpSpPr>
          <a:xfrm rot="0">
            <a:off x="162705" y="2082814"/>
            <a:ext cx="4383434" cy="902923"/>
            <a:chOff x="0" y="0"/>
            <a:chExt cx="1245221" cy="256497"/>
          </a:xfrm>
        </p:grpSpPr>
        <p:sp>
          <p:nvSpPr>
            <p:cNvPr name="Freeform 20" id="20"/>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1" id="21"/>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Freeform 22" id="22"/>
          <p:cNvSpPr/>
          <p:nvPr/>
        </p:nvSpPr>
        <p:spPr>
          <a:xfrm flipH="false" flipV="false" rot="0">
            <a:off x="7704332" y="2294925"/>
            <a:ext cx="9554968" cy="5697150"/>
          </a:xfrm>
          <a:custGeom>
            <a:avLst/>
            <a:gdLst/>
            <a:ahLst/>
            <a:cxnLst/>
            <a:rect r="r" b="b" t="t" l="l"/>
            <a:pathLst>
              <a:path h="5697150" w="9554968">
                <a:moveTo>
                  <a:pt x="0" y="0"/>
                </a:moveTo>
                <a:lnTo>
                  <a:pt x="9554968" y="0"/>
                </a:lnTo>
                <a:lnTo>
                  <a:pt x="9554968" y="5697150"/>
                </a:lnTo>
                <a:lnTo>
                  <a:pt x="0" y="5697150"/>
                </a:lnTo>
                <a:lnTo>
                  <a:pt x="0" y="0"/>
                </a:lnTo>
                <a:close/>
              </a:path>
            </a:pathLst>
          </a:custGeom>
          <a:blipFill>
            <a:blip r:embed="rId7"/>
            <a:stretch>
              <a:fillRect l="0" t="0" r="0" b="0"/>
            </a:stretch>
          </a:blipFill>
        </p:spPr>
      </p:sp>
      <p:sp>
        <p:nvSpPr>
          <p:cNvPr name="TextBox 23" id="23"/>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136214">
            <a:off x="-3435372" y="8791161"/>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346980" y="4495713"/>
            <a:ext cx="2590056" cy="2590056"/>
          </a:xfrm>
          <a:custGeom>
            <a:avLst/>
            <a:gdLst/>
            <a:ahLst/>
            <a:cxnLst/>
            <a:rect r="r" b="b" t="t" l="l"/>
            <a:pathLst>
              <a:path h="2590056" w="2590056">
                <a:moveTo>
                  <a:pt x="0" y="0"/>
                </a:moveTo>
                <a:lnTo>
                  <a:pt x="2590056" y="0"/>
                </a:lnTo>
                <a:lnTo>
                  <a:pt x="2590056" y="2590056"/>
                </a:lnTo>
                <a:lnTo>
                  <a:pt x="0" y="2590056"/>
                </a:lnTo>
                <a:lnTo>
                  <a:pt x="0" y="0"/>
                </a:lnTo>
                <a:close/>
              </a:path>
            </a:pathLst>
          </a:custGeom>
          <a:blipFill>
            <a:blip r:embed="rId4"/>
            <a:stretch>
              <a:fillRect l="0" t="0" r="0" b="0"/>
            </a:stretch>
          </a:blipFill>
        </p:spPr>
      </p:sp>
      <p:sp>
        <p:nvSpPr>
          <p:cNvPr name="Freeform 6" id="6"/>
          <p:cNvSpPr/>
          <p:nvPr/>
        </p:nvSpPr>
        <p:spPr>
          <a:xfrm flipH="false" flipV="false" rot="0">
            <a:off x="6611987" y="2534275"/>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5"/>
            <a:stretch>
              <a:fillRect l="0" t="0" r="0" b="0"/>
            </a:stretch>
          </a:blipFill>
        </p:spPr>
      </p:sp>
      <p:grpSp>
        <p:nvGrpSpPr>
          <p:cNvPr name="Group 7" id="7"/>
          <p:cNvGrpSpPr/>
          <p:nvPr/>
        </p:nvGrpSpPr>
        <p:grpSpPr>
          <a:xfrm rot="0">
            <a:off x="3836593" y="4216244"/>
            <a:ext cx="4250124" cy="980237"/>
            <a:chOff x="0" y="0"/>
            <a:chExt cx="1119374" cy="258169"/>
          </a:xfrm>
        </p:grpSpPr>
        <p:sp>
          <p:nvSpPr>
            <p:cNvPr name="Freeform 8" id="8"/>
            <p:cNvSpPr/>
            <p:nvPr/>
          </p:nvSpPr>
          <p:spPr>
            <a:xfrm flipH="false" flipV="false" rot="0">
              <a:off x="0" y="0"/>
              <a:ext cx="1119374" cy="258169"/>
            </a:xfrm>
            <a:custGeom>
              <a:avLst/>
              <a:gdLst/>
              <a:ahLst/>
              <a:cxnLst/>
              <a:rect r="r" b="b" t="t" l="l"/>
              <a:pathLst>
                <a:path h="258169" w="1119374">
                  <a:moveTo>
                    <a:pt x="92900" y="0"/>
                  </a:moveTo>
                  <a:lnTo>
                    <a:pt x="1026474" y="0"/>
                  </a:lnTo>
                  <a:cubicBezTo>
                    <a:pt x="1077781" y="0"/>
                    <a:pt x="1119374" y="41593"/>
                    <a:pt x="1119374" y="92900"/>
                  </a:cubicBezTo>
                  <a:lnTo>
                    <a:pt x="1119374" y="165269"/>
                  </a:lnTo>
                  <a:cubicBezTo>
                    <a:pt x="1119374" y="189908"/>
                    <a:pt x="1109587" y="213537"/>
                    <a:pt x="1092164" y="230959"/>
                  </a:cubicBezTo>
                  <a:cubicBezTo>
                    <a:pt x="1074742" y="248382"/>
                    <a:pt x="1051113" y="258169"/>
                    <a:pt x="1026474" y="258169"/>
                  </a:cubicBezTo>
                  <a:lnTo>
                    <a:pt x="92900" y="258169"/>
                  </a:lnTo>
                  <a:cubicBezTo>
                    <a:pt x="41593" y="258169"/>
                    <a:pt x="0" y="216576"/>
                    <a:pt x="0" y="165269"/>
                  </a:cubicBezTo>
                  <a:lnTo>
                    <a:pt x="0" y="92900"/>
                  </a:lnTo>
                  <a:cubicBezTo>
                    <a:pt x="0" y="68262"/>
                    <a:pt x="9788" y="44632"/>
                    <a:pt x="27210" y="27210"/>
                  </a:cubicBezTo>
                  <a:cubicBezTo>
                    <a:pt x="44632" y="9788"/>
                    <a:pt x="68262" y="0"/>
                    <a:pt x="92900" y="0"/>
                  </a:cubicBezTo>
                  <a:close/>
                </a:path>
              </a:pathLst>
            </a:custGeom>
            <a:gradFill rotWithShape="true">
              <a:gsLst>
                <a:gs pos="0">
                  <a:srgbClr val="004AAD">
                    <a:alpha val="100000"/>
                  </a:srgbClr>
                </a:gs>
                <a:gs pos="100000">
                  <a:srgbClr val="CB6CE6">
                    <a:alpha val="100000"/>
                  </a:srgbClr>
                </a:gs>
              </a:gsLst>
              <a:lin ang="0"/>
            </a:gradFill>
          </p:spPr>
        </p:sp>
        <p:sp>
          <p:nvSpPr>
            <p:cNvPr name="TextBox 9" id="9"/>
            <p:cNvSpPr txBox="true"/>
            <p:nvPr/>
          </p:nvSpPr>
          <p:spPr>
            <a:xfrm>
              <a:off x="0" y="-47625"/>
              <a:ext cx="1119374" cy="305794"/>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Khách hàng dạo này cảm thấy thế nào ?</a:t>
              </a:r>
            </a:p>
          </p:txBody>
        </p:sp>
      </p:grpSp>
      <p:grpSp>
        <p:nvGrpSpPr>
          <p:cNvPr name="Group 10" id="10"/>
          <p:cNvGrpSpPr/>
          <p:nvPr/>
        </p:nvGrpSpPr>
        <p:grpSpPr>
          <a:xfrm rot="0">
            <a:off x="346980" y="7182167"/>
            <a:ext cx="2554768" cy="561137"/>
            <a:chOff x="0" y="0"/>
            <a:chExt cx="672861" cy="147789"/>
          </a:xfrm>
        </p:grpSpPr>
        <p:sp>
          <p:nvSpPr>
            <p:cNvPr name="Freeform 11" id="11"/>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12" id="12"/>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sp>
        <p:nvSpPr>
          <p:cNvPr name="Freeform 13" id="13"/>
          <p:cNvSpPr/>
          <p:nvPr/>
        </p:nvSpPr>
        <p:spPr>
          <a:xfrm flipH="false" flipV="false" rot="0">
            <a:off x="2354422" y="4242847"/>
            <a:ext cx="1482171" cy="927031"/>
          </a:xfrm>
          <a:custGeom>
            <a:avLst/>
            <a:gdLst/>
            <a:ahLst/>
            <a:cxnLst/>
            <a:rect r="r" b="b" t="t" l="l"/>
            <a:pathLst>
              <a:path h="927031" w="1482171">
                <a:moveTo>
                  <a:pt x="0" y="0"/>
                </a:moveTo>
                <a:lnTo>
                  <a:pt x="1482171" y="0"/>
                </a:lnTo>
                <a:lnTo>
                  <a:pt x="1482171" y="927030"/>
                </a:lnTo>
                <a:lnTo>
                  <a:pt x="0" y="9270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10011627" y="1383913"/>
            <a:ext cx="3729469" cy="980237"/>
            <a:chOff x="0" y="0"/>
            <a:chExt cx="982247" cy="258169"/>
          </a:xfrm>
        </p:grpSpPr>
        <p:sp>
          <p:nvSpPr>
            <p:cNvPr name="Freeform 15" id="15"/>
            <p:cNvSpPr/>
            <p:nvPr/>
          </p:nvSpPr>
          <p:spPr>
            <a:xfrm flipH="false" flipV="false" rot="0">
              <a:off x="0" y="0"/>
              <a:ext cx="982247" cy="258169"/>
            </a:xfrm>
            <a:custGeom>
              <a:avLst/>
              <a:gdLst/>
              <a:ahLst/>
              <a:cxnLst/>
              <a:rect r="r" b="b" t="t" l="l"/>
              <a:pathLst>
                <a:path h="258169" w="982247">
                  <a:moveTo>
                    <a:pt x="105870" y="0"/>
                  </a:moveTo>
                  <a:lnTo>
                    <a:pt x="876377" y="0"/>
                  </a:lnTo>
                  <a:cubicBezTo>
                    <a:pt x="934848" y="0"/>
                    <a:pt x="982247" y="47399"/>
                    <a:pt x="982247" y="105870"/>
                  </a:cubicBezTo>
                  <a:lnTo>
                    <a:pt x="982247" y="152300"/>
                  </a:lnTo>
                  <a:cubicBezTo>
                    <a:pt x="982247" y="210770"/>
                    <a:pt x="934848" y="258169"/>
                    <a:pt x="876377" y="258169"/>
                  </a:cubicBezTo>
                  <a:lnTo>
                    <a:pt x="105870" y="258169"/>
                  </a:lnTo>
                  <a:cubicBezTo>
                    <a:pt x="47399" y="258169"/>
                    <a:pt x="0" y="210770"/>
                    <a:pt x="0" y="152300"/>
                  </a:cubicBezTo>
                  <a:lnTo>
                    <a:pt x="0" y="105870"/>
                  </a:lnTo>
                  <a:cubicBezTo>
                    <a:pt x="0" y="47399"/>
                    <a:pt x="47399" y="0"/>
                    <a:pt x="105870"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47625"/>
              <a:ext cx="982247" cy="305794"/>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Quản lý phản hồi</a:t>
              </a:r>
            </a:p>
          </p:txBody>
        </p:sp>
      </p:grpSp>
      <p:grpSp>
        <p:nvGrpSpPr>
          <p:cNvPr name="Group 17" id="17"/>
          <p:cNvGrpSpPr/>
          <p:nvPr/>
        </p:nvGrpSpPr>
        <p:grpSpPr>
          <a:xfrm rot="0">
            <a:off x="0" y="313522"/>
            <a:ext cx="5291564" cy="1178869"/>
            <a:chOff x="0" y="0"/>
            <a:chExt cx="1151333" cy="256497"/>
          </a:xfrm>
        </p:grpSpPr>
        <p:sp>
          <p:nvSpPr>
            <p:cNvPr name="Freeform 18" id="18"/>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9" id="19"/>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20" id="20"/>
          <p:cNvGrpSpPr/>
          <p:nvPr/>
        </p:nvGrpSpPr>
        <p:grpSpPr>
          <a:xfrm rot="0">
            <a:off x="162705" y="2082814"/>
            <a:ext cx="4383434" cy="902923"/>
            <a:chOff x="0" y="0"/>
            <a:chExt cx="1245221" cy="256497"/>
          </a:xfrm>
        </p:grpSpPr>
        <p:sp>
          <p:nvSpPr>
            <p:cNvPr name="Freeform 21" id="21"/>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22" id="22"/>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TextBox 23" id="23"/>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136214">
            <a:off x="-1620870" y="8211235"/>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346980" y="4495713"/>
            <a:ext cx="2590056" cy="2590056"/>
          </a:xfrm>
          <a:custGeom>
            <a:avLst/>
            <a:gdLst/>
            <a:ahLst/>
            <a:cxnLst/>
            <a:rect r="r" b="b" t="t" l="l"/>
            <a:pathLst>
              <a:path h="2590056" w="2590056">
                <a:moveTo>
                  <a:pt x="0" y="0"/>
                </a:moveTo>
                <a:lnTo>
                  <a:pt x="2590056" y="0"/>
                </a:lnTo>
                <a:lnTo>
                  <a:pt x="2590056" y="2590056"/>
                </a:lnTo>
                <a:lnTo>
                  <a:pt x="0" y="2590056"/>
                </a:lnTo>
                <a:lnTo>
                  <a:pt x="0" y="0"/>
                </a:lnTo>
                <a:close/>
              </a:path>
            </a:pathLst>
          </a:custGeom>
          <a:blipFill>
            <a:blip r:embed="rId4"/>
            <a:stretch>
              <a:fillRect l="0" t="0" r="0" b="0"/>
            </a:stretch>
          </a:blipFill>
        </p:spPr>
      </p:sp>
      <p:grpSp>
        <p:nvGrpSpPr>
          <p:cNvPr name="Group 6" id="6"/>
          <p:cNvGrpSpPr/>
          <p:nvPr/>
        </p:nvGrpSpPr>
        <p:grpSpPr>
          <a:xfrm rot="0">
            <a:off x="346980" y="7182167"/>
            <a:ext cx="2554768" cy="561137"/>
            <a:chOff x="0" y="0"/>
            <a:chExt cx="672861" cy="147789"/>
          </a:xfrm>
        </p:grpSpPr>
        <p:sp>
          <p:nvSpPr>
            <p:cNvPr name="Freeform 7" id="7"/>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8" id="8"/>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grpSp>
        <p:nvGrpSpPr>
          <p:cNvPr name="Group 9" id="9"/>
          <p:cNvGrpSpPr/>
          <p:nvPr/>
        </p:nvGrpSpPr>
        <p:grpSpPr>
          <a:xfrm rot="0">
            <a:off x="9840393" y="1102577"/>
            <a:ext cx="3729469" cy="980237"/>
            <a:chOff x="0" y="0"/>
            <a:chExt cx="982247" cy="258169"/>
          </a:xfrm>
        </p:grpSpPr>
        <p:sp>
          <p:nvSpPr>
            <p:cNvPr name="Freeform 10" id="10"/>
            <p:cNvSpPr/>
            <p:nvPr/>
          </p:nvSpPr>
          <p:spPr>
            <a:xfrm flipH="false" flipV="false" rot="0">
              <a:off x="0" y="0"/>
              <a:ext cx="982247" cy="258169"/>
            </a:xfrm>
            <a:custGeom>
              <a:avLst/>
              <a:gdLst/>
              <a:ahLst/>
              <a:cxnLst/>
              <a:rect r="r" b="b" t="t" l="l"/>
              <a:pathLst>
                <a:path h="258169" w="982247">
                  <a:moveTo>
                    <a:pt x="105870" y="0"/>
                  </a:moveTo>
                  <a:lnTo>
                    <a:pt x="876377" y="0"/>
                  </a:lnTo>
                  <a:cubicBezTo>
                    <a:pt x="934848" y="0"/>
                    <a:pt x="982247" y="47399"/>
                    <a:pt x="982247" y="105870"/>
                  </a:cubicBezTo>
                  <a:lnTo>
                    <a:pt x="982247" y="152300"/>
                  </a:lnTo>
                  <a:cubicBezTo>
                    <a:pt x="982247" y="210770"/>
                    <a:pt x="934848" y="258169"/>
                    <a:pt x="876377" y="258169"/>
                  </a:cubicBezTo>
                  <a:lnTo>
                    <a:pt x="105870" y="258169"/>
                  </a:lnTo>
                  <a:cubicBezTo>
                    <a:pt x="47399" y="258169"/>
                    <a:pt x="0" y="210770"/>
                    <a:pt x="0" y="152300"/>
                  </a:cubicBezTo>
                  <a:lnTo>
                    <a:pt x="0" y="105870"/>
                  </a:lnTo>
                  <a:cubicBezTo>
                    <a:pt x="0" y="47399"/>
                    <a:pt x="47399" y="0"/>
                    <a:pt x="105870" y="0"/>
                  </a:cubicBezTo>
                  <a:close/>
                </a:path>
              </a:pathLst>
            </a:custGeom>
            <a:gradFill rotWithShape="true">
              <a:gsLst>
                <a:gs pos="0">
                  <a:srgbClr val="004AAD">
                    <a:alpha val="100000"/>
                  </a:srgbClr>
                </a:gs>
                <a:gs pos="100000">
                  <a:srgbClr val="CB6CE6">
                    <a:alpha val="100000"/>
                  </a:srgbClr>
                </a:gs>
              </a:gsLst>
              <a:lin ang="0"/>
            </a:gradFill>
          </p:spPr>
        </p:sp>
        <p:sp>
          <p:nvSpPr>
            <p:cNvPr name="TextBox 11" id="11"/>
            <p:cNvSpPr txBox="true"/>
            <p:nvPr/>
          </p:nvSpPr>
          <p:spPr>
            <a:xfrm>
              <a:off x="0" y="-47625"/>
              <a:ext cx="982247" cy="305794"/>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Quản lý lịch làm việc</a:t>
              </a:r>
            </a:p>
          </p:txBody>
        </p:sp>
      </p:grpSp>
      <p:grpSp>
        <p:nvGrpSpPr>
          <p:cNvPr name="Group 12" id="12"/>
          <p:cNvGrpSpPr/>
          <p:nvPr/>
        </p:nvGrpSpPr>
        <p:grpSpPr>
          <a:xfrm rot="0">
            <a:off x="0" y="313522"/>
            <a:ext cx="5291564" cy="1178869"/>
            <a:chOff x="0" y="0"/>
            <a:chExt cx="1151333" cy="256497"/>
          </a:xfrm>
        </p:grpSpPr>
        <p:sp>
          <p:nvSpPr>
            <p:cNvPr name="Freeform 13" id="13"/>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4" id="14"/>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5" id="15"/>
          <p:cNvGrpSpPr/>
          <p:nvPr/>
        </p:nvGrpSpPr>
        <p:grpSpPr>
          <a:xfrm rot="0">
            <a:off x="162705" y="2082814"/>
            <a:ext cx="4383434" cy="902923"/>
            <a:chOff x="0" y="0"/>
            <a:chExt cx="1245221" cy="256497"/>
          </a:xfrm>
        </p:grpSpPr>
        <p:sp>
          <p:nvSpPr>
            <p:cNvPr name="Freeform 16" id="16"/>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7" id="17"/>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Freeform 18" id="18"/>
          <p:cNvSpPr/>
          <p:nvPr/>
        </p:nvSpPr>
        <p:spPr>
          <a:xfrm flipH="false" flipV="false" rot="0">
            <a:off x="6742780" y="2306721"/>
            <a:ext cx="9719156" cy="5673557"/>
          </a:xfrm>
          <a:custGeom>
            <a:avLst/>
            <a:gdLst/>
            <a:ahLst/>
            <a:cxnLst/>
            <a:rect r="r" b="b" t="t" l="l"/>
            <a:pathLst>
              <a:path h="5673557" w="9719156">
                <a:moveTo>
                  <a:pt x="0" y="0"/>
                </a:moveTo>
                <a:lnTo>
                  <a:pt x="9719156" y="0"/>
                </a:lnTo>
                <a:lnTo>
                  <a:pt x="9719156" y="5673558"/>
                </a:lnTo>
                <a:lnTo>
                  <a:pt x="0" y="5673558"/>
                </a:lnTo>
                <a:lnTo>
                  <a:pt x="0" y="0"/>
                </a:lnTo>
                <a:close/>
              </a:path>
            </a:pathLst>
          </a:custGeom>
          <a:blipFill>
            <a:blip r:embed="rId5"/>
            <a:stretch>
              <a:fillRect l="0" t="0" r="0" b="0"/>
            </a:stretch>
          </a:blipFill>
        </p:spPr>
      </p:sp>
      <p:sp>
        <p:nvSpPr>
          <p:cNvPr name="TextBox 19" id="19"/>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136214">
            <a:off x="-1916274" y="8338392"/>
            <a:ext cx="6311745" cy="5554335"/>
          </a:xfrm>
          <a:custGeom>
            <a:avLst/>
            <a:gdLst/>
            <a:ahLst/>
            <a:cxnLst/>
            <a:rect r="r" b="b" t="t" l="l"/>
            <a:pathLst>
              <a:path h="5554335" w="6311745">
                <a:moveTo>
                  <a:pt x="0" y="0"/>
                </a:moveTo>
                <a:lnTo>
                  <a:pt x="6311744" y="0"/>
                </a:lnTo>
                <a:lnTo>
                  <a:pt x="6311744"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239598" y="4203051"/>
            <a:ext cx="2590056" cy="2590056"/>
          </a:xfrm>
          <a:custGeom>
            <a:avLst/>
            <a:gdLst/>
            <a:ahLst/>
            <a:cxnLst/>
            <a:rect r="r" b="b" t="t" l="l"/>
            <a:pathLst>
              <a:path h="2590056" w="2590056">
                <a:moveTo>
                  <a:pt x="0" y="0"/>
                </a:moveTo>
                <a:lnTo>
                  <a:pt x="2590056" y="0"/>
                </a:lnTo>
                <a:lnTo>
                  <a:pt x="2590056" y="2590057"/>
                </a:lnTo>
                <a:lnTo>
                  <a:pt x="0" y="2590057"/>
                </a:lnTo>
                <a:lnTo>
                  <a:pt x="0" y="0"/>
                </a:lnTo>
                <a:close/>
              </a:path>
            </a:pathLst>
          </a:custGeom>
          <a:blipFill>
            <a:blip r:embed="rId4"/>
            <a:stretch>
              <a:fillRect l="0" t="0" r="0" b="0"/>
            </a:stretch>
          </a:blipFill>
        </p:spPr>
      </p:sp>
      <p:grpSp>
        <p:nvGrpSpPr>
          <p:cNvPr name="Group 6" id="6"/>
          <p:cNvGrpSpPr/>
          <p:nvPr/>
        </p:nvGrpSpPr>
        <p:grpSpPr>
          <a:xfrm rot="0">
            <a:off x="1239598" y="6889505"/>
            <a:ext cx="2554768" cy="561137"/>
            <a:chOff x="0" y="0"/>
            <a:chExt cx="672861" cy="147789"/>
          </a:xfrm>
        </p:grpSpPr>
        <p:sp>
          <p:nvSpPr>
            <p:cNvPr name="Freeform 7" id="7"/>
            <p:cNvSpPr/>
            <p:nvPr/>
          </p:nvSpPr>
          <p:spPr>
            <a:xfrm flipH="false" flipV="false" rot="0">
              <a:off x="0" y="0"/>
              <a:ext cx="672861" cy="147789"/>
            </a:xfrm>
            <a:custGeom>
              <a:avLst/>
              <a:gdLst/>
              <a:ahLst/>
              <a:cxnLst/>
              <a:rect r="r" b="b" t="t" l="l"/>
              <a:pathLst>
                <a:path h="147789" w="672861">
                  <a:moveTo>
                    <a:pt x="73895" y="0"/>
                  </a:moveTo>
                  <a:lnTo>
                    <a:pt x="598966" y="0"/>
                  </a:lnTo>
                  <a:cubicBezTo>
                    <a:pt x="639777" y="0"/>
                    <a:pt x="672861" y="33084"/>
                    <a:pt x="672861" y="73895"/>
                  </a:cubicBezTo>
                  <a:lnTo>
                    <a:pt x="672861" y="73895"/>
                  </a:lnTo>
                  <a:cubicBezTo>
                    <a:pt x="672861" y="93493"/>
                    <a:pt x="665075" y="112288"/>
                    <a:pt x="651217" y="126146"/>
                  </a:cubicBezTo>
                  <a:cubicBezTo>
                    <a:pt x="637359" y="140004"/>
                    <a:pt x="618564" y="147789"/>
                    <a:pt x="598966" y="147789"/>
                  </a:cubicBezTo>
                  <a:lnTo>
                    <a:pt x="73895" y="147789"/>
                  </a:lnTo>
                  <a:cubicBezTo>
                    <a:pt x="54296" y="147789"/>
                    <a:pt x="35501" y="140004"/>
                    <a:pt x="21643" y="126146"/>
                  </a:cubicBezTo>
                  <a:cubicBezTo>
                    <a:pt x="7785" y="112288"/>
                    <a:pt x="0" y="93493"/>
                    <a:pt x="0" y="73895"/>
                  </a:cubicBezTo>
                  <a:lnTo>
                    <a:pt x="0" y="73895"/>
                  </a:lnTo>
                  <a:cubicBezTo>
                    <a:pt x="0" y="54296"/>
                    <a:pt x="7785" y="35501"/>
                    <a:pt x="21643" y="21643"/>
                  </a:cubicBezTo>
                  <a:cubicBezTo>
                    <a:pt x="35501" y="7785"/>
                    <a:pt x="54296" y="0"/>
                    <a:pt x="73895" y="0"/>
                  </a:cubicBezTo>
                  <a:close/>
                </a:path>
              </a:pathLst>
            </a:custGeom>
            <a:gradFill rotWithShape="true">
              <a:gsLst>
                <a:gs pos="0">
                  <a:srgbClr val="004AAD">
                    <a:alpha val="100000"/>
                  </a:srgbClr>
                </a:gs>
                <a:gs pos="100000">
                  <a:srgbClr val="CB6CE6">
                    <a:alpha val="100000"/>
                  </a:srgbClr>
                </a:gs>
              </a:gsLst>
              <a:lin ang="0"/>
            </a:gradFill>
          </p:spPr>
        </p:sp>
        <p:sp>
          <p:nvSpPr>
            <p:cNvPr name="TextBox 8" id="8"/>
            <p:cNvSpPr txBox="true"/>
            <p:nvPr/>
          </p:nvSpPr>
          <p:spPr>
            <a:xfrm>
              <a:off x="0" y="-47625"/>
              <a:ext cx="672861" cy="195414"/>
            </a:xfrm>
            <a:prstGeom prst="rect">
              <a:avLst/>
            </a:prstGeom>
          </p:spPr>
          <p:txBody>
            <a:bodyPr anchor="ctr" rtlCol="false" tIns="50800" lIns="50800" bIns="50800" rIns="50800"/>
            <a:lstStyle/>
            <a:p>
              <a:pPr algn="ctr">
                <a:lnSpc>
                  <a:spcPts val="3359"/>
                </a:lnSpc>
              </a:pPr>
              <a:r>
                <a:rPr lang="en-US" sz="2399" spc="239">
                  <a:solidFill>
                    <a:srgbClr val="000000"/>
                  </a:solidFill>
                  <a:latin typeface="Lato"/>
                  <a:ea typeface="Lato"/>
                  <a:cs typeface="Lato"/>
                  <a:sym typeface="Lato"/>
                </a:rPr>
                <a:t> Mananger </a:t>
              </a:r>
            </a:p>
          </p:txBody>
        </p:sp>
      </p:grpSp>
      <p:grpSp>
        <p:nvGrpSpPr>
          <p:cNvPr name="Group 9" id="9"/>
          <p:cNvGrpSpPr/>
          <p:nvPr/>
        </p:nvGrpSpPr>
        <p:grpSpPr>
          <a:xfrm rot="0">
            <a:off x="9641016" y="1331427"/>
            <a:ext cx="4826951" cy="980237"/>
            <a:chOff x="0" y="0"/>
            <a:chExt cx="1271296" cy="258169"/>
          </a:xfrm>
        </p:grpSpPr>
        <p:sp>
          <p:nvSpPr>
            <p:cNvPr name="Freeform 10" id="10"/>
            <p:cNvSpPr/>
            <p:nvPr/>
          </p:nvSpPr>
          <p:spPr>
            <a:xfrm flipH="false" flipV="false" rot="0">
              <a:off x="0" y="0"/>
              <a:ext cx="1271296" cy="258169"/>
            </a:xfrm>
            <a:custGeom>
              <a:avLst/>
              <a:gdLst/>
              <a:ahLst/>
              <a:cxnLst/>
              <a:rect r="r" b="b" t="t" l="l"/>
              <a:pathLst>
                <a:path h="258169" w="1271296">
                  <a:moveTo>
                    <a:pt x="81799" y="0"/>
                  </a:moveTo>
                  <a:lnTo>
                    <a:pt x="1189497" y="0"/>
                  </a:lnTo>
                  <a:cubicBezTo>
                    <a:pt x="1234673" y="0"/>
                    <a:pt x="1271296" y="36622"/>
                    <a:pt x="1271296" y="81799"/>
                  </a:cubicBezTo>
                  <a:lnTo>
                    <a:pt x="1271296" y="176371"/>
                  </a:lnTo>
                  <a:cubicBezTo>
                    <a:pt x="1271296" y="198065"/>
                    <a:pt x="1262678" y="218871"/>
                    <a:pt x="1247337" y="234211"/>
                  </a:cubicBezTo>
                  <a:cubicBezTo>
                    <a:pt x="1231997" y="249551"/>
                    <a:pt x="1211191" y="258169"/>
                    <a:pt x="1189497" y="258169"/>
                  </a:cubicBezTo>
                  <a:lnTo>
                    <a:pt x="81799" y="258169"/>
                  </a:lnTo>
                  <a:cubicBezTo>
                    <a:pt x="60104" y="258169"/>
                    <a:pt x="39298" y="249551"/>
                    <a:pt x="23958" y="234211"/>
                  </a:cubicBezTo>
                  <a:cubicBezTo>
                    <a:pt x="8618" y="218871"/>
                    <a:pt x="0" y="198065"/>
                    <a:pt x="0" y="176371"/>
                  </a:cubicBezTo>
                  <a:lnTo>
                    <a:pt x="0" y="81799"/>
                  </a:lnTo>
                  <a:cubicBezTo>
                    <a:pt x="0" y="60104"/>
                    <a:pt x="8618" y="39298"/>
                    <a:pt x="23958" y="23958"/>
                  </a:cubicBezTo>
                  <a:cubicBezTo>
                    <a:pt x="39298" y="8618"/>
                    <a:pt x="60104" y="0"/>
                    <a:pt x="81799" y="0"/>
                  </a:cubicBezTo>
                  <a:close/>
                </a:path>
              </a:pathLst>
            </a:custGeom>
            <a:gradFill rotWithShape="true">
              <a:gsLst>
                <a:gs pos="0">
                  <a:srgbClr val="004AAD">
                    <a:alpha val="100000"/>
                  </a:srgbClr>
                </a:gs>
                <a:gs pos="100000">
                  <a:srgbClr val="CB6CE6">
                    <a:alpha val="100000"/>
                  </a:srgbClr>
                </a:gs>
              </a:gsLst>
              <a:lin ang="0"/>
            </a:gradFill>
          </p:spPr>
        </p:sp>
        <p:sp>
          <p:nvSpPr>
            <p:cNvPr name="TextBox 11" id="11"/>
            <p:cNvSpPr txBox="true"/>
            <p:nvPr/>
          </p:nvSpPr>
          <p:spPr>
            <a:xfrm>
              <a:off x="0" y="-47625"/>
              <a:ext cx="1271296" cy="305794"/>
            </a:xfrm>
            <a:prstGeom prst="rect">
              <a:avLst/>
            </a:prstGeom>
          </p:spPr>
          <p:txBody>
            <a:bodyPr anchor="ctr" rtlCol="false" tIns="50800" lIns="50800" bIns="50800" rIns="50800"/>
            <a:lstStyle/>
            <a:p>
              <a:pPr algn="ctr">
                <a:lnSpc>
                  <a:spcPts val="3359"/>
                </a:lnSpc>
              </a:pPr>
              <a:r>
                <a:rPr lang="en-US" sz="2399" spc="239">
                  <a:solidFill>
                    <a:srgbClr val="FFFFFF"/>
                  </a:solidFill>
                  <a:latin typeface="Lato"/>
                  <a:ea typeface="Lato"/>
                  <a:cs typeface="Lato"/>
                  <a:sym typeface="Lato"/>
                </a:rPr>
                <a:t>Thống kê  chi tiết chi nhánh</a:t>
              </a:r>
            </a:p>
          </p:txBody>
        </p:sp>
      </p:grpSp>
      <p:grpSp>
        <p:nvGrpSpPr>
          <p:cNvPr name="Group 12" id="12"/>
          <p:cNvGrpSpPr/>
          <p:nvPr/>
        </p:nvGrpSpPr>
        <p:grpSpPr>
          <a:xfrm rot="0">
            <a:off x="0" y="313522"/>
            <a:ext cx="5291564" cy="1178869"/>
            <a:chOff x="0" y="0"/>
            <a:chExt cx="1151333" cy="256497"/>
          </a:xfrm>
        </p:grpSpPr>
        <p:sp>
          <p:nvSpPr>
            <p:cNvPr name="Freeform 13" id="13"/>
            <p:cNvSpPr/>
            <p:nvPr/>
          </p:nvSpPr>
          <p:spPr>
            <a:xfrm flipH="false" flipV="false" rot="0">
              <a:off x="0" y="0"/>
              <a:ext cx="1151333" cy="256497"/>
            </a:xfrm>
            <a:custGeom>
              <a:avLst/>
              <a:gdLst/>
              <a:ahLst/>
              <a:cxnLst/>
              <a:rect r="r" b="b" t="t" l="l"/>
              <a:pathLst>
                <a:path h="256497" w="1151333">
                  <a:moveTo>
                    <a:pt x="0" y="0"/>
                  </a:moveTo>
                  <a:lnTo>
                    <a:pt x="948133" y="0"/>
                  </a:lnTo>
                  <a:lnTo>
                    <a:pt x="1151333" y="128249"/>
                  </a:lnTo>
                  <a:lnTo>
                    <a:pt x="948133"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4" id="14"/>
            <p:cNvSpPr txBox="true"/>
            <p:nvPr/>
          </p:nvSpPr>
          <p:spPr>
            <a:xfrm>
              <a:off x="177800" y="-47625"/>
              <a:ext cx="897333"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Tính năng chính</a:t>
              </a:r>
            </a:p>
          </p:txBody>
        </p:sp>
      </p:grpSp>
      <p:grpSp>
        <p:nvGrpSpPr>
          <p:cNvPr name="Group 15" id="15"/>
          <p:cNvGrpSpPr/>
          <p:nvPr/>
        </p:nvGrpSpPr>
        <p:grpSpPr>
          <a:xfrm rot="0">
            <a:off x="162705" y="2082814"/>
            <a:ext cx="4383434" cy="902923"/>
            <a:chOff x="0" y="0"/>
            <a:chExt cx="1245221" cy="256497"/>
          </a:xfrm>
        </p:grpSpPr>
        <p:sp>
          <p:nvSpPr>
            <p:cNvPr name="Freeform 16" id="16"/>
            <p:cNvSpPr/>
            <p:nvPr/>
          </p:nvSpPr>
          <p:spPr>
            <a:xfrm flipH="false" flipV="false" rot="0">
              <a:off x="0" y="0"/>
              <a:ext cx="1245221" cy="256497"/>
            </a:xfrm>
            <a:custGeom>
              <a:avLst/>
              <a:gdLst/>
              <a:ahLst/>
              <a:cxnLst/>
              <a:rect r="r" b="b" t="t" l="l"/>
              <a:pathLst>
                <a:path h="256497" w="1245221">
                  <a:moveTo>
                    <a:pt x="0" y="0"/>
                  </a:moveTo>
                  <a:lnTo>
                    <a:pt x="1042021" y="0"/>
                  </a:lnTo>
                  <a:lnTo>
                    <a:pt x="1245221" y="128249"/>
                  </a:lnTo>
                  <a:lnTo>
                    <a:pt x="1042021" y="256497"/>
                  </a:lnTo>
                  <a:lnTo>
                    <a:pt x="0" y="256497"/>
                  </a:lnTo>
                  <a:lnTo>
                    <a:pt x="203200" y="128249"/>
                  </a:lnTo>
                  <a:lnTo>
                    <a:pt x="0" y="0"/>
                  </a:lnTo>
                  <a:close/>
                </a:path>
              </a:pathLst>
            </a:custGeom>
            <a:gradFill rotWithShape="true">
              <a:gsLst>
                <a:gs pos="0">
                  <a:srgbClr val="5170FF">
                    <a:alpha val="100000"/>
                  </a:srgbClr>
                </a:gs>
                <a:gs pos="100000">
                  <a:srgbClr val="FF66C4">
                    <a:alpha val="100000"/>
                  </a:srgbClr>
                </a:gs>
              </a:gsLst>
              <a:lin ang="0"/>
            </a:gradFill>
          </p:spPr>
        </p:sp>
        <p:sp>
          <p:nvSpPr>
            <p:cNvPr name="TextBox 17" id="17"/>
            <p:cNvSpPr txBox="true"/>
            <p:nvPr/>
          </p:nvSpPr>
          <p:spPr>
            <a:xfrm>
              <a:off x="177800" y="-47625"/>
              <a:ext cx="991221" cy="304122"/>
            </a:xfrm>
            <a:prstGeom prst="rect">
              <a:avLst/>
            </a:prstGeom>
          </p:spPr>
          <p:txBody>
            <a:bodyPr anchor="ctr" rtlCol="false" tIns="50800" lIns="50800" bIns="50800" rIns="50800"/>
            <a:lstStyle/>
            <a:p>
              <a:pPr algn="ctr">
                <a:lnSpc>
                  <a:spcPts val="3359"/>
                </a:lnSpc>
              </a:pPr>
              <a:r>
                <a:rPr lang="en-US" b="true" sz="2399" spc="239">
                  <a:solidFill>
                    <a:srgbClr val="000000"/>
                  </a:solidFill>
                  <a:latin typeface="Lato Bold"/>
                  <a:ea typeface="Lato Bold"/>
                  <a:cs typeface="Lato Bold"/>
                  <a:sym typeface="Lato Bold"/>
                </a:rPr>
                <a:t>2.Quản lý chi nhánh</a:t>
              </a:r>
            </a:p>
          </p:txBody>
        </p:sp>
      </p:grpSp>
      <p:sp>
        <p:nvSpPr>
          <p:cNvPr name="Freeform 18" id="18"/>
          <p:cNvSpPr/>
          <p:nvPr/>
        </p:nvSpPr>
        <p:spPr>
          <a:xfrm flipH="false" flipV="false" rot="0">
            <a:off x="6941160" y="2534275"/>
            <a:ext cx="9538907" cy="5699497"/>
          </a:xfrm>
          <a:custGeom>
            <a:avLst/>
            <a:gdLst/>
            <a:ahLst/>
            <a:cxnLst/>
            <a:rect r="r" b="b" t="t" l="l"/>
            <a:pathLst>
              <a:path h="5699497" w="9538907">
                <a:moveTo>
                  <a:pt x="0" y="0"/>
                </a:moveTo>
                <a:lnTo>
                  <a:pt x="9538908" y="0"/>
                </a:lnTo>
                <a:lnTo>
                  <a:pt x="9538908" y="5699497"/>
                </a:lnTo>
                <a:lnTo>
                  <a:pt x="0" y="5699497"/>
                </a:lnTo>
                <a:lnTo>
                  <a:pt x="0" y="0"/>
                </a:lnTo>
                <a:close/>
              </a:path>
            </a:pathLst>
          </a:custGeom>
          <a:blipFill>
            <a:blip r:embed="rId5"/>
            <a:stretch>
              <a:fillRect l="0" t="0" r="0" b="0"/>
            </a:stretch>
          </a:blipFill>
        </p:spPr>
      </p:sp>
      <p:sp>
        <p:nvSpPr>
          <p:cNvPr name="TextBox 19" id="19"/>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5097" y="9258300"/>
            <a:ext cx="8014741" cy="2987313"/>
          </a:xfrm>
          <a:custGeom>
            <a:avLst/>
            <a:gdLst/>
            <a:ahLst/>
            <a:cxnLst/>
            <a:rect r="r" b="b" t="t" l="l"/>
            <a:pathLst>
              <a:path h="2987313" w="8014741">
                <a:moveTo>
                  <a:pt x="0" y="0"/>
                </a:moveTo>
                <a:lnTo>
                  <a:pt x="8014742" y="0"/>
                </a:lnTo>
                <a:lnTo>
                  <a:pt x="8014742" y="2987313"/>
                </a:lnTo>
                <a:lnTo>
                  <a:pt x="0" y="2987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2663061" y="-1219889"/>
            <a:ext cx="8014741" cy="2987313"/>
          </a:xfrm>
          <a:custGeom>
            <a:avLst/>
            <a:gdLst/>
            <a:ahLst/>
            <a:cxnLst/>
            <a:rect r="r" b="b" t="t" l="l"/>
            <a:pathLst>
              <a:path h="2987313" w="8014741">
                <a:moveTo>
                  <a:pt x="0" y="0"/>
                </a:moveTo>
                <a:lnTo>
                  <a:pt x="8014742" y="0"/>
                </a:lnTo>
                <a:lnTo>
                  <a:pt x="8014742" y="2987312"/>
                </a:lnTo>
                <a:lnTo>
                  <a:pt x="0" y="298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151202">
            <a:off x="-1235585" y="9001730"/>
            <a:ext cx="3299187" cy="4077647"/>
          </a:xfrm>
          <a:custGeom>
            <a:avLst/>
            <a:gdLst/>
            <a:ahLst/>
            <a:cxnLst/>
            <a:rect r="r" b="b" t="t" l="l"/>
            <a:pathLst>
              <a:path h="4077647" w="3299187">
                <a:moveTo>
                  <a:pt x="0" y="0"/>
                </a:moveTo>
                <a:lnTo>
                  <a:pt x="3299188" y="0"/>
                </a:lnTo>
                <a:lnTo>
                  <a:pt x="3299188" y="4077647"/>
                </a:lnTo>
                <a:lnTo>
                  <a:pt x="0" y="40776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15580542" y="94647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Freeform 6" id="6"/>
          <p:cNvSpPr/>
          <p:nvPr/>
        </p:nvSpPr>
        <p:spPr>
          <a:xfrm flipH="false" flipV="false" rot="0">
            <a:off x="14241631" y="7018770"/>
            <a:ext cx="9140417" cy="8043567"/>
          </a:xfrm>
          <a:custGeom>
            <a:avLst/>
            <a:gdLst/>
            <a:ahLst/>
            <a:cxnLst/>
            <a:rect r="r" b="b" t="t" l="l"/>
            <a:pathLst>
              <a:path h="8043567" w="9140417">
                <a:moveTo>
                  <a:pt x="0" y="0"/>
                </a:moveTo>
                <a:lnTo>
                  <a:pt x="9140417" y="0"/>
                </a:lnTo>
                <a:lnTo>
                  <a:pt x="9140417" y="8043567"/>
                </a:lnTo>
                <a:lnTo>
                  <a:pt x="0" y="80435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7" id="7"/>
          <p:cNvSpPr txBox="true"/>
          <p:nvPr/>
        </p:nvSpPr>
        <p:spPr>
          <a:xfrm rot="0">
            <a:off x="15732942" y="9617102"/>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8" id="8"/>
          <p:cNvSpPr txBox="true"/>
          <p:nvPr/>
        </p:nvSpPr>
        <p:spPr>
          <a:xfrm rot="0">
            <a:off x="414009" y="962025"/>
            <a:ext cx="8730574" cy="1242020"/>
          </a:xfrm>
          <a:prstGeom prst="rect">
            <a:avLst/>
          </a:prstGeom>
        </p:spPr>
        <p:txBody>
          <a:bodyPr anchor="t" rtlCol="false" tIns="0" lIns="0" bIns="0" rIns="0">
            <a:spAutoFit/>
          </a:bodyPr>
          <a:lstStyle/>
          <a:p>
            <a:pPr algn="ctr">
              <a:lnSpc>
                <a:spcPts val="4988"/>
              </a:lnSpc>
              <a:spcBef>
                <a:spcPct val="0"/>
              </a:spcBef>
            </a:pPr>
            <a:r>
              <a:rPr lang="en-US" b="true" sz="3563" spc="356">
                <a:solidFill>
                  <a:srgbClr val="000000"/>
                </a:solidFill>
                <a:latin typeface="Roboto Bold"/>
                <a:ea typeface="Roboto Bold"/>
                <a:cs typeface="Roboto Bold"/>
                <a:sym typeface="Roboto Bold"/>
              </a:rPr>
              <a:t>4. Kết quả đạt được và định hướng phát triển</a:t>
            </a:r>
          </a:p>
        </p:txBody>
      </p:sp>
      <p:sp>
        <p:nvSpPr>
          <p:cNvPr name="TextBox 9" id="9"/>
          <p:cNvSpPr txBox="true"/>
          <p:nvPr/>
        </p:nvSpPr>
        <p:spPr>
          <a:xfrm rot="0">
            <a:off x="1766105" y="2999540"/>
            <a:ext cx="9410178" cy="8343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Hoàn thành được dự án toàn diện và có đầy đủ các chức năng thực tế cần thiết</a:t>
            </a:r>
          </a:p>
        </p:txBody>
      </p:sp>
      <p:sp>
        <p:nvSpPr>
          <p:cNvPr name="TextBox 10" id="10"/>
          <p:cNvSpPr txBox="true"/>
          <p:nvPr/>
        </p:nvSpPr>
        <p:spPr>
          <a:xfrm rot="0">
            <a:off x="1766105" y="4253030"/>
            <a:ext cx="10521863" cy="4152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Học được các thực hiện một website và deploy thực tế</a:t>
            </a:r>
          </a:p>
        </p:txBody>
      </p:sp>
      <p:sp>
        <p:nvSpPr>
          <p:cNvPr name="TextBox 11" id="11"/>
          <p:cNvSpPr txBox="true"/>
          <p:nvPr/>
        </p:nvSpPr>
        <p:spPr>
          <a:xfrm rot="0">
            <a:off x="1766105" y="5272391"/>
            <a:ext cx="10521863" cy="1253490"/>
          </a:xfrm>
          <a:prstGeom prst="rect">
            <a:avLst/>
          </a:prstGeom>
        </p:spPr>
        <p:txBody>
          <a:bodyPr anchor="t" rtlCol="false" tIns="0" lIns="0" bIns="0" rIns="0">
            <a:spAutoFit/>
          </a:bodyPr>
          <a:lstStyle/>
          <a:p>
            <a:pPr algn="l" marL="518158" indent="-259079" lvl="1">
              <a:lnSpc>
                <a:spcPts val="3359"/>
              </a:lnSpc>
              <a:spcBef>
                <a:spcPct val="0"/>
              </a:spcBef>
              <a:buFont typeface="Arial"/>
              <a:buChar char="•"/>
            </a:pPr>
            <a:r>
              <a:rPr lang="en-US" sz="2399" spc="239">
                <a:solidFill>
                  <a:srgbClr val="000000"/>
                </a:solidFill>
                <a:latin typeface="Roboto"/>
                <a:ea typeface="Roboto"/>
                <a:cs typeface="Roboto"/>
                <a:sym typeface="Roboto"/>
              </a:rPr>
              <a:t>Với dự án vừa hoàn thành, nhóm mong muốn tiếp tục triển khai và phát triển, xa hơn là trở thành web developer trong tương lai</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136214">
            <a:off x="16129059" y="-1739261"/>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7136214">
            <a:off x="15523131" y="7011967"/>
            <a:ext cx="6311745" cy="5554335"/>
          </a:xfrm>
          <a:custGeom>
            <a:avLst/>
            <a:gdLst/>
            <a:ahLst/>
            <a:cxnLst/>
            <a:rect r="r" b="b" t="t" l="l"/>
            <a:pathLst>
              <a:path h="5554335" w="6311745">
                <a:moveTo>
                  <a:pt x="0" y="0"/>
                </a:moveTo>
                <a:lnTo>
                  <a:pt x="6311745" y="0"/>
                </a:lnTo>
                <a:lnTo>
                  <a:pt x="6311745" y="5554335"/>
                </a:lnTo>
                <a:lnTo>
                  <a:pt x="0" y="5554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7136214">
            <a:off x="15523131" y="7343342"/>
            <a:ext cx="6311745" cy="5554335"/>
          </a:xfrm>
          <a:custGeom>
            <a:avLst/>
            <a:gdLst/>
            <a:ahLst/>
            <a:cxnLst/>
            <a:rect r="r" b="b" t="t" l="l"/>
            <a:pathLst>
              <a:path h="5554335" w="6311745">
                <a:moveTo>
                  <a:pt x="0" y="0"/>
                </a:moveTo>
                <a:lnTo>
                  <a:pt x="6311745" y="0"/>
                </a:lnTo>
                <a:lnTo>
                  <a:pt x="6311745" y="5554336"/>
                </a:lnTo>
                <a:lnTo>
                  <a:pt x="0" y="55543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5553967" y="9552020"/>
            <a:ext cx="2583855" cy="705486"/>
          </a:xfrm>
          <a:prstGeom prst="rect">
            <a:avLst/>
          </a:prstGeom>
        </p:spPr>
        <p:txBody>
          <a:bodyPr anchor="t" rtlCol="false" tIns="0" lIns="0" bIns="0" rIns="0">
            <a:spAutoFit/>
          </a:bodyPr>
          <a:lstStyle/>
          <a:p>
            <a:pPr algn="ctr">
              <a:lnSpc>
                <a:spcPts val="5739"/>
              </a:lnSpc>
              <a:spcBef>
                <a:spcPct val="0"/>
              </a:spcBef>
            </a:pPr>
            <a:r>
              <a:rPr lang="en-US" b="true" sz="4099">
                <a:solidFill>
                  <a:srgbClr val="000000"/>
                </a:solidFill>
                <a:latin typeface="Inter Bold"/>
                <a:ea typeface="Inter Bold"/>
                <a:cs typeface="Inter Bold"/>
                <a:sym typeface="Inter Bold"/>
              </a:rPr>
              <a:t>4FINGERS</a:t>
            </a:r>
          </a:p>
        </p:txBody>
      </p:sp>
      <p:sp>
        <p:nvSpPr>
          <p:cNvPr name="TextBox 6" id="6"/>
          <p:cNvSpPr txBox="true"/>
          <p:nvPr/>
        </p:nvSpPr>
        <p:spPr>
          <a:xfrm rot="0">
            <a:off x="4412907" y="4458875"/>
            <a:ext cx="8965307" cy="863600"/>
          </a:xfrm>
          <a:prstGeom prst="rect">
            <a:avLst/>
          </a:prstGeom>
        </p:spPr>
        <p:txBody>
          <a:bodyPr anchor="t" rtlCol="false" tIns="0" lIns="0" bIns="0" rIns="0">
            <a:spAutoFit/>
          </a:bodyPr>
          <a:lstStyle/>
          <a:p>
            <a:pPr algn="l">
              <a:lnSpc>
                <a:spcPts val="7000"/>
              </a:lnSpc>
              <a:spcBef>
                <a:spcPct val="0"/>
              </a:spcBef>
            </a:pPr>
            <a:r>
              <a:rPr lang="en-US" b="true" sz="5000" spc="500">
                <a:solidFill>
                  <a:srgbClr val="CB6CE6"/>
                </a:solidFill>
                <a:latin typeface="Lato Bold"/>
                <a:ea typeface="Lato Bold"/>
                <a:cs typeface="Lato Bold"/>
                <a:sym typeface="Lato Bold"/>
              </a:rPr>
              <a:t>THANK FOR WATCHING !</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DAGTpZs5Oo4</dc:identifier>
  <dcterms:modified xsi:type="dcterms:W3CDTF">2011-08-01T06:04:30Z</dcterms:modified>
  <cp:revision>1</cp:revision>
  <dc:title>4F Salon Trang chủ Về chúng tôi Liên hệ Tìm chi nhánh gần nhất Đặt lịch hẹn Đăng nhập Đăng nhập Tên đăng nhập Email hoặc số điện thoại Mật khẩu Nhập mật khẩu Quên mật khẩu ? Đăng nhập hoặc Đăng nhập với tài khoản Google Không có tài khoản? Đăng ký</dc:title>
</cp:coreProperties>
</file>